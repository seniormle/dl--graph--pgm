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notesSlides/notesSlide10.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11.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7"/>
  </p:notesMasterIdLst>
  <p:handoutMasterIdLst>
    <p:handoutMasterId r:id="rId78"/>
  </p:handoutMasterIdLst>
  <p:sldIdLst>
    <p:sldId id="537" r:id="rId2"/>
    <p:sldId id="538" r:id="rId3"/>
    <p:sldId id="540" r:id="rId4"/>
    <p:sldId id="541" r:id="rId5"/>
    <p:sldId id="545" r:id="rId6"/>
    <p:sldId id="542" r:id="rId7"/>
    <p:sldId id="665" r:id="rId8"/>
    <p:sldId id="666" r:id="rId9"/>
    <p:sldId id="667" r:id="rId10"/>
    <p:sldId id="663" r:id="rId11"/>
    <p:sldId id="661" r:id="rId12"/>
    <p:sldId id="662" r:id="rId13"/>
    <p:sldId id="600" r:id="rId14"/>
    <p:sldId id="652" r:id="rId15"/>
    <p:sldId id="596" r:id="rId16"/>
    <p:sldId id="656" r:id="rId17"/>
    <p:sldId id="606" r:id="rId18"/>
    <p:sldId id="651" r:id="rId19"/>
    <p:sldId id="657" r:id="rId20"/>
    <p:sldId id="653" r:id="rId21"/>
    <p:sldId id="601" r:id="rId22"/>
    <p:sldId id="602" r:id="rId23"/>
    <p:sldId id="603" r:id="rId24"/>
    <p:sldId id="605" r:id="rId25"/>
    <p:sldId id="654" r:id="rId26"/>
    <p:sldId id="590" r:id="rId27"/>
    <p:sldId id="608" r:id="rId28"/>
    <p:sldId id="609" r:id="rId29"/>
    <p:sldId id="612" r:id="rId30"/>
    <p:sldId id="607" r:id="rId31"/>
    <p:sldId id="611" r:id="rId32"/>
    <p:sldId id="613" r:id="rId33"/>
    <p:sldId id="614" r:id="rId34"/>
    <p:sldId id="616" r:id="rId35"/>
    <p:sldId id="610" r:id="rId36"/>
    <p:sldId id="617" r:id="rId37"/>
    <p:sldId id="615" r:id="rId38"/>
    <p:sldId id="618" r:id="rId39"/>
    <p:sldId id="619" r:id="rId40"/>
    <p:sldId id="620" r:id="rId41"/>
    <p:sldId id="621" r:id="rId42"/>
    <p:sldId id="622" r:id="rId43"/>
    <p:sldId id="591" r:id="rId44"/>
    <p:sldId id="655" r:id="rId45"/>
    <p:sldId id="593" r:id="rId46"/>
    <p:sldId id="594" r:id="rId47"/>
    <p:sldId id="595" r:id="rId48"/>
    <p:sldId id="624" r:id="rId49"/>
    <p:sldId id="625" r:id="rId50"/>
    <p:sldId id="627" r:id="rId51"/>
    <p:sldId id="628" r:id="rId52"/>
    <p:sldId id="629" r:id="rId53"/>
    <p:sldId id="658" r:id="rId54"/>
    <p:sldId id="630" r:id="rId55"/>
    <p:sldId id="659" r:id="rId56"/>
    <p:sldId id="631" r:id="rId57"/>
    <p:sldId id="660" r:id="rId58"/>
    <p:sldId id="632" r:id="rId59"/>
    <p:sldId id="633" r:id="rId60"/>
    <p:sldId id="634" r:id="rId61"/>
    <p:sldId id="635" r:id="rId62"/>
    <p:sldId id="636" r:id="rId63"/>
    <p:sldId id="638" r:id="rId64"/>
    <p:sldId id="639" r:id="rId65"/>
    <p:sldId id="640" r:id="rId66"/>
    <p:sldId id="641" r:id="rId67"/>
    <p:sldId id="642" r:id="rId68"/>
    <p:sldId id="643" r:id="rId69"/>
    <p:sldId id="644" r:id="rId70"/>
    <p:sldId id="645" r:id="rId71"/>
    <p:sldId id="647" r:id="rId72"/>
    <p:sldId id="648" r:id="rId73"/>
    <p:sldId id="598" r:id="rId74"/>
    <p:sldId id="597" r:id="rId75"/>
    <p:sldId id="589"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844"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smtClean="0"/>
              <a:t>Graphs - Algorithms and Mining</a:t>
            </a: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562AE5-15C8-4ECC-BBB9-9FED33E39EC5}" type="datetime1">
              <a:rPr lang="en-IN" smtClean="0"/>
              <a:t>27-11-2021</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smtClean="0"/>
              <a:t>Agarwal Charu C. and Wang Haixun, “Managing and Mining Graph Data” </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692E00-3475-4C5E-BFA9-581BF4DDDFFD}" type="slidenum">
              <a:rPr lang="en-IN" smtClean="0"/>
              <a:t>‹#›</a:t>
            </a:fld>
            <a:endParaRPr lang="en-IN"/>
          </a:p>
        </p:txBody>
      </p:sp>
    </p:spTree>
    <p:extLst>
      <p:ext uri="{BB962C8B-B14F-4D97-AF65-F5344CB8AC3E}">
        <p14:creationId xmlns:p14="http://schemas.microsoft.com/office/powerpoint/2010/main" val="3700240"/>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0:52:05.865"/>
    </inkml:context>
    <inkml:brush xml:id="br0">
      <inkml:brushProperty name="width" value="0.05292" units="cm"/>
      <inkml:brushProperty name="height" value="0.05292" units="cm"/>
      <inkml:brushProperty name="color" value="#FF0000"/>
    </inkml:brush>
  </inkml:definitions>
  <inkml:trace contextRef="#ctx0" brushRef="#br0">23685 14290 850 0,'0'0'167'0,"0"0"-160"16,0 0 1-16,0 0 0 15,0 0-8-15,0 0 0 16,0 0 5-16,-60-32-5 16,63 23-76-16,9-14-303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0:52:50.889"/>
    </inkml:context>
    <inkml:brush xml:id="br0">
      <inkml:brushProperty name="width" value="0.05292" units="cm"/>
      <inkml:brushProperty name="height" value="0.05292" units="cm"/>
      <inkml:brushProperty name="color" value="#FF0000"/>
    </inkml:brush>
  </inkml:definitions>
  <inkml:trace contextRef="#ctx0" brushRef="#br0">6056 6240 358 0,'0'0'81'0,"0"0"-31"15,0 0 10-15,0 0 81 16,0 0-82-16,0 0-16 15,0 0-17-15,0 0 12 0,0-8-1 16,-2 5-1 0,2 3-14-16,-1 0 13 0,-2-2-20 15,3 0-6-15,-3 2 6 16,0 0 1 0,-1 0-14-16,-2 0-2 0,-2 0 0 15,1 0 0-15,-3 0 0 16,2 4 0-16,-1 1 0 15,1-1-1-15,0 0 1 16,2 0 0-16,0-1 1 16,1 0-1-16,2 2 0 15,-3-1 0-15,3 3-6 16,-1-1 4-16,1 3 1 0,-2 1 1 16,1 1-1-1,-3 1 0-15,1 0 1 0,-2 1 0 16,3-1 0-16,1 1 1 15,-3-1-1-15,1-1 1 16,3 0-1-16,0 0-1 16,0-2 0-16,1 1 0 15,2-1 1-15,0 2-3 16,0-2 3-16,0 2 5 16,0 0-5-16,0-1-5 15,0 2 4-15,0 0 2 16,0-1 1-16,0 0-2 15,0-1 0-15,0 2 4 16,0 0-4-16,0 1 3 16,0 0-3-16,0-3 0 15,0 1 1-15,0-1-2 0,0 0 2 16,0 0-2-16,0-1-2 16,0-1 3-16,0 3 0 15,0-1-1-15,0-2 1 16,0 2 5-16,0-1-4 15,0 2-2-15,3-2 1 16,2 1 0-16,-2 1-1 16,2-1 1-16,-2 0 0 15,2 2 0-15,1-1 0 16,-3-1 0-16,3 1 0 16,0-1 0-16,-2 0 0 15,2-2 0-15,0-1-4 16,-1 1 4-16,5-1 5 15,-4 0-5-15,5 1 4 0,-2 1-3 16,2 2-1-16,0-2 3 16,2 1-3-16,-3 1 0 15,3-2 4-15,0-1-2 16,-2 1 0-16,-1-3 2 16,0 1-2-16,-1-1 5 15,1-2-4-15,0 0-1 16,0 1 5-16,1-2-4 15,5 2 1-15,-1 0-2 16,3 0 3-16,1 0 3 0,-2-1 0 16,-1 2-3-1,1-2 0-15,-1 1 4 0,-4-3-5 16,0 1-2-16,-3-1 1 16,0-2 10-16,2 0-12 15,2 2 9-15,0-2-6 16,3 0-3-16,-2 3 5 15,5-3-5-15,-1 2-1 16,-4-2 4-16,2 1-4 16,-3 2-2-16,-2 0 2 15,7 0 3-15,-2-1-1 16,1 0 0-16,0-1-4 16,0 1 4-16,2-1-6 15,2 1 4-15,-1-1 0 0,0 1 5 16,1-1-5-1,0 2 0-15,0 0-5 0,1-2 5 16,-1 0 0-16,0-1 6 16,-2 2-6-16,0-1 0 15,0-1-6-15,-4 0 6 16,3 0 2-16,-5 0-2 16,2 0 0-16,0 0 5 15,0 0-5-15,-3 0 0 16,3 0-5-16,-2 0 5 15,0 0 1-15,-2 0 4 16,1 0-5-16,0 0 0 16,-3 0 0-16,1-3 0 0,-1-2 0 15,3 2 0-15,-3-1 3 16,1 1-2-16,-2 0-1 16,-2-1 0-16,4 1 0 15,-1 0 0-15,-1-1 0 16,1 2-1-16,-3-1 1 15,4-2 0-15,0 1 0 16,1-1-2-16,1-3 2 16,-1 2 4-16,2-2-4 15,-1-1 0-15,0-1 2 16,1 1-2-16,-1-2 0 16,1 2-1-16,-4 0 1 15,3 1 0-15,-4 0 0 16,-1 0 0-16,1 2 1 0,-4-2-1 15,2 1 0-15,-3 2 1 16,-3-4 0 0,3-1-1-16,-3 0 0 0,0-1 2 15,0 1 1-15,0-4-1 16,-3 1-2-16,-2 1 2 16,-2-1-7-16,1 0 9 15,-1 3-4-15,-3-2 1 16,2-1 0-16,-4 2-1 15,6-2 1-15,-4-1-1 16,1-1 4-16,1 1-4 16,-1 0 2-16,-1 0-1 15,1 0 0-15,0 2 0 16,2-1-1-16,-1 2 2 0,2 2 1 16,3-1 1-16,-2 3 15 15,1-4-8-15,-2 3 4 16,3-2-10-16,0 2-1 15,-1-2-2-15,1-1 3 16,-2 0-5-16,0 0 1 16,1-1 0-16,3 2 0 15,-1 4-1-15,0 0 5 16,0 1-2-16,-1-1 2 16,0 0 0-16,0-2-2 15,0 1 1-15,-3 0-2 0,3-4 6 16,-3 1-8-16,0 0-3 15,0-3 3-15,0 2 9 16,-3-1-9-16,2 1-6 16,0 0 6-16,0 1 0 15,-2 0 2-15,0 1-2 16,-1 1 1-16,-2 0 6 16,3-1-7-16,-3 2 0 15,-1 0 0-15,2 0 0 16,-1 1 0-16,-3 0 1 15,3-1-7-15,-4 2 12 16,5 0-5-16,-2 2-1 16,1-2 0-16,0 1-1 0,0 1 0 15,0 1 0-15,-2 0 1 16,-2-1 0-16,-4 1-3 16,-1-1 6-1,0 1-4-15,0-1 1 0,0 2 0 16,3 0 2-16,0 1-2 15,5 0-1-15,-2 0-2 16,3 0 2-16,-1 0-2 16,-1 0 1-16,-2 0 2 15,4 1-1-15,-3 3 0 16,-3 0 1-16,6-1 0 16,-6 0 0-16,2 1 1 15,2-3 3-15,-5 2-4 16,1 0 0-16,-1-2 2 0,-2 3-2 15,6-4-6-15,0 5 6 16,2-2 0-16,-1 0 1 16,-2 3-3-16,-2-1-3 15,0 3 4-15,0 1 1 16,1 0-1-16,3-1-1 16,0-1 1-16,1 0 0 15,2-2-6-15,1 1 7 16,-2 0 0-16,3-1 0 15,0-2-1-15,0-3-1 16,2 3 2-16,-1-2 0 16,2 1 0-16,2 1-1 0,1-3-1 15,2 1-5-15,-5 1-40 16,6 3-8-16,-2-3 23 16,2 1-59-16,-2 1 15 15,1 6-29-15,-1-3 1 16,-2 1-208-16</inkml:trace>
  <inkml:trace contextRef="#ctx0" brushRef="#br0" timeOffset="12350.0957">7069 6263 173 0,'0'0'38'0,"0"0"9"15,0 0 2-15,0 0 2 0,0 0 30 16,0 0-35-16,0 0-13 16,-3-2-10-16,3 2 16 15,0 0 11-15,-3 0-5 16,1 0-27-16,-1 0-2 15,-3 5 9-15,0 1-21 16,-1 2-3-16,1-1-1 16,1-3 6-16,3 0-6 15,0-3 0-15,-1-1 0 16,3 0 1-16,0 0-1 16,0 0 0-16,0 0-1 0,0 0 1 15,0 0 3 1,0 0 6-16,0 0 12 0,0 0 3 15,0 0 8-15,0 0 0 16,0 0-1-16,0 0-4 16,0 0 0-16,0 0-5 15,0 0-4-15,0 0-4 16,0 0 2-16,0 0-10 16,0 0-4-16,0 0 0 15,0-3-1-15,6-2-1 16,2 0 3-16,-1-1 3 15,3-2-3-15,-2 0-1 16,1 4 0-16,0-2-2 16,3 1 6-16,-4-1-6 0,1 0 4 15,-1 1 0-15,0 1 0 16,-1 1-4-16,2-1 1 16,0 1 0-16,0-4 15 15,3 1-7-15,0-1-3 16,0 0 4-16,1 0-4 15,2 0 11-15,1-1-11 16,-2 1 0-16,4 0-6 16,-5 1 5-16,2 2 4 15,2-1-4-15,0-1-3 16,6-1 14-16,2-1-5 16,5 2-9-16,4-3 0 15,0 1-1-15,1-1 4 0,-2-2-4 16,-5 1 0-1,3 0-2-15,-2-2 3 0,-3 0-1 16,0 3-1 0,-4-2 2-16,1 5-1 15,-2-2-1-15,1 3 0 0,0-1 0 16,2 2-5-16,1 2 5 16,-1-1 2-16,-1-1 0 15,2 3-1-15,-1-2-1 16,1 2 0-16,-3-1 0 15,1 1 0-15,-1-1 0 16,1 2 0-16,-1-2 0 16,-1-1 1-16,1 1-1 15,2 1 0-15,-3-1 0 16,5 1 0-16,0-2 0 16,0 3 0-16,1-2 0 0,-2 2 0 15,-1 0-2-15,0 0 0 16,1 0 1-16,0-1 1 15,1 1 2-15,-1-2 2 16,-1 2-4-16,1 0-5 16,4 0 5-16,-2 0 0 15,2 0 0-15,0 0 0 16,-2 0 0-16,2 0 0 16,2 0 0-16,1 0 5 15,-1 0-5-15,1 0 0 16,-3 2-1-16,1-1 1 0,2 0 0 15,-1-1 0 1,0 3-1-16,2-3-3 0,-3 1 4 16,4 0 0-16,1 1 0 15,2-2 0-15,0 3-2 16,-1-3 2-16,0 2 0 16,-2-1 0-16,1 1 1 15,-2-2-2-15,0 0-4 16,-1 2 5-16,2 1 2 15,-1-2 3-15,0 0-5 16,1 1-1-16,0-1 1 16,2 1 0-16,3 0 1 0,-2-2-3 15,2 3 3 1,-3 0-1-16,7-1 0 0,-6 1-2 16,2-2 2-16,4 0 3 15,-1 3 1-15,1-4-4 16,1 3 0-16,-2-3-4 15,-4 0 2-15,1 0 2 16,-3 2 2-16,-2-1-2 16,1 2-7-16,-4-1 7 15,1 1 4-15,-2-2-4 16,0 1 0-16,0 1 0 16,1 2 0-16,-1 0-2 15,2 1 1-15,0 2 2 16,-1-2-1-16,-3 2 0 15,-2-3 0-15,1 0 0 0,-3 2 0 16,1-4 0-16,-2 3 0 16,-1 0-2-16,-1-2 2 15,0 0 0-15,0-2 0 16,-2 1-3-16,0 1 3 16,0-2 7-16,0 1-7 15,-1 0 0-15,0-1 0 16,-1 0-5-16,0 0 10 15,-1 1-9-15,-1-3 8 16,0 0-4-16,-3 0 7 16,-1 0-1-16,0 0-5 15,0 0 5-15,1 0-1 0,0 0 1 16,-2 0-5 0,-1 0 1-16,1 0-1 0,-2 0-1 15,0 2 4-15,-4-2-2 16,2 0-2-16,-3 0-4 15,1 0 4-15,-2 0 2 16,-1 0-1-16,-1 0 2 16,0 0-3-16,0 0 0 15,0 0-2-15,2 0-37 16,3 0-29-16,2-2-56 16,0-4-28-16,-2-5-114 15</inkml:trace>
  <inkml:trace contextRef="#ctx0" brushRef="#br0" timeOffset="13085.2072">11032 5816 487 0,'0'0'230'16,"0"0"-175"-16,0 0-13 16,0 0 42-16,0 0 0 15,0 0-18-15,-5 0-27 16,5 0-26-16,0 0-11 15,0 0-2-15,6 0 0 0,7 0 2 16,3 2 0-16,0 1 8 16,4-1-9-16,2 0 1 15,-2 5-2-15,4-1 2 16,1 1 2-16,0 4-4 16,-1 2 0-16,-2 1 1 15,1 3 0-15,-4 3-1 16,-2 4 2-16,-4 0 0 15,-1 3-2-15,-5 2 7 16,0 0-1-16,-2-3 1 16,-5 1 0-16,0-2-3 15,0-2 2-15,0 1 17 16,0-2-1-16,-6 0-4 16,-4-2-13-16,-2-3 0 0,2-1 5 15,-4-2-4-15,-2 1-5 16,-2 0 11-16,-3 0-2 15,3-2-4-15,-2-2-6 16,1 1 6-16,3-4-5 16,-1-1-1-16,5-5 0 15,5 0 0-15,4-2-93 16,0 0-124-16,3 0-318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0:53:40.526"/>
    </inkml:context>
    <inkml:brush xml:id="br0">
      <inkml:brushProperty name="width" value="0.05292" units="cm"/>
      <inkml:brushProperty name="height" value="0.05292" units="cm"/>
      <inkml:brushProperty name="color" value="#FF0000"/>
    </inkml:brush>
  </inkml:definitions>
  <inkml:trace contextRef="#ctx0" brushRef="#br0">13741 16324 233 0,'0'0'31'16,"0"0"17"-16,0 0 9 15,0 0 19-15,0 0-30 16,0 0 11-16,0 0-26 16,0 0 14-16,-22-19-10 0,22 17-1 15,-2 1-2 1,2-1 1-16,0 2 9 16,-3 0-21-16,3 0 3 0,0 0-4 15,0 0-3-15,0 0-7 16,0 0-9-16,0 0 3 15,0 0-3-15,12 0 0 16,4 0 1-16,8 0-2 16,3 0 0-16,3 0 1 15,6 0-1-15,4-3 0 16,6 0 0-16,5 0 0 16,-2 2 0-16,3-1 0 15,0 2 0-15,1 0 4 16,3 0-8-16,1 0 2 0,1 0 2 15,-1 0 0-15,-2-2 0 16,-6 2 1-16,2-3-1 16,-6 3 0-16,-4 0 0 15,-4-2 1-15,-2 1-1 16,-1-2 4-16,-1-1-1 16,3 0-3-16,-3-4-2 15,1 1 2-15,0-1 0 16,-2 2 3-16,2 1-3 15,-3-1-1-15,-1 3 1 16,-1 0 1-16,-3 2 0 16,-3-1-1-16,-6 2 1 15,1 0-1-15,-5 0-1 0,-3 0-1 16,0 0 0-16,-2 0 2 16,-1 0 0-16,1 2-4 15,-5 1 4-15,0-2-51 16,-2 0-8-16,4 1-91 15,-4-2-210-15</inkml:trace>
  <inkml:trace contextRef="#ctx0" brushRef="#br0" timeOffset="8402.8603">2178 10122 433 0,'0'0'99'0,"0"0"-58"16,0 0 1-16,0 0 37 16,0 0-5-16,0 0 3 15,0 0-30-15,0 0 3 16,-37-30-18-16,37 28 0 0,-2 1-12 16,1 1 13-16,1 0 7 15,0-2-20-15,0 2-13 16,0 0-7-16,0 0-6 15,0 0 2-15,7-1-1 16,14-3 5-16,7-3 11 16,2-1 1-16,0-3-1 15,0 0-7-15,-2 2-2 16,0-1 0-16,-2 1 0 16,-3 1-2-16,-2 0 0 15,-1 4-4-15,0-1 4 16,0-1 0-16,-8 2-1 15,-3 3-69-15,-6 0-16 0,-3-4-22 16,0-1-44 0,0-5-375-16</inkml:trace>
  <inkml:trace contextRef="#ctx0" brushRef="#br0" timeOffset="8773.8793">2327 9774 763 0,'0'0'42'0,"0"0"-42"0,0 0-17 16,0 0 17-1,0 0 0-15,0 0 33 0,82 19-21 16,-52-11 0-16,4 2 7 15,1 3-13-15,-4 5 14 16,-3 4-14-16,-2 3-5 16,-9 3 11-16,-3 3-8 15,-8 1 7-15,-6-1-3 16,0 3 11-16,0 0-1 16,-17 0 6-16,-8 0 7 15,-5-2-16-15,-4-1 2 16,-3-1-11-16,0 0 0 0,2-3-6 15,0 4-9-15,0-4-99 16,-11 2-187-16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0:54:29.154"/>
    </inkml:context>
    <inkml:brush xml:id="br0">
      <inkml:brushProperty name="width" value="0.05292" units="cm"/>
      <inkml:brushProperty name="height" value="0.05292" units="cm"/>
      <inkml:brushProperty name="color" value="#FF0000"/>
    </inkml:brush>
  </inkml:definitions>
  <inkml:trace contextRef="#ctx0" brushRef="#br0">19661 13730 595 0,'0'0'61'0,"0"0"-45"16,0 0 39-16,0 0 27 15,0 0-13-15,0 0-10 0,0 0-9 16,-54-51-30-16,51 47 27 16,0 1 8-16,2 1-31 15,-2 0-11-15,3 2 17 16,0 0-4-16,0 0-18 16,0 0-7-16,0 0-1 15,0 0-3-15,0 0-2 16,0 0-2-16,3 0 6 15,7 4 1-15,3 4-1 16,0 2 2-16,1 1-1 16,1 1 0-16,3 2 0 0,-4 3 1 15,5 0-2-15,-5 1 2 16,0-1-2-16,-1 2 2 16,1 0-1-16,-3 1 0 15,-1 0 0-15,-1 2 0 16,0 1 0-16,-2 2 0 15,1 3 0-15,-2 1 0 16,-5 2 0-16,1 1 0 16,-2 2 0-16,0 0 2 15,0 0-1-15,0-2-1 16,-3-1 0-16,-3 0 0 16,-2-2 0-16,-1-2 1 15,-1 1-1-15,-3-3 0 16,-1 0 0-16,-2 1 3 0,-4 0-3 15,-5 0 3 1,-2-1 2-16,-6 3-4 0,-1-2 2 16,-6 1-3-16,7-1 7 15,-1-2-5-15,4-5-2 16,6-1 0-16,3-7 0 16,5 0 0-16,4-7 1 15,2 0-2-15,5-3-28 16,3-1-68-16,2 0-71 15,0 0-137-15</inkml:trace>
  <inkml:trace contextRef="#ctx0" brushRef="#br0" timeOffset="565.527">19904 14330 95 0,'0'0'604'16,"0"0"-546"-16,0 0-12 16,0 0 39-16,0 0-53 0,0 0 42 15,-30-2-11-15,30-5-45 16,12-1-15-16,9-3-1 15,9 0-1-15,3 0 3 16,6 1-4-16,1 0 3 16,0 5 2-16,0 1-10 15,-3 4-48-15,-4 0-83 16,-9-2-198-16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0:55:36.267"/>
    </inkml:context>
    <inkml:brush xml:id="br0">
      <inkml:brushProperty name="width" value="0.05292" units="cm"/>
      <inkml:brushProperty name="height" value="0.05292" units="cm"/>
      <inkml:brushProperty name="color" value="#FF0000"/>
    </inkml:brush>
  </inkml:definitions>
  <inkml:trace contextRef="#ctx0" brushRef="#br0">3499 8534 274 0,'0'0'130'0,"0"0"-107"16,0 0-20-16,0 0 14 16,0 0 10-16,0 0 6 15,0 0 1-15,0 3-10 16,2-3 55-16,4 0-26 15,1-1-29-15,2-4-13 16,2 0 9-16,1 2-1 0,4-2-18 16,1 1 5-16,5 1-3 15,2-4-1-15,1 3 2 16,5-1-3 0,-3-1-1-16,-3-1 1 0,0 0 2 15,-7-1-3-15,-6-2-106 16,-11-2-176-16</inkml:trace>
  <inkml:trace contextRef="#ctx0" brushRef="#br0" timeOffset="279.8094">3598 8368 263 0,'0'0'67'0,"0"0"-60"15,0 0-5-15,0 0 3 16,0 0 11-16,0 0-7 16,83-7 4-16,-59 17-5 15,-4 2 3-15,2 5-9 16,-5 2 9-16,-4 1 11 16,-7 6 71-16,0 1-63 15,-6 4 5-15,0 2-12 16,-4 1-4-16,-9 0-6 15,-6 1-6-15,-3-4-7 16,-1 1-8-16,-1-8-159 16</inkml:trace>
  <inkml:trace contextRef="#ctx0" brushRef="#br0" timeOffset="13881.4811">8780 16414 161 0,'0'0'17'0,"0"0"16"16,0 0 12-16,0 0-20 15,0 0 20-15,0 0 21 16,0 0-39-16,-16-24 4 16,16 24 4-16,-1-2-5 15,1 1-1-15,-1 0-21 16,-2-2 0-16,-2 2-7 16,1 1-2-16,-5-2 1 15,0 0-21-15,1 1-35 16,1-1-49-16,-2 0-66 15,2-1 48-15</inkml:trace>
  <inkml:trace contextRef="#ctx0" brushRef="#br0" timeOffset="15967.6031">8660 16327 210 0,'0'0'72'0,"0"0"-31"15,0 0 18-15,0 0 34 16,0 0-27-16,0 0-33 16,-16 0-19-16,16 2 8 15,0-1 12-15,-1 1-6 0,1-2-14 16,0 1-11 0,0-1 18-16,0 2-5 0,0-1-5 15,0 2 6-15,0 2 13 16,0-2-16-16,0 3-4 15,0 2-2-15,0 0 1 16,4 0 2-16,-1 1-2 16,4-1-8-16,-2 0 13 15,1 1-8-15,0-1-1 16,0-2 2-16,-1 0 3 16,2-1-6-16,-1-2 2 15,0 0-2-15,5 0-3 16,0 0 9-16,0 1-1 0,3-1 1 15,1 1-2 1,0-2-7-16,-1-1 10 0,-1 2-10 16,-1 1-1-16,2-3 3 15,3 1-2-15,-4-1 0 16,1 0-1-16,-3-1 3 16,0 2-3-16,0-2 1 15,1 0-1-15,0 0 1 16,1 0-1-16,-1 0 1 15,3 0-1-15,1 0 0 16,1 0 0-16,1 0 0 16,-2 0 0-16,4 0 2 0,-1 0 3 15,1 0-5-15,-1 0 1 16,0-2 0-16,-2-2-1 16,2 1 0-16,-4-2 4 15,1 4 0-15,-2-1-1 16,-1-1 0-16,-1 3-3 15,-1-1 3-15,0 1-3 16,0 0 0-16,0 0 2 16,3 0-2-16,-2 0 0 15,5 0 1-15,-3 0-1 16,1 0 1-16,-1-2-1 16,4 2-1-16,-2 0 1 15,4-1 2-15,-1 1-2 16,-3 0 0-16,4 0 0 15,-1 0 1-15,1 0-2 16,2 0 1-16,0-2 0 0,-2 1 1 16,7 1-1-16,-4 0 1 15,1 0-1-15,-1 0 0 16,1 0 0-16,-1 0 1 16,1 0-2-16,0 0 1 15,0 0 0-15,1 0 1 16,1 0-1-16,-3 0 0 15,3 0 4-15,-5 0-4 16,4 0 0-16,0 0 0 16,2 0-5-16,2 0 5 15,-1 0 0-15,2 0 5 16,0 0-4-16,2 0 1 16,1 0-2-16,0 0-1 0,-2 0-5 15,-2 0 10-15,-1 0-9 16,-1 0 5-16,-2 0-1 15,-4 0 1-15,0 0 0 16,-2 0 1-16,1 0-1 16,-1 0 0-16,3 0 0 15,1 0 0-15,1 0 0 16,0 0 0-16,-1 1 4 16,3 1-4-16,-3-2 0 15,5 0 1-15,-1 0-2 16,-1 0 2-16,3 0-2 0,0 0 1 15,1-2 0 1,3-3 0-16,3 1 2 0,-2-1-2 16,1 2 0-1,0-1 0-15,-4 1 0 0,1 2 0 16,-1-3 0-16,-1 2 0 16,-3-1 1-16,0 1-1 15,-2 0 0-15,-2 1 0 16,-1-2 0-16,2 0-6 15,-3 2 6-15,3-3 0 16,-4 1 0-16,0 0 0 16,1 0 0-16,-2 2 4 0,-1-3-4 15,-1 1 0-15,1 0 4 16,-2-2-4-16,3 5-2 16,-2-3 2-16,5 1-2 15,-1-1 2-15,0 2 0 16,3 0 0-16,-1-1 0 15,3 0-1-15,-3-1 3 16,3 1-2-16,1-1 0 16,3 0 0-16,3 2-1 15,-1-3 1-15,1-2 0 16,3 2 1-16,-6-2-1 16,-1 2 0-16,0 1-1 15,-2-2 1-15,3 1 0 16,0 1 0-16,-1 0 1 15,-2-1-1-15,0 1 0 0,-2 3 1 16,1-2-2-16,-4 1 2 16,3-1-1-16,-1 2 0 15,0-1 0-15,-2 1 0 16,-3 0 1-16,0 0-2 16,-3 0 2-16,5 0-2 15,-2 0 1-15,1 0 0 16,-1 0 2-16,2 0-2 15,-4 0-1-15,2 0 0 16,-1 0 1-16,-2 0 0 16,-2 0 0-16,-1 0-1 15,1 0 0-15,-1 0 2 16,-1 0-1-16,0 0 0 16,3 0 1-16,-3 0-1 0,3 0 0 15,-3 0-2-15,1 0 2 16,-3 0 2-16,3 1-1 15,0 1-1-15,-3-2-2 16,3 1 2-16,-2 1-2 16,-3-2 2-16,2 0 2 15,-1 0-1-15,-3 2-1 16,5-2 0-16,-2 0 0 16,1 0-1-16,-1 1 2 15,1-1-1-15,1 0 0 16,-1 2-1-16,3-2 1 15,-1 2 0-15,0-1 1 0,-3 1-1 16,2-1 0-16,0-1-1 16,2 2 1-16,-4-2 0 15,4 2 0-15,-3-1 0 16,1-1 0-16,-2 0 0 16,-1 0 0-16,0 0 0 15,-1 1 0-15,1-1 0 16,-2 0 1-16,0 0-1 15,-1 0-1-15,0 0 1 16,-3 0 0-16,-2 0 1 16,1 0-1-16,-1 0 0 0,0 2-1 15,0-1-1 1,0 4-7-16,0 2-51 0,0-6-88 16,0-1-424-16</inkml:trace>
  <inkml:trace contextRef="#ctx0" brushRef="#br0" timeOffset="27151.9879">2032 11266 328 0,'0'0'542'0,"0"0"-454"16,0 0-43-16,0 0 11 15,0 0 16-15,0 0-17 16,0 0-8-16,-79 27-28 16,73-6-17-16,6 3 0 15,0 2-4-15,0-2 4 16,13-7-4-16,5 0 9 16,6-11-12-16,0-4 11 15,1-2-2-15,-1-5 0 16,-4-13-1-16,-3-4-2 0,-6-5 6 15,-2-4-8 1,-9 2 1-16,0 0-10 16,-12 6 9-16,-9 6-3 0,-3 6 3 15,-3 5 1-15,2 5-8 16,0 1 4-16,5 0 2 16,2 6 2-16,5 7-4 15,1 5-6-15,9 3 0 16,3-1-45-16,9 4-56 15,18-9-56-15,7-8-164 16</inkml:trace>
  <inkml:trace contextRef="#ctx0" brushRef="#br0" timeOffset="27554.9094">2779 11168 874 0,'0'0'84'0,"0"0"-48"16,0 0 17-16,0 0 11 15,0 0-36-15,0 0-5 16,-72 94-15-16,72-71-2 15,6-1-5-15,13-4 0 0,4-5 2 16,3-7-3-16,4-6 2 16,5-3 4-16,-2-17 8 15,-3-7-5-15,-3-1-4 16,-11 1-2-16,-7 5 1 16,-9 3 0-16,0 6 3 15,-14 5-3-15,-11 5-4 16,-3 3-14-16,-2 0 11 15,3 13 0-15,-1 9-5 16,6-1 8-16,5 4-11 16,5 3-60-16,8-3-95 15,4-5-67-15</inkml:trace>
  <inkml:trace contextRef="#ctx0" brushRef="#br0" timeOffset="27996.535">2158 11425 821 0,'0'0'53'15,"0"0"-37"-15,0 0 11 16,0 0 47-16,0 0 34 15,0 0-43-15,-35 0-49 16,35 0-16-16,15 0-6 16,13-3 6-16,14-4 7 0,13-3-2 15,6-5-4-15,6-3-1 16,5-2-27-16,-5 0-150 16,-4-1-94-16</inkml:trace>
  <inkml:trace contextRef="#ctx0" brushRef="#br0" timeOffset="28330.1918">2815 11262 648 0,'0'0'100'0,"0"0"-99"16,0 0-1-16,0 0 1 16,0 0 43-16,0 0 30 15,26 92-35-15,-6-63-26 16,3 5 8-16,-1 4 1 16,0 7 46-16,-1 6-12 15,-1 3-1-15,-1-4-23 16,-5-1-8-16,5-10-11 15,-4-7-7-15,-2-6-3 16,0-8-2-16,-2-4 3 16,1-4-3-16,-3-6-1 15,7-4-29-15,-1 0-123 16,0 0-125-16</inkml:trace>
  <inkml:trace contextRef="#ctx0" brushRef="#br0" timeOffset="28754.5833">3212 11831 798 0,'0'0'102'15,"0"0"-21"-15,0 0 33 16,0 0-35-16,0 0-47 15,0 0-29-15,-23 41-2 0,16-4 2 16,1 7 14-16,0 0 3 16,4-2-4-16,2-1-4 15,0-6-4-15,0-3-4 16,9-9-4-16,3-8 2 16,5-7-2-16,-1-8 0 15,4 0 4-15,-1-8 1 16,0-15-5-16,-6-4-9 15,-3-3-18-15,-10 4-17 16,0 3 21-16,-6 4 3 16,-20 4 17-16,-6 8-6 0,-4 7 9 15,-4 0-6 1,4 7 6-16,3 8 4 0,12-1 2 16,6 0 0-16,9 0-6 15,6-1-9-15,2-4-128 16,17-5-96-16,2-4-461 15</inkml:trace>
  <inkml:trace contextRef="#ctx0" brushRef="#br0" timeOffset="29054.7843">3239 12098 861 0,'0'0'78'0,"0"0"-63"15,-50 79 27-15,34-38 52 0,-5 8-17 16,1 6-39-16,-2 8-5 16,-6 3-9-16,-5 9-3 15,-9 7-3-15,-7 8 9 16,-3 3-12-16,-3-1-1 16,8-4-4-16,3-6-7 15,5-10 0-15,12-13-3 16,9-16-2-16,12-16 2 15,6-13-1-15,0-11-44 16,17-3-72-16,9-11-50 16,6-15-43-16,-1-6-179 15</inkml:trace>
  <inkml:trace contextRef="#ctx0" brushRef="#br0" timeOffset="29353.9791">2843 13104 746 0,'0'0'144'0,"0"0"-63"0,0 0 10 15,0 0 5-15,-86 41-21 16,69-19-23-16,1 4-21 16,7 0-8-16,4-1-22 15,5 2-1-15,0-3 0 16,1-2-2-16,12-3 2 16,6-6 1-16,-2-7-1 15,-1-6-28-15,-1 0 7 0,-3-5 1 16,-6-13 5-16,-6 0 8 15,0-3 7-15,-22 3 0 16,-10 3 2-16,-7 6 0 16,-7 5-2-16,0 4-1 15,2 0 1-15,6 0-4 16,13 0 2-16,10 0-1 16,10 0-109-16,5 0-110 15,11-8-322-15</inkml:trace>
  <inkml:trace contextRef="#ctx0" brushRef="#br0" timeOffset="29713.0211">2696 13230 271 0,'0'0'636'0,"0"0"-551"16,0 0 53-16,0 0-35 15,-86-34-11-15,54 20-42 16,-4-1-13-16,-6-1-12 16,-10 2-5-16,-3 0-7 15,-9 3-3-15,-13 3-1 16,-12 5-4-16,-7 3-5 16,-8 0 0-16,3 7 0 15,2 0 5-15,10-1-4 0,10 2 8 16,7-3-8-16,14-1-1 15,9-2 3-15,16 0-3 16,12-2 5-16,12 0-5 16,8 0-8-16,1 0 4 15,0 1-62-15,13 3-72 16,14 3 12-16,6-2-86 16,1-2-115-16</inkml:trace>
  <inkml:trace contextRef="#ctx0" brushRef="#br0" timeOffset="30063.613">1516 13205 1020 0,'0'0'84'0,"0"0"-74"16,0 0 14-16,0 0 67 0,0 0-38 15,0 0-34-15,-72 39-19 16,72-32-11-16,0-3 11 15,11 1 1 1,0-4 2-16,-1-1-2 0,3 0 0 16,-4-4-1-16,-5-9-3 15,-4 1 2-15,0-2 1 16,-10 1 0-16,-14 4 0 16,-6 4-1-16,0 5-8 15,-2 0 7-15,8 2-11 0,3 10 13 16,6 1 3-16,7-2-3 15,4-1-12-15,4 0-60 16,0-4-62-16,1-1 9 16,13-5-14-1,1 0-72-15,0-9-96 0</inkml:trace>
  <inkml:trace contextRef="#ctx0" brushRef="#br0" timeOffset="30302.9735">1372 13187 105 0,'0'0'551'0,"0"0"-352"16,0 0-59-16,-17-91-49 15,14 53 0-15,3-8-17 16,0-12-28-16,0-12-16 16,0-10-8-16,3-5-5 0,4 3 3 15,-4 5-2-15,-3 11-6 16,0 11 10-16,0 11-3 16,-4 10-13-16,-2 9-4 15,3 11 0-15,0 4-2 16,0 8 0-16,3 2-6 15,-2 0-25-15,2 0-52 16,0 9-87-16,0 8-29 16,0 1-27-16,0-6-294 15</inkml:trace>
  <inkml:trace contextRef="#ctx0" brushRef="#br0" timeOffset="30644.0597">1414 12337 884 0,'0'0'78'0,"0"0"-48"0,0 0 16 15,0 0 49-15,0 0-21 16,0 0-56-16,-38 24-18 16,38-22-10-16,0-1 8 15,0 1 2-15,10-2 1 16,2 0 2-16,-4 0 1 15,0-12 5-15,-3-5-1 16,-5 0-1-16,-3-1-4 16,-14 4-3-16,-7 4-2 15,-2 4 2-15,0 5-1 16,4 1-5-16,2 0 0 16,6 1 6-16,2 9 0 0,7 1-3 15,5-1-17-15,0 3 7 16,11-3-45-16,12-6-66 15,9-4-1-15,1-5-106 16</inkml:trace>
  <inkml:trace contextRef="#ctx0" brushRef="#br0" timeOffset="31024.0688">1440 12260 754 0,'0'0'187'16,"0"0"-137"-16,0 0 0 0,0 0 40 16,0 0 14-16,0 0-52 15,-11-100-24-15,23 54-16 16,9-7-6-16,-3-7-4 16,4 1 7-16,-4 0 9 15,-6 1-12-15,0 4 7 16,0 1-11-16,-3 2 11 15,2 5-7-15,2 4-5 16,0 6 2-16,2 7-3 16,2 2 1-16,0 4-2 0,2 2 0 15,1 0 1-15,1 4 0 16,-5 2 0-16,1 3-2 16,-5 2 2-16,-2 0-1 15,-4 3-1-15,-1 0-6 16,-1 5-33-16,-4 1-26 15,0 1-71-15,0 0-91 16,0 0-222-16</inkml:trace>
  <inkml:trace contextRef="#ctx0" brushRef="#br0" timeOffset="31512.1506">1683 11473 733 0,'0'0'3'0,"0"0"-3"15,0 0 2-15,100 47 39 16,-64-24 16-16,5 6-4 16,3 9 10-16,6 3-32 15,1 4 14-15,0 2-18 16,-2 0-11-16,-4-4-13 16,-4-4-3-16,-5-2 0 15,-6-7 0-15,-10-5 6 0,-4-9-6 16,-4-7-54-16,-5-9-115 15,-2 0-245-15</inkml:trace>
  <inkml:trace contextRef="#ctx0" brushRef="#br0" timeOffset="31829.8333">2339 11989 695 0,'0'0'162'16,"0"0"-110"-16,0 0-20 15,-37 84 71-15,37-61 1 16,0-4-75-16,0 0-13 16,7-3-16-16,8-4 1 0,4-6 2 15,3-6 4-15,1 0-4 16,3-8 3-16,-4-11 5 16,-8-4-11-16,-5 1-9 15,-9 1 9-15,-5 2 5 16,-19 5 5-16,-6 7-9 15,-5 7 10-15,2 0-3 16,0 6-8-16,5 14-3 16,5 2-2-16,4 4 0 15,8 2-65-15,11-2-128 16,0-2-31-16,6-10-425 16</inkml:trace>
  <inkml:trace contextRef="#ctx0" brushRef="#br0" timeOffset="32576.5482">1723 13057 273 0,'0'0'127'15,"0"0"-26"-15,0 0-19 16,0 0 28-16,0 0-49 16,0 0-5-16,-53 16-12 15,53-16-4-15,0 0 4 16,0 0-10-16,0 0 0 15,0 0-15-15,0 0 1 16,0 0 20-16,4-8 5 16,18-18-12-16,17-16-28 0,12-16 8 15,10-14-5-15,-1-8-1 16,4-2-6-16,-9 3 5 16,-3 6-6-16,-3 9 0 15,-13 9 0-15,-3 10 0 16,-11 12-1-16,-7 10 1 15,-7 5 1-15,-4 5 4 16,-4 4-4-16,0 2-2 16,0 4 0-16,0 3-7 15,-4 0-73-15,-8 3-64 16,4 7-24-16,-2-3-149 16</inkml:trace>
  <inkml:trace contextRef="#ctx0" brushRef="#br0" timeOffset="32953.6014">2309 12163 737 0,'0'0'135'0,"0"0"-134"16,0 0 1-16,0 0 7 16,-24 89 26-16,24-68-24 15,9-1-3-15,9-5-4 0,2-6 1 16,-2-6-3-16,7-3-1 16,-7 0 6-16,1-12 4 15,-7-10-7-15,-6-2-4 16,-6-1-4-16,0 4-16 15,-15 6 3-15,-4 4-17 16,-1 11 15-16,1 0-4 16,1 8 2-16,0 15-21 15,6-1 27-15,5 2-2 16,4 0-155-16,3-5-181 16</inkml:trace>
  <inkml:trace contextRef="#ctx0" brushRef="#br0" timeOffset="33348.1078">2393 12230 708 0,'0'0'104'16,"0"0"-97"-16,0 0-7 16,0 0 0-16,0 0 58 0,25 83-3 15,5-42-14 1,6 6-21-16,8 7 24 0,3 5-2 16,2 3-24-16,0 7 1 15,-4 5-3-15,4 1-2 16,-7-2-9-16,0-3 7 15,-2-5-8-15,-7-6-2 16,-8-7-2-16,-5-8 0 16,-7-14 6-16,-4-13-5 15,-3-11 0-15,-6-6 3 16,0-3-4-16,0-25-39 16,-9-6-228-16,-7-5-250 15</inkml:trace>
  <inkml:trace contextRef="#ctx0" brushRef="#br0" timeOffset="36466.6229">2825 10321 532 0,'0'0'174'0,"0"0"-101"0,0 0 2 16,0 0 13-16,0 0-5 16,0 0-11-16,0 0-33 15,0 0-17-15,-2-5-3 16,2 5-8-16,0 0-10 15,0 0-1-15,0 0 1 16,0 0-3-16,0 6-1 16,0 10 3-16,0 4 1 15,0 5-1-15,0 2 3 16,0 2-2-16,0 1 0 16,0 1 7-16,0 0-8 15,0 0 9-15,0 0-6 16,0-3-1-16,2 0 9 0,1-3-7 15,0-1 0-15,2-4-4 16,-1 3 0-16,1 0 1 16,1-2 0-1,1 1 0-15,-1-2-1 0,-1-4-1 16,-1-1 1-16,-1-5 1 16,0-3-1-16,-1 0 0 15,-2-1 4-15,0-2-4 16,3 1 0-16,-1 3 1 15,-2-3 0-15,2 3-1 16,-1-3 1-16,-1 0 0 16,2-3-1-16,-1-1 0 0,1 1-4 15,-2-2-27 1,0 0-30-16,0 0-40 0,0-2-16 16,0-10-274-16</inkml:trace>
  <inkml:trace contextRef="#ctx0" brushRef="#br0" timeOffset="37180.242">2618 10807 521 0,'0'0'139'0,"0"0"-88"15,0 0-16-15,0 0 49 16,0 0-31-16,0 0-36 15,0-5-10-15,1 5-7 16,10 0 3-16,2 8 39 16,1 1-12-16,2 6-4 15,1 0-20-15,0 3 22 16,3 1 6-16,2 1-14 16,-1 0-12-16,-1-4 7 15,-1-1-8-15,0-3-4 16,-4-3-3-16,0-3 0 0,-2-5 0 15,-3-1 10-15,1 0-2 16,0 0 6-16,5-10 10 16,-3-10 0-1,7 0-3-15,-3-7-17 0,2-1 2 16,2-2-3-16,-5-1-1 16,2 5 3-16,-4 1-5 15,-1 3 2-15,-4 3-2 16,-6 5 2-16,3 4-2 15,-6 5 0-15,0 0 0 16,0 4 0-16,3-1-43 16,-3 1-69-16,3-1-130 0,1 1-314 15</inkml:trace>
  <inkml:trace contextRef="#ctx0" brushRef="#br0" timeOffset="40772.1969">2798 9847 702 0,'0'0'153'15,"0"0"-62"-15,0 0-68 16,0 0 10-16,0 0 44 15,0 0-5-15,0 0-37 16,0 0-32-16,-20 5 1 16,18 14-3-16,-1 5 0 15,0 6 10-15,0 5 0 0,-3-3 3 16,3 0-12-16,0-3 9 16,2-5-11-16,1-3 1 15,-3-6 4-15,3-3-5 16,-3-5-2-16,-4-4-50 15,-2-3-110 1,-5 0-70-16</inkml:trace>
  <inkml:trace contextRef="#ctx0" brushRef="#br0" timeOffset="41020.0592">2609 9989 437 0,'0'0'344'16,"0"0"-237"-16,0 0-85 0,0 0-11 16,0 0-5-16,0 0 5 15,15 3 43-15,7 6-18 16,-2 1-2-16,2-1-1 16,0-3-23-16,2 2-8 15,-1-2 3-15,1-3 1 16,4-3-6-16,-3 2 0 15,2-2-147-15,-4 0-125 16</inkml:trace>
  <inkml:trace contextRef="#ctx0" brushRef="#br0" timeOffset="41974.3734">3298 11103 700 0,'0'0'194'0,"0"0"-179"16,0 0 16-16,0 0 32 0,0 0-9 15,0 0-32 1,-12 16-17-16,6 2-1 0,-1 5 26 16,2 2 2-16,-1 2 4 15,0 4-18-15,0 1 8 16,-1 0-8-1,1-4-7-15,0-2-1 0,3-6-7 16,3-5 0-16,0-6 4 16,0-4-6-16,0-4 1 15,0 1-2-15,0-2 0 16,0 0-31-16,-5 0-62 16,-3-15-131-16,-4-3-502 15</inkml:trace>
  <inkml:trace contextRef="#ctx0" brushRef="#br0" timeOffset="42307.4842">3052 11135 697 0,'0'0'112'0,"0"0"-53"15,0 0 2-15,0 0 18 16,0 0-12-16,0 0-59 16,-3-1-8-16,3 7 0 15,11 7 4-15,2 2 14 0,2-1-4 16,0 1 24-16,1-2 5 16,-2-1-27-16,2-1-3 15,-2-1-6-15,-1-1-3 16,0-1-1-16,-5-5-1 15,-2 2-1-15,1-4 1 16,-1 2 0-16,3 0-4 16,-3-3-96-16,0 0-143 15,-6-3-435-15</inkml:trace>
  <inkml:trace contextRef="#ctx0" brushRef="#br0" timeOffset="56488.4557">1314 14249 363 0,'0'0'489'0,"0"0"-414"16,0 0 7-1,0 0 57-15,0 0-74 0,0 0-28 16,0 0-21-16,0 0-9 16,0 0 7-16,-59-37-10 15,54 23-2-15,-2 0-2 16,-2-4 0-16,0-1-2 16,3-1-38-16,-3 0-95 15,0-1-78-15,3-1-165 16</inkml:trace>
  <inkml:trace contextRef="#ctx0" brushRef="#br0" timeOffset="56717.8484">1232 13953 580 0,'0'0'156'0,"0"0"-115"16,0 0 15-16,0 0 3 16,0 0-24-16,0 0-33 15,0-56-4-15,0 42 2 16,0 0-75-16,0-3-107 0,-3 1-391 16</inkml:trace>
  <inkml:trace contextRef="#ctx0" brushRef="#br0" timeOffset="56913.3187">1209 13684 525 0,'0'0'81'0,"0"0"-29"16,0 0-18-16,0 0-16 15,0 0-18-15,0 0 0 0,-2-66-17 16,2 57-152-16,0-3-355 16</inkml:trace>
  <inkml:trace contextRef="#ctx0" brushRef="#br0" timeOffset="57119.2993">1265 13477 416 0,'0'0'140'0,"0"0"-74"16,0 0-29-16,0 0-2 16,0 0-27-16,0 0-16 15,21-54-8-15,-15 44-167 0,3-2-268 16</inkml:trace>
  <inkml:trace contextRef="#ctx0" brushRef="#br0" timeOffset="57252.2294">1353 13358 286 0,'0'0'170'15,"0"0"-160"-15,0 0-10 16,0 0-4-16,0 0-157 0</inkml:trace>
  <inkml:trace contextRef="#ctx0" brushRef="#br0" timeOffset="57805.3028">1104 13394 130 0,'0'0'500'0,"0"0"-430"16,0 0-25-16,0 0 61 15,0 0-27-15,0 0-30 16,-3 2-37-16,3-2-11 16,0-5 1-16,12-5 2 15,7-4 0-15,1-1-3 16,5-1 0-16,2-1-1 16,4 3 1-16,-1 0 0 15,0 1 0-15,-3 3-1 16,-3 3-3-16,-5 3 3 15,-1 2 6-15,0 2-6 0,-5 0 0 16,-2 0-2-16,-1 6-1 16,-1 11 2-16,-3 2 2 15,0 6 0-15,0 2 3 16,-2 3 20-16,1-1 0 16,-2 1 61-16,-1-4-76 15,-2 1 13-15,0-3-4 16,0-2 0-16,0-5-13 15,0-3 6-15,0-4-11 16,0-3 4-16,4 0-8 16,1-3-50-16,-4-4-157 15,-1 0-241-15</inkml:trace>
  <inkml:trace contextRef="#ctx0" brushRef="#br0" timeOffset="58698.9145">1341 14475 753 0,'0'0'81'16,"0"0"-75"-16,0 0 4 15,0 0 60-15,-73 84-12 16,58-59-15-16,2 4-2 0,1 1 3 16,1-1 19-16,3-3-25 15,0-5-9-15,5-3-11 16,0-5-17-16,3-3 6 15,-3-4-5-15,3-2 2 16,0-3 3-16,-3-1-2 16,-4 0-3-16,-2 0-4 15,-5-3-82-15,-1-11-141 16,0-3-98-16</inkml:trace>
  <inkml:trace contextRef="#ctx0" brushRef="#br0" timeOffset="58969.8359">1031 14613 501 0,'0'0'221'16,"0"0"-163"-16,0 0 42 0,0 0-22 15,0 0-38-15,0 0-36 16,-3-1-4-16,3 1-1 16,0 1 1-16,10 6 5 15,1 2 19-15,5 0 19 16,1 0 4-16,2 2-29 15,5-1 1-15,0 1 5 16,1 1-17-16,-1-2-6 16,3 0 3-16,-7-3-3 15,2-2-1-15,-6-1 0 0,-4-2 0 16,-2-2 0-16,-1 0-180 16,-7 0-145-16</inkml:trace>
  <inkml:trace contextRef="#ctx0" brushRef="#br0" timeOffset="60186.884">1620 13360 340 0,'0'0'194'0,"0"0"-72"15,0 0-7-15,0 0-7 16,0 0-31-16,0 0-18 15,0 0 9-15,0 0-5 16,0 0-19-16,0 0 14 16,0 0-22-16,0 0-6 15,0 0-16-15,0 0-8 16,0-2-5-16,16-4-1 16,7-3 1-16,7-4 3 15,3 0-4-15,-2 1 2 0,-1 2-8 16,-3 3 6-1,-4 2 0-15,-6 2 0 16,-1 3 6-16,-7 0-6 0,0 0-7 16,-6 0 4-16,3 7 3 15,-6 6-3-15,0 4 0 16,0 9 6-16,-8-2-10 16,-6 1 10-16,0-1-3 15,-2-7 7-15,3 2-6 16,2-5 1-16,1-1-2 15,5-3 1-15,-1-3 1 16,3-2-2-16,-1-1 0 16,2-1 0-16,2 0 0 15,0-2-2-15,0 1 0 16,0-1 0-16,0-1 1 16,0 0 0-16,2 0 1 15,11 0 0-15,5 0 3 0,9-10-1 16,3-5 3-16,0 0-5 15,1-1 1-15,-6 4 0 16,-1 0-1-16,1 5-6 16,-5 2 5-16,-4 5-135 15,-8 0-134-15,-8 0-280 16</inkml:trace>
  <inkml:trace contextRef="#ctx0" brushRef="#br0" timeOffset="91162.5746">9236 16557 343 0,'0'0'178'0,"0"0"-150"0,0 0-12 16,0 0 70-16,0 0-6 16,0 0-2-16,0 0-37 15,-3-12-25-15,3 12-4 16,0 0 11-16,0 0 8 16,0 0-9-16,0 0-1 15,0 0-12-15,0 0 2 16,-2 0-3-16,1 0-6 15,1 0 0-15,-4 0-2 16,1 0-1-16,-4 0 1 16,-1 2 2-16,-4 5-2 0,0 4 4 15,3-2-1 1,-1 1-1-16,1-1 0 0,4 1 1 16,-1-1 1-16,3-1-4 15,-3 1 0-15,5 2 1 16,-2-2 0-16,1 3 0 15,1-3-1-15,1 3 2 16,-3-1-2-16,3 2 2 16,0-3-2-16,-2 3 0 15,2-1-1-15,-1 0 2 16,-1 1-1-16,2 0 0 16,-1-4-1-16,1 2 1 15,0 1 1-15,0-1-1 16,0 2 0-16,0-1-1 0,0 2 1 15,0-1 0-15,0-1 0 16,0 0 0-16,0-1 0 16,0 0 0-16,0 0 1 15,0 2-1-15,0-3 0 16,0 0 2-16,0 3 1 16,0-3 5-16,-2 1-4 15,2 3 3-15,-2 0 14 16,2 2-10-16,-1 2-5 15,1-1-1-15,-1 1 6 16,1-1-2-16,0-1-2 16,0-1-5-16,0-1 2 0,0-2 1 15,0 5-4-15,0-4 0 16,0 3 5-16,0 0-5 16,0 1-1-16,0-4 3 15,0 3-2-15,0-2 1 16,0 3 6-16,0-2-5 15,2-2 3-15,2 1 2 16,-1-1-4-16,0-2 2 16,0 1-4-16,1-1 2 15,-1-2 1-15,1-1-4 16,-2 1 9-16,1-4-10 16,-3 0-1-16,0-2 1 15,3-1 1-15,-3-2 1 16,0 2 0-16,0-2-2 15,0 0-14-15,-3 0-87 16,-12 0-109-16,0-7-277 0</inkml:trace>
  <inkml:trace contextRef="#ctx0" brushRef="#br0" timeOffset="91496.685">8944 17360 525 0,'0'0'161'0,"0"0"-74"16,0 0-18-1,0 0 9-15,0 0-13 0,0 0-53 16,-9-11-12 0,9 19-1-16,12 9-1 0,1 5 2 15,4 5 8-15,-1 1-2 16,-1-1 11-16,1-3 5 15,-1-3-2-15,0-5-9 16,-3-7-7-16,1-3 1 16,-2-2-1-16,1-4 1 15,4 0 4-15,-2 0 2 16,5-16 1-16,0-2-3 16,1 0-9-16,4-2 0 15,3 3-40-15,-4 3-127 16,-6 1-261-16</inkml:trace>
  <inkml:trace contextRef="#ctx0" brushRef="#br0" timeOffset="101288.3776">8832 15608 453 0,'0'0'121'16,"0"0"26"-16,0 0-73 15,0 0-9-15,0 0 10 16,0 0-42-16,0 0 14 16,-12-29-12-16,12 29 2 0,0 0-3 15,-2 0-17-15,-1 0-8 16,-1 0 1-16,-2 0-4 15,-1 0-6-15,-2 0 0 16,0 0-1-16,-7 3 2 16,5 1-3-16,-4 1 4 15,1-1-2-15,1 2 4 16,0 0-4-16,0 0 3 16,2 1-3-16,-1-1 1 15,0 1-1-15,3 0 0 16,0 3 0-16,1 2 0 15,0 2-1-15,0 3 1 16,1 2 0-16,-5 0 0 16,6 4 0-16,-3 0 1 15,3 4-1-15,0-1 2 16,2 2-2-16,4 2-3 16,0 2 3-16,0 3 5 0,0-1-5 15,8-4 0-15,7-3-4 16,2 0 4-16,2-5-5 15,5 1-11-15,1-4-101 16,5 1-36-16,3-3-137 16</inkml:trace>
  <inkml:trace contextRef="#ctx0" brushRef="#br0" timeOffset="102684.2009">13031 15645 428 0,'0'0'84'0,"0"0"-11"15,0 0 22-15,0 0 9 16,0 0-19-16,0 0-44 0,-10-5-24 16,10 5-15-16,0 0 2 15,0 0 12-15,13 0 26 16,-1 8-21-16,2 0-5 15,0 2 6-15,2 2-7 16,-1 0 0-16,2 3-7 16,-1 1-1-16,0 1-1 15,0 3 4-15,-2 2-5 16,0 2-3-16,0 0 0 16,-1 5-2-16,1 0 6 15,-2 2-4-15,-1 2-2 16,1-2 1-16,-4 0 1 15,0-3-1-15,-2 0 2 16,2-1-3-16,-5-3 2 16,-2-3-2-16,-1 1 0 0,0-3 2 15,-1 1 1-15,-16-1-1 16,-2-2 3-16,-5 2-2 16,-3-2 2-16,-1-2-2 15,3-1-1-15,-1-3-1 16,2 0 1-16,-1-5 0 15,1 1-2-15,2 0-4 16,1-1 3-16,0 2-30 16,0-1-164-16,0 0-234 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0:58:01.014"/>
    </inkml:context>
    <inkml:brush xml:id="br0">
      <inkml:brushProperty name="width" value="0.05292" units="cm"/>
      <inkml:brushProperty name="height" value="0.05292" units="cm"/>
      <inkml:brushProperty name="color" value="#FF0000"/>
    </inkml:brush>
  </inkml:definitions>
  <inkml:trace contextRef="#ctx0" brushRef="#br0">11838 7722 203 0,'0'0'42'0,"0"0"32"16,0 0 1-16,0 0-20 15,0 0 4-15,0 0-16 16,-90-4-25-16,77-3 28 16,2 0-20-16,-1 2-7 15,5 1-19-15,1 0-9 16,1 1-135-16</inkml:trace>
  <inkml:trace contextRef="#ctx0" brushRef="#br0" timeOffset="534.083">11563 7969 481 0,'0'0'241'15,"0"0"-133"-15,0 0-46 0,0 0-15 16,0 0-16-16,0 0 7 16,0-8 5-16,15 0-20 15,10-6-17-15,8-5 16 16,6-1-9-16,2 1-12 16,1-2-1-16,-4 1 0 15,2 0-1-15,-4 3-25 16,-4 4-111-16,-7-2-3 15,-9 1-164-15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0:58:26.264"/>
    </inkml:context>
    <inkml:brush xml:id="br0">
      <inkml:brushProperty name="width" value="0.05292" units="cm"/>
      <inkml:brushProperty name="height" value="0.05292" units="cm"/>
      <inkml:brushProperty name="color" value="#FF0000"/>
    </inkml:brush>
  </inkml:definitions>
  <inkml:trace contextRef="#ctx0" brushRef="#br0">15326 11044 377 0,'0'0'15'16,"0"0"-1"-16,0 0-13 15,0 0 41-15,0 0 27 16,0 0-36-16,0 0-16 0,0 0-17 16,3 0 7-16,3 0 36 15,-1 3 1-15,-2 3 11 16,4 5-36-16,1-2-1 15,2 1 9-15,2 0-12 16,-2 2 2-16,5 0-8 16,-3 0 2-16,2 3 0 15,1 3-7-15,0 2 9 16,3 4 1-16,-1 0 3 16,1 6 1-16,-3-1-3 15,-3 1-4-15,-2 5 2 16,-4 1-9-16,-3 5 5 15,1 3 3-15,-3-2-11 0,-1-1 1 16,0-3 1-16,0-4 4 16,0-4 10-16,-4-2-3 15,-7-1 6-15,-8 1-17 16,-11 0 6-16,-6 6 0 16,-12 2-9-16,-9 7-1 15,-8 3-71-15,-5-6-78 16,-12-5-213-16</inkml:trace>
  <inkml:trace contextRef="#ctx0" brushRef="#br0" timeOffset="1501.3932">10910 11003 408 0,'0'0'41'0,"0"0"-1"15,0 0-14-15,0 0 5 16,0 0-2-16,0 0 21 16,-27 8-13-16,17-1-29 15,-2 5-5-15,-2 0 8 16,-1 0 11-16,0-1 2 15,-1 0-5-15,4 0 0 16,-3-2-6-16,5-2-1 16,-1-3 8-16,0 1-2 15,3 0-3-15,-1-1 7 16,-4 1 2-16,5 3-10 16,-4 1-9-16,2 2 3 0,-1 3-2 15,2 3-2-15,-3 4-1 16,0 3 4-16,2 3 2 15,-6 1-5 1,6 0-3-16,-1-2 2 0,5 2 1 16,0-2-2-16,4 0 3 15,2 6 0-15,0 2-5 16,0 1 3-16,0 3-3 16,5 0 2-16,4 3 2 15,5 1-1-15,0 1-1 16,2-1 4-16,-2 1-1 15,5-4 3-15,0-4-6 0,2-3-1 16,5-8-1-16,0-2 4 16,4-5-4-16,3-2 0 15,0-1 1-15,1-2-1 16,1-3 0-16,-4 2-22 16,0 0-28-16,-5 3-47 15,-3 0-82-15,-9-2-232 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0:59:02.965"/>
    </inkml:context>
    <inkml:brush xml:id="br0">
      <inkml:brushProperty name="width" value="0.05292" units="cm"/>
      <inkml:brushProperty name="height" value="0.05292" units="cm"/>
      <inkml:brushProperty name="color" value="#FF0000"/>
    </inkml:brush>
  </inkml:definitions>
  <inkml:trace contextRef="#ctx0" brushRef="#br0">15778 5644 462 0,'0'0'146'0,"0"0"-73"15,0 0-73-15,0 0 4 16,0 0 7-16,0 0 57 0,0 0 19 16,0 0-19-16,68-1-27 15,-42-3-7-15,7-1 6 16,3 0-7-16,1 3-1 15,2 1-13-15,1 1-4 16,3 0 4-16,-1 0-6 16,-2 0-7-16,-1 0-6 15,0 0 2-15,-6 0 0 16,-2 0-2-16,-5 0 0 16,-6 0 5-16,-6-3-5 15,-7 1-4-15,-3 2-2 16,-4 0-44-16,0 0-10 15,-16 0 7-15,-13 0-95 16,-12 0-17-16,-3 11 7 16,-1 3-26-16,2-1-32 0</inkml:trace>
  <inkml:trace contextRef="#ctx0" brushRef="#br0" timeOffset="228.9023">15960 5697 576 0,'0'0'150'16,"0"0"-89"-16,0 0-9 16,0 0 11-16,0 0-13 15,0 0 11-15,52-9-9 16,-16-1-10-16,7-2-28 0,-1 3-7 15,5-2-6 1,5 2-2-16,6 1-68 0,2 3-68 16,-5 1-195-16</inkml:trace>
  <inkml:trace contextRef="#ctx0" brushRef="#br0" timeOffset="12397.994">14903 6824 122 0,'0'0'314'15,"0"0"-222"-15,0 0-37 16,0 0-11-16,0 0 11 0,0 0 30 16,0 0-24-1,-11-6-1-15,11 5-28 0,0-1-13 16,0 1-7-16,0 0-12 15,0 0 11-15,0 1-2 16,0-2 10-16,0 0-5 16,0 2-2-16,0-1-7 15,0 1-4-15,0 0-2 16,0 0 1-16,0-2-4 16,3 0 4-16,11-2 0 15,4-1 9-15,4-3-7 16,3 4 8-16,5-4-1 15,4-3 1-15,2 2 18 16,3-3-11-16,1 2-4 16,-4 1 0-16,-3-1-9 0,-8 4 3 15,-4 3-4 1,-3 1 3-16,-2-1-2 0,-2-1 0 16,-2 3-2-16,-3 1 2 15,-6-1 4-15,1-1-4 16,-4 2 0-16,0 0 0 15,0 0 2-15,0 0-4 16,0 0 1-16,0 0-3 16,0 0-1-16,0 0-5 15,3 0-52-15,3 4 20 16,0 6-46-16,3 3-17 16,-2-2-50-16,-2-5-304 15</inkml:trace>
  <inkml:trace contextRef="#ctx0" brushRef="#br0" timeOffset="27382.3428">22173 4316 459 0,'0'0'93'0,"0"0"-38"16,0 0 8-16,0 0 7 0,0 0-8 15,0 0 2-15,0 0 9 16,0 0-58-16,0-34 33 16,0 34-11-16,0 0 0 15,0 0-14-15,0 0-11 16,0 0-9-16,0 0-3 16,0 0-2-16,0 0-5 15,0 0 1-15,3 10 6 16,3 1 1-16,1 2 0 15,0-4-1-15,-1-1 3 16,2 1-3-16,-1-1 1 16,1-2-1-16,-1-2 7 15,-2-1-3-15,1-2-4 16,-2-1 11-16,3 0-5 0,3 0 4 16,2-1 11-16,5-12-4 15,2-4-6 1,1 0-11-16,1-3 1 0,0 1-1 15,-7 2 3-15,3 3-6 16,-2 2-3-16,1 2-32 16,1 3-27-16,2 0-5 15,3 2-20-15,2-5-85 16,4-2-173-16</inkml:trace>
  <inkml:trace contextRef="#ctx0" brushRef="#br0" timeOffset="156417.6549">18077 2692 433 0,'0'0'123'15,"0"0"36"-15,0 0-70 16,0 0-28-16,0 0 22 16,-94-48 33-16,75 41-55 15,-1 1-2-15,-1 4-15 16,-2 0-34-16,-1 2 14 15,-8 0-23-15,-8 10 7 16,-12 13-2-16,-14 6-6 16,-9 11 0-16,-7 7-2 0,-3 7 2 15,-1 4-5 1,6 2 8-16,5 1-3 0,8-6 5 16,10-3-5-16,12-8 4 15,12 1-4-15,11-4-2 16,9 4 0-16,13 2-5 15,0 7 5-15,8 1 2 16,14-2-8-16,10 3 7 16,10-6-6-16,9-1 5 15,13 0-1-15,6-7 3 16,13-5 6-16,14-9-1 16,17-9-4-16,12-10 2 15,15-9-3-15,7 0-2 16,2-25-1-16,-1-15 6 15,-7-17-3-15,-11-10 5 0,-5-6-1 16,-7-4-2-16,-7-3-2 16,-15-2-1-16,-20-4 0 15,-24-1-12-15,-24-2 7 16,-19-2 6-16,-10 6 0 16,-25 3-3-16,-21 7 7 15,-15 7-8-15,-14 7 0 16,-14 9 2-16,-11 13 2 15,-12 11-5-15,-7 12-5 16,-5 12 10-16,-3 4-3 16,3 15 1-16,6 21-1 15,9 11-5-15,14 11 0 0,7 3 4 16,15 2-23 0,9 0 3-16,15 2-4 0,13 3-58 15,15 4-52-15,10-8-70 16</inkml:trace>
  <inkml:trace contextRef="#ctx0" brushRef="#br0" timeOffset="157991.5923">23593 2488 113 0,'0'0'647'15,"0"0"-569"-15,-81-16-32 16,53 13-19-16,1 1 7 16,0-1 37-16,0 3 7 15,2 0-32-15,-4 0-24 16,-2 0-7-16,-7 0-4 15,-4 12-9-15,-9 7 4 16,-12 9-5-16,-7 10-2 16,-9 3 1-16,-6 5 0 15,4 0 9-15,3-2-9 0,6-3 0 16,15-4 1 0,11 3-1-16,10 1 0 0,10 4-6 15,7 5 5-15,6 5-2 16,9-1 3-1,4 4-2-15,0-4-2 0,17 1 3 16,12-2-10-16,10-4 10 16,10-5-2-16,8-4 3 15,8-5 0-15,5-4 4 16,6-8-4-16,6 0-1 16,8-2 1-16,5-3 0 15,7-2 5-15,0-2-4 16,7-4 1-16,-3-5-2 15,5-5 1-15,-1 0 2 0,6-15-3 16,-1-11 1-16,-1-10-1 16,-4-7 0-16,-4 0 0 15,-6-5-4-15,-9 1 12 16,-11-1-7-16,-12-2-1 16,-15-2 0-16,-14-2 0 15,-12-2 2-15,-12-6 8 16,-11-3-10-16,-4 2 0 15,-4 2 0-15,-20 7 0 16,-9 8 0-16,-14 9-5 16,-10 6-8-16,-13 7 13 15,-12 6 0-15,-8 5 0 0,-4 3 0 16,0 8 3 0,-3 0-1-16,0 2-4 0,-1 0 1 15,-1 0 1-15,1 0-1 16,0 2 1-16,-3 6 0 15,0 3-3-15,2 8-20 16,7 6 9-16,3 9 0 16,7 5-40-16,8 9-32 15,8 2-93-15,9-4-266 16</inkml:trace>
  <inkml:trace contextRef="#ctx0" brushRef="#br0" timeOffset="169254.986">17904 1937 443 0,'0'0'129'0,"0"0"-48"15,0 0-39-15,0 0 39 16,0 0 11-16,0 0-20 16,0 0-5-16,0-4-5 15,0 4-11-15,0 0-26 16,0 0-12-16,0 0-6 16,0 0-6-16,0 0 3 0,0 0-8 15,0 4 2 1,0 13 2-16,0 7 3 0,0 3 0 15,0 2-3-15,0-4 0 16,0-2 3-16,0 1-3 16,0-4 0-16,0-4 0 15,0-1 0 1,1-3 1-16,1 0-1 0,-2-2 2 16,1 1 3-16,-1 0-6 15,0-2 2-15,0 1-2 16,0 0-3-16,2 0 4 15,-2-2 5-15,0 0-5 16,0-3 0-16,0-1-1 16,0-1-3-16,0-2-69 15,0 1-67-15,0-2-9 0,-17 0-309 16</inkml:trace>
  <inkml:trace contextRef="#ctx0" brushRef="#br0" timeOffset="169702.7845">17677 2098 486 0,'0'0'82'0,"0"0"-64"0,0 0-15 16,0 0 5-16,0 0 64 16,0 0-29-16,45 0 22 15,-27 0-33-15,2 1-14 16,2 2 2-16,3 4 14 16,0-4-10-16,3 3 4 15,1-3-5-15,1 4-2 16,-2-2 0-16,-1 0-9 15,-3 0-1-15,-2 0-3 16,-1-1 15-16,-4-1-8 16,-1-1 0-16,-3 3-9 15,1-3 0-15,-2 3 0 16,-4-2-3-16,1 2-3 16,-4-1 3-16,-2-4 0 15,0 3-1-15,-3-2-2 16,3 2 1-16,-3-2-1 0,1 3 0 15,1-3-71-15,-2 1-78 16,0-2-121-16</inkml:trace>
  <inkml:trace contextRef="#ctx0" brushRef="#br0" timeOffset="171250.6801">23448 2022 678 0,'0'0'85'0,"0"0"-26"16,0 0-17-16,0 0 30 15,0 0 29-15,0 0-24 16,-16-5-41-16,14 5-17 16,1 0-13-16,-2 0 0 15,-3 3-5-15,0 8 0 16,-2 2 0-16,-1 6 1 15,3 0 5-15,-1 5-7 16,1-2 2-16,-1 1 3 16,2-2-3-16,2 1-4 15,0-3 4-15,0-2-2 16,3-1 3-16,0-3-3 0,-2-1 0 16,2-2-1-1,0 2 2-15,0 0 2 0,0 0-3 16,0 2 0-16,-1-2 0 15,1-3 0-15,0-1 0 16,-2-2 0-16,2-2-9 16,-3-1-55-16,-2-3-63 15,-1 0-22-15,-5 0-178 16</inkml:trace>
  <inkml:trace contextRef="#ctx0" brushRef="#br0" timeOffset="171660.1273">23214 2160 174 0,'0'0'299'15,"0"0"-231"-15,0 0 2 16,0 0 26-16,0 0-7 15,0 0-37-15,0 0-30 16,0 0-10-16,11 2-8 16,5 7 62-16,3 2-33 15,1 3-9-15,1 0-5 16,4 1 17-16,0 2-13 0,-2-2-1 16,2 2-2-16,-2-1-7 15,1-1-5 1,-5-3-5-16,-2-2 7 15,-2-3-4-15,-6 0-2 0,0-3-1 16,-3-1-1-16,1 1 1 16,-1-3-1-16,-3 1-2 15,2-1 0-15,-1 1 3 16,0-2-2-16,0 2-2 16,0-2 0-16,1 0-113 15,-1 0-82-15,-4 0-252 16</inkml:trace>
  <inkml:trace contextRef="#ctx0" brushRef="#br0" timeOffset="234150.9367">22219 5741 552 0,'0'0'128'16,"0"0"-22"-16,0 0-61 16,0 0-37-16,0 0 12 15,0 0 13-15,0 0-12 16,24-20 2-16,4 14-14 15,10 1 0-15,11 2-6 0,9-2 6 16,9 0-5 0,9 1-1-16,0-1-3 0,0-1 0 15,-9 1 0-15,-13 1-17 16,-12 1-45-16,-12-1-21 16,-15 4-138-16,-7-3-174 15</inkml:trace>
  <inkml:trace contextRef="#ctx0" brushRef="#br0" timeOffset="234367.5371">22377 5819 528 0,'0'0'20'16,"0"0"36"-16,0 0-36 0,0 0-5 15,0 0 12-15,0 0 64 16,16 6 9-16,27-6-21 15,15-12-41-15,16-2-25 16,17-3-6-16,7 1-7 16,8 0-1-16,3 1-64 15,4-5-133-15,-2-5-321 16</inkml:trace>
  <inkml:trace contextRef="#ctx0" brushRef="#br0" timeOffset="243169.7331">1110 7602 601 0,'0'0'123'0,"0"0"-80"16,0 0 51-1,0 0-2-15,0 0-21 0,0 0 16 16,0 0-30-16,-15 0-26 16,15 0-2-16,0 0-17 15,0 0 0-15,0 0-5 16,12 0-7-16,12 0 5 16,4-6 9-16,8 2-3 15,6-3-3-15,5-2 12 16,-2-2-19-16,-2 2 2 15,-1-4 1-15,-1 2 0 16,-3 0-3-16,-2 1 1 16,-3 2-2-16,-3 0 0 15,-5 3-1-15,-1 1 0 16,-9 1 0-16,-6-2-23 0,1 2-14 16,-10-3-32-16,0-5-11 15,0-2-195-15,-22-4-358 16</inkml:trace>
  <inkml:trace contextRef="#ctx0" brushRef="#br0" timeOffset="243577.6803">1361 7304 746 0,'0'0'134'0,"0"0"-87"15,0 0-6-15,0 0 8 0,0 0-5 16,0 0 9-16,-15 7-46 16,30-3 12-1,4 2 18-15,6 1-5 0,2 0-15 16,0 0-11-16,3 3 7 16,1-2-11-16,3 6 7 15,1 1-7-15,-1 3-1 16,-1 4-1-16,-5 5 5 15,-5 1-3-15,-4 0-2 16,-4 2 2-16,-9 0-1 16,0 0 7-16,-6-3 2 15,0 1 1-15,0-3-2 0,-12-1 1 16,-4-3 0 0,-4-3 10-16,1 1-14 0,-2-4-2 15,0-2 0-15,-3-1-4 16,8-2 0-16,1 0-54 15,2-1-72 1,2-6-213-16</inkml:trace>
  <inkml:trace contextRef="#ctx0" brushRef="#br0" timeOffset="269258.1946">14823 10268 863 0,'0'0'56'0,"0"0"-54"16,0 0 6-16,0 0-8 16,0 0 9-16,0 0 17 15,0 0-4-15,110 0-1 16,-69-5-6-16,1 2-11 15,3-3-2-15,-3 3 2 16,-4-5-4-16,-2 0 0 16,-6 0-37-16,-5 2 14 15,-7 1-25-15,-8 2-71 0,-5 2-125 16,-5 1-50-16</inkml:trace>
  <inkml:trace contextRef="#ctx0" brushRef="#br0" timeOffset="269484.5918">15113 10233 342 0,'0'0'145'0,"0"0"-77"16,-106 35 13-16,76-23 19 16,9-2 1-16,11-3 3 15,3-3-23-15,7-3-28 16,0 1-14-16,4-2-14 16,20 1 17-16,11-1 20 15,12 0-17-15,10 0-24 16,2-4-17-16,4-5 8 0,-2-1-12 15,6 0 0-15,6-2-3 16,3-4-15 0,6-2-50-16,-3-5-133 0,-9-4-119 15</inkml:trace>
  <inkml:trace contextRef="#ctx0" brushRef="#br0" timeOffset="286017.9921">18188 14442 644 0,'0'0'68'0,"0"0"-12"15,0 0-52-15,0 0-3 16,0 0 47-16,0 0-5 16,0 0-7-16,78 0-8 15,-33-5 4-15,9-1-2 16,11-5-5-16,7 1-1 16,3-2-3-16,3 2 5 15,3 1-14-15,-5 2-9 16,-2 2 5-16,-6 2-8 15,-10 3 2-15,-12 0-2 0,-3-3 0 16,-9-3 1-16,-5-2-2 16,-9 2-37-1,-6-2-29-15,-9 3-8 0,-5-2-46 16,-6 2-169-16</inkml:trace>
  <inkml:trace contextRef="#ctx0" brushRef="#br0" timeOffset="286244.3928">18422 14554 725 0,'0'0'111'0,"0"0"-110"0,0 0 10 16,0 0 39-16,108 4 27 15,-50-21 5-15,5-1-18 16,6 1-31-16,-1 0-24 15,7 1 0-15,-4 6-7 16,-2 1-2-16,-2 5 0 16,-10 4-10-16,-5 0-67 15,-3 0-89-15,-7 0-174 16</inkml:trace>
  <inkml:trace contextRef="#ctx0" brushRef="#br0" timeOffset="360584.4982">3419 6797 153 0,'0'0'332'0,"0"0"-303"16,0 0 27-16,0 0 31 16,0 0-29-16,0 0-16 15,0 0 11-15,-6-40-37 16,3 40-2-16,3-3 1 16,0 3-6-16,-2 0-4 15,1 0-5-15,-4 0-5 16,-2 0 5-16,-2 5 2 15,0 3-2-15,-1 2 0 0,1-4 3 16,1-1 0-16,-1 3-1 16,-4-1 14-16,4 0 11 15,-3 0-14-15,0 0-2 16,0 1 0-16,-3-1 0 16,2 3 9-16,-2 0-6 15,0 1 4-15,2 1-11 16,1 1-3-16,-3-1-1 15,3 1 1-15,2 3 2 16,-1-2-6-16,-1 3 3 16,5 2 3-16,-2-2-1 15,3 1-3-15,-2 1-1 0,1 2 3 16,-5 0-2-16,3 1 12 16,0 1-11-16,0-1 8 15,2 2-3-15,-1-5 5 16,5 1-12-16,-3-2-1 15,6 1 1-15,0 0-1 16,0 1 7-16,0 3-5 16,0 1 3-16,0 4-2 15,6-1-2-15,0 0 3 16,3 2 0-16,1-5 3 16,1 1-5-16,1-4-2 15,6-1-1-15,2 0 1 16,2 0 0-16,6 0-16 0,8-2-103 15,2-1-51 1,4-3-173-16</inkml:trace>
  <inkml:trace contextRef="#ctx0" brushRef="#br0" timeOffset="362184.521">10391 6774 442 0,'0'0'71'15,"0"0"-26"-15,0 0 25 16,0 0 39-16,0 0-37 15,0 0-26-15,-14-17 5 16,13 14 11-16,1 3-14 16,-2-2 21-16,1 2-33 15,1 0-6-15,0 0-13 16,0 0-12-16,0 0-4 16,0 0-1-16,0 0-6 15,0 0 1-15,13 5 5 0,2 4 0 16,4 2 4-1,2-2-4-15,-1 2 1 16,2 0-3-16,-2 1 3 0,0 0-1 16,1 2 0-16,-4 1 0 15,2 2 0-15,-3 0 0 16,-1 4 0-16,0 1 2 16,-1 1 0-16,-2 0 0 15,1 1 2-15,-2-1 0 16,0-1 1-16,0-1-2 15,-2 0 4-15,3 1-5 16,-3-2-1-16,0 2 3 16,-2 0-1-16,2-1-2 15,-2 1 2-15,0 0-3 0,-2 2 0 16,4-2 2 0,-4 2-1-16,1 0 5 15,-2 0-3-15,1 2 5 0,-4-1-3 16,1 4 2-16,-2-3 1 15,0 3-7-15,0-4 1 16,0 0 1-16,0 1 1 16,-6-5-3-16,-2 3-1 15,1-1 2-15,-5-2-1 16,0 1 0-16,-3-1 2 16,0 1-2-16,-3 1 0 15,-1-1-1-15,1-3 0 16,-6 1 0-16,0-3 3 15,-4-1 7-15,-4-2-9 16,-3-2 0-16,2-2 3 16,-4-2-1-16,5-1-1 15,1-4-1-15,3 0 0 0,1-3 1 16,2 0-4-16,2 0 6 16,1-3-8-16,-4-5-12 15,1-1-74-15,3 0-56 16,-2 0-54-16,0 0-165 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1:05:25.957"/>
    </inkml:context>
    <inkml:brush xml:id="br0">
      <inkml:brushProperty name="width" value="0.05292" units="cm"/>
      <inkml:brushProperty name="height" value="0.05292" units="cm"/>
      <inkml:brushProperty name="color" value="#FF0000"/>
    </inkml:brush>
  </inkml:definitions>
  <inkml:trace contextRef="#ctx0" brushRef="#br0">21205 9875 596 0,'0'0'77'0,"0"0"37"0,0 0-56 16,0 0 40-16,0 0-31 15,0 0-22-15,0 0-15 16,0 0-6-16,0-6-13 16,-2 13-4-16,1 10 4 15,-2 5 23-15,0 5-21 16,1 0-4-16,0 1-6 15,1 1-1-15,-2-2-1 16,3-3 1-16,0-3-4 16,0-9-1-16,0-4-133 15,15-8-52-15,3 0-108 16</inkml:trace>
  <inkml:trace contextRef="#ctx0" brushRef="#br0" timeOffset="185.4964">21343 10011 159 0,'0'0'534'16,"0"0"-430"-16,0 0-91 16,0 0-9-16,0 0 3 15,0 0 44-15,0 46-17 16,-1-21-19-16,1 0-15 16,0 0 0-16,-3-1 0 15,2-4-3-15,-6-6-121 16,0-8-269-16</inkml:trace>
  <inkml:trace contextRef="#ctx0" brushRef="#br0" timeOffset="372.9933">21036 10125 638 0,'0'0'79'16,"0"0"-72"-16,0 0-6 15,0 0 67-15,0 0-23 16,88 78 0-16,-49-60-20 16,6-2-18-16,5-2-7 15,6-4-49-15,4-10-171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1:07:10.691"/>
    </inkml:context>
    <inkml:brush xml:id="br0">
      <inkml:brushProperty name="width" value="0.05292" units="cm"/>
      <inkml:brushProperty name="height" value="0.05292" units="cm"/>
      <inkml:brushProperty name="color" value="#FF0000"/>
    </inkml:brush>
  </inkml:definitions>
  <inkml:trace contextRef="#ctx0" brushRef="#br0">1152 8486 466 0,'0'0'94'0,"0"0"-91"16,0 0 1-16,0 0 46 16,0 0 72-16,0 0-72 15,0 0 20-15,0 0-3 16,55 4-40-16,-37-5 26 16,0-3-12-16,1-2 0 0,3 0-18 15,-2 1-13-15,1-2-6 16,3-1 2-16,-4 0-5 15,-6 2-1-15,2-1-10 16,-9 2-44-16,-3-5-50 16,-4-1-54-16,0-3-285 15</inkml:trace>
  <inkml:trace contextRef="#ctx0" brushRef="#br0" timeOffset="375.9988">1232 8308 145 0,'0'0'529'0,"0"0"-414"15,0 0-78-15,0 0-36 16,0 0 25-16,0 0-10 16,8 0 14-16,16 0-13 15,-4 0 14-15,1 7-19 16,-1 5-9-16,1 0 7 15,-3 2 16-15,-2 2-8 16,-1 1-14-16,-2 0 10 16,-2 2-11-16,-1 3 17 15,-1-1-4-15,-3 1 10 16,-1 2-6-16,-5-4 0 16,0 2-7-16,0-4 5 15,0-3-2-15,-6 0-7 0,-2-4 2 16,-2 0-5-1,1-2 3-15,-1-2-6 0,2 0-3 16,-4-2-9-16,2 1-53 16,2-3-93-16,-5-3-65 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1:08:08.834"/>
    </inkml:context>
    <inkml:brush xml:id="br0">
      <inkml:brushProperty name="width" value="0.05292" units="cm"/>
      <inkml:brushProperty name="height" value="0.05292" units="cm"/>
      <inkml:brushProperty name="color" value="#FF0000"/>
    </inkml:brush>
  </inkml:definitions>
  <inkml:trace contextRef="#ctx0" brushRef="#br0">14014 4160 88 0,'0'0'341'15,"0"0"-205"-15,0 0-63 16,0 0 10-16,0 0-11 16,0 0-26-16,0 0 16 15,0 0-12-15,0-23-14 16,0 23 8-16,0 0-5 15,0 0 11-15,0 0-19 0,0 0-7 16,0 0-7-16,0 0-4 16,0 0-3-16,0 0-5 15,0 0-5-15,0 0 0 16,0 3-1-16,0 10 1 16,0 2 0-16,0 4 1 15,0 1-1-15,0 0 0 16,0 3 4-16,0 1-3 15,0 1 5-15,3-1-1 16,-2 0 2-16,1 0 2 16,-2-1-6-16,0-3 1 15,0-3 0-15,0-3 2 16,0-3-6-16,0-3 0 16,0-1 1-16,0-3 0 15,0-1-1-15,0-3 0 16,0 0 3-16,0 0-2 0,0 0-1 15,0 0-13 1,0-7-41-16,0-1-17 0,0-5-28 16,0 0-17-16,0-2-82 15,0-2-203-15</inkml:trace>
  <inkml:trace contextRef="#ctx0" brushRef="#br0" timeOffset="533.6552">14219 4106 500 0,'0'0'92'0,"0"0"-63"16,0 0-5-16,0 0 62 15,0 0-12-15,0 0-13 16,0 20-10-16,-1-12 7 16,-2 1-9-16,0 1 3 0,-4 0-9 15,5 5-11 1,-1 0-12-16,-1 2 15 0,4 2-21 15,0 1 6-15,0 1-9 16,0 0 3-16,0 1 3 16,0 1 0-16,0-2-14 15,0 0 7-15,0-1 0 16,0-1-4-16,4-2-5 16,1-2 7-16,0-3-8 15,0-3 3-15,-2 1 1 16,-2-3-2-16,2-2-2 15,-1 0 3-15,0-1-3 16,1-1 1-16,-3-1-1 16,0-1 0-16,1-1 0 15,-1 0-4-15,0 0-49 0,0 0-2 16,0 0-10-16,-11 0-151 16,-5-10-40-16,-3 0-328 15</inkml:trace>
  <inkml:trace contextRef="#ctx0" brushRef="#br0" timeOffset="1350.3063">13736 4349 428 0,'0'0'68'0,"0"0"-19"0,0 0 29 16,0 0 66-16,0 0-54 15,0 0-30-15,0-17-26 16,0 17 28-16,0 0-28 15,0 0 5-15,0 0-16 16,0 0-15-16,0 0-7 0,0 3 7 16,8 8 16-16,2 2-4 15,0 2-6-15,3 3 2 16,-2 2-2-16,3 0-4 16,-1 1-1-16,1 1 0 15,-2 3-9-15,3-2 10 16,1 0-1-16,-1-2-2 15,3-1-2-15,-3 0 2 16,0-2-10-16,5 0 6 16,0 1-2-16,1-1 1 15,0 1-2-15,-1-2 0 16,-3-3 1-16,1-3 1 16,-2-1-2-16,-4-3 0 15,-1-2 0-15,-1 0 0 16,-1-4 3-16,-4-1-3 0,8 0 0 15,-5 0 1-15,3-8 4 16,3-7 11-16,-2-2-11 16,0-5-1-16,2 0 4 15,-3-1 2-15,2-1-10 16,-1-1 5-16,5 2-4 16,-1-5 4-16,6-1-5 15,2-1-1-15,0 0 1 16,2 2 2-16,-1 4-1 15,-1 3-1-15,-2 0 2 16,-4 6-2-16,0 1 0 16,-4 0 0-16,-2 3-1 15,-2-1 3-15,2 1-2 0,-4 1 2 16,0 3-1-16,-2 2-1 16,-1 2 0-16,-2 1-2 15,-3 2-7-15,1 0-17 16,-1 0-5-16,3 0-11 15,0 0 8-15,0 4-36 16,-2 2-20-16,2 1-94 16,-3-3-125-16</inkml:trace>
  <inkml:trace contextRef="#ctx0" brushRef="#br0" timeOffset="23651.4452">7245 6720 225 0,'0'0'64'16,"0"0"-20"-16,0 0 45 15,0 0-38-15,0 0 21 16,0 0 10-16,0 0-36 16,0 0 13-16,-31-17 4 15,31 13-40-15,-2 4 23 16,2 0-7-16,0 0-7 15,0 0-15-15,0 0 0 16,0 0-15-16,0 0-2 16,0 0-2-16,5 6-5 15,7 5 7-15,1 2 2 0,-1 0-2 16,3-1 0 0,1 0 0-16,-2 1 2 0,2-2-2 15,0 2 3-15,1 2-3 16,-4-1 0-16,1 3 0 15,-1 0 0 1,-2 2 3-16,0 2-3 0,-3 2 0 16,-2 5 0-16,-2-1 8 15,-3 2 3-15,3-4-1 16,-4 2 1-16,0-4 4 16,0 1-1-16,0 0-10 15,0 0-1-15,0-1 5 16,0 1-7-16,0-3 9 0,-4-1-10 15,0-1 2-15,0 2-3 16,-2-4 1 0,0-1 0-16,2-2 2 0,-2-4 3 15,4 1-4-15,1-4-1 16,-2-1-19-16,-2-6-99 16,-3 0-92-16</inkml:trace>
  <inkml:trace contextRef="#ctx0" brushRef="#br0" timeOffset="24966.5763">13171 5620 458 0,'0'0'89'15,"0"0"-47"-15,0 0 8 0,0 0 52 16,0 0-48-16,0 0-27 15,-43-20 8-15,37 20-17 16,-3 0 8-16,-3 0-19 16,3 0-3-16,-4 3 0 15,-1 9-3-15,0-1 1 16,1 2 3-16,3 1 4 16,-2 1-1-16,1 2 1 15,4 2-6-15,0 1 3 16,2 2-4-16,2-1 6 0,0 0-5 15,2 4 4 1,-3-2-2-16,4 1 1 16,0 2-1-16,-1-1 1 0,1 1-2 15,-3 1-2-15,3 1-2 16,0-2 6-16,0-1-5 16,0-1 0-16,4 1-2 15,4-4 2-15,0 3 1 16,0 0-2-16,3 0-2 15,-1-1 2-15,4 3 6 16,-1-2-6-16,2 1 0 16,2-1-1-16,-1-1 2 15,0-3 2-15,2 0-3 0,0-3 0 16,-1-2 2 0,-1-3-2-16,-1-3 0 15,0-4 0-15,0 0 1 16,2-5 0-16,3 0-1 0,4 0 0 15,0-8-67-15,-5-9-90 16,-6-4-440-16</inkml:trace>
  <inkml:trace contextRef="#ctx0" brushRef="#br0" timeOffset="57271.9605">5333 11070 768 0,'0'0'35'16,"0"0"19"-16,0 0-38 15,0 0 21-15,0 0 35 16,0 0 15-16,0 0-36 15,-22 0-21-15,20 0-19 16,2 0 0-16,0 0 7 16,0 0-11-16,0 0-7 15,0 0 10-15,0 0-10 16,0 0-3-16,0 0 3 0,0 0-7 16,10 0 7-16,4 0 6 15,4 0-5-15,4 0-1 16,2-3 4-16,0 0-4 15,1 3 0-15,1-3 1 16,0 2-1-16,-2 0 0 16,0 1 2-16,-2 0-2 15,-5 0-1-15,-2 0 0 16,-3 0 0-16,-1 0-3 16,0 0 2-16,-3 1-2 15,0 3 2-15,-2-4 0 16,-1 3 1-16,-4-3 0 0,2 1 0 15,0-1 1 1,0 2 0-16,2-1 0 0,-1-1 0 16,-1 2 0-16,3-2-1 15,-1 1 1 1,2 1 2-16,3-2-2 0,1 2 0 16,3 0 1-16,0-1-1 15,0-1 2-15,1 0 0 16,-3 0-1-16,0 0-1 15,1 0 0-15,-1 0 0 16,1 0 0-16,-2 0 2 16,-1 0 0-16,1 0-2 15,1 0 0-15,-1 0 0 0,0 0-3 16,0 0 8 0,-1 0-5-16,-1 0 3 0,-3 0-3 15,0 0-3 1,-2 0 2-16,-1 0 1 0,3 0 1 15,-4 0-1 1,1 0 4-16,-3 0-4 0,0 0-4 16,0 0 0-16,1 0 2 15,1 0-4-15,1 0-38 16,0 4-42-16,-3 7-64 16,0-4-114-16</inkml:trace>
  <inkml:trace contextRef="#ctx0" brushRef="#br0" timeOffset="91134.8222">7100 15962 342 0,'0'0'170'0,"0"0"-161"0,0 0-8 15,0 0 21-15,0 0 42 0,0 0 8 16,0 0-27 0,2 0-28-16,-2 0-5 0,0 0 1 15,0 0 0-15,0 0 7 16,0 0-11-16,0 0 1 16,0 0-7-16,0 0 4 15,0 0-5-15,0 0 6 16,0 0 7-16,0 0 8 15,0 0 1-15,0 0-4 16,0 0-9-16,0 0-3 16,0 0-8-16,0 0-9 15,10 0 5-15,5 0 4 16,6 0 3-16,7 0 4 16,2 0-4-16,3 0 4 15,-3 0-5-15,-2 0 7 0,0 0-5 16,-4 1-3-1,-4 2 4-15,-3 0-4 0,-4-3-1 16,-6 1 0-16,-3-1 0 16,-1 0 0-16,-1 0-6 15,2 0-21-15,-1-7-80 16,-3-11-360-16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1:10:11.785"/>
    </inkml:context>
    <inkml:brush xml:id="br0">
      <inkml:brushProperty name="width" value="0.05292" units="cm"/>
      <inkml:brushProperty name="height" value="0.05292" units="cm"/>
      <inkml:brushProperty name="color" value="#FF0000"/>
    </inkml:brush>
  </inkml:definitions>
  <inkml:trace contextRef="#ctx0" brushRef="#br0">19643 14691 544 0,'0'0'26'16,"0"0"-19"-16,0 0 67 15,0 0 38-15,0 0-24 16,0 0-42-16,0 0-7 16,0 0-18-16,0 0-6 15,0 0-6-15,0 0 4 16,0 0-3-16,0 0-1 0,0 0-3 15,0 0 0-15,0 0-6 16,0 0 1-16,0 0-3 16,7 2 6-16,7 3-2 15,7-2-2-15,8 0 0 16,7-2 13-16,9 1-8 16,1-2 6-16,1 0 6 15,0 0-14-15,-3 0-2 16,-3 0-1-16,-3 0 3 15,2 1-3-15,-4-1 0 16,4 0-2-16,0 0 2 16,5 0 3-16,1 0-3 0,-1-1 2 15,3-4-2-15,-6 1 0 16,-2 1-1 0,-4-1 0-16,-3-2-3 0,-2 3 2 15,-4-3 0 1,-1 2-28-16,1 0-46 0,-3 0-68 15,-7-2-227-15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7T11:10:37.009"/>
    </inkml:context>
    <inkml:brush xml:id="br0">
      <inkml:brushProperty name="width" value="0.05292" units="cm"/>
      <inkml:brushProperty name="height" value="0.05292" units="cm"/>
      <inkml:brushProperty name="color" value="#FF0000"/>
    </inkml:brush>
  </inkml:definitions>
  <inkml:trace contextRef="#ctx0" brushRef="#br0">2343 9917 509 0,'0'0'30'16,"0"0"32"-16,0 0-38 15,0 0-3-15,0 0 36 16,0 0 1-16,0 0 18 0,-38-19-20 16,38 19-28-16,0 0-23 15,0 0 0-15,0 0-10 16,0 0 10-16,0 0-4 15,0 0 0-15,0 0 8 16,10 0-1-16,-2 4-1 16,4 0 37-16,1 2-19 15,5 1-16-15,4-1 4 16,5 0 3-16,3-1 1 16,9 0-10-16,4-1 2 15,3 1-8-15,5-4 5 16,4 4 13-16,5-3-8 15,4 1-5-15,6 0-2 16,6-2 13-16,-1-1-15 16,-1 0 0-16,1 0 5 0,-2 0 3 15,0 0 6 1,-3 0-1-16,-6 0-11 0,-7-5 4 16,-5-2 11-16,-10 5-11 15,-6-1-4-15,-6 2 4 16,-8 1 1-16,1 0-4 15,-6 0-1-15,-5 0-1 16,2 0-3-16,-3-2 4 16,-3 2-2-16,-2 0 2 15,-6 0-3-15,2 0-1 0,-2-1 0 16,0-1-5-16,4-1-15 16,3 0-48-16,4-8-125 15,-1-9-188 1</inkml:trace>
  <inkml:trace contextRef="#ctx0" brushRef="#br0" timeOffset="5235.602">8333 9945 437 0,'0'0'266'16,"0"0"-223"-16,0 0-11 0,0 0-18 16,0 0 48-16,0 0-1 15,0 0-8-15,-74-1-3 16,74 1-20-16,0 0-24 16,0 0-5-16,0 0 0 15,4 0 8-15,6 0 8 16,2 1 3-16,2 2 10 15,-3-1-20-15,5-1 0 16,1-1 0-16,3 0 9 16,6 0 12-16,5 0-18 15,7 0-4-15,6 0 8 16,3 0-17-16,6-6 7 16,7 0 5-16,4-2-11 15,11-1 2-15,-1 1 7 16,-1 1-9-16,0 2-1 15,-4-2-3-15,0 4 3 0,-2-1 4 16,0-1-4-16,-8 0 3 16,-5 2-3-16,-8 0 10 15,-7 2 8-15,-9 1-17 16,-11 0 8-16,-7 0-3 16,-4 0 7-16,-4 0-9 15,-2 0 11-15,-2 0 1 0,0 0 3 16,0 0 5-16,0 0-18 15,0 0 2-15,0 0-1 16,0 0-4-16,0 0-2 16,0 0 7-16,0 0-16 15,0 0 8-15,0 0 0 16,0 0-25-16,1 0-31 16,0 0-53-16,4 0-91 15,-2-2-157-15</inkml:trace>
  <inkml:trace contextRef="#ctx0" brushRef="#br0" timeOffset="12958.2389">11939 9281 515 0,'0'0'232'0,"0"0"-143"16,0 0-26-16,0 0 31 15,0 0 32-15,0 0-36 16,0 0-24-16,0 0 0 15,0 0-40-15,0 1-20 16,6-1-3-16,6 0-2 16,10 0 4-16,5 0 8 15,4 0-1-15,1 0-2 16,4-3-1-16,-2-5 0 0,0 1-2 16,1 0-5-1,-3-1-2-15,-5 2 2 0,-4 0-2 16,-7 1 9-16,-7 3-9 15,-3-1-3-15,-6 0-16 16,0-3-6-16,0-1-17 16,-3-3-113-16,-11-2-66 15,-7-1-123-15</inkml:trace>
  <inkml:trace contextRef="#ctx0" brushRef="#br0" timeOffset="13231.7872">12152 9110 613 0,'0'0'126'0,"0"0"-74"0,0 0 26 15,0 0 22-15,0 0 7 16,0 0-35-16,39 0-31 16,-22 0-16-16,2 3-4 15,2 10 2-15,-2 1-6 16,-4 6 5-16,-3 4-14 15,0 2 13-15,-8 2-9 16,-2 3-4-16,-2 2 0 16,0-1-5-16,-14-1 13 15,-4-2-16-15,-2-9 0 16,5-3 0-16,3-4-18 16,4-7-54-16,5-4-104 15,-1-2-159-15</inkml:trace>
  <inkml:trace contextRef="#ctx0" brushRef="#br0" timeOffset="14356.5073">12894 9046 835 0,'0'0'106'0,"0"0"-54"15,0 0 1-15,0 0 45 16,0 0-22-16,0 0-33 15,0 0-9-15,95-34-8 16,-56 28-7-16,-2-2-8 16,-1 3-11-16,-3 2 1 15,-5 3-1-15,-8 0-19 16,-6 0-34-16,-8 0-56 0,-6 8-50 16,0 4-1-16,-15-1-138 15</inkml:trace>
  <inkml:trace contextRef="#ctx0" brushRef="#br0" timeOffset="14626.3162">13079 9045 515 0,'0'0'160'0,"0"0"-48"16,0 0-1-16,0 0-5 16,0 0 17-16,0 0-63 15,-3 0-36-15,3 4-24 16,0 12 49-16,0 6 0 15,0 4-3-15,3 6-24 16,-2 2 14-16,-1 0-14 16,1 0-10-16,1-2-3 0,1-4-7 15,0-4-1 1,-2-5-1-16,4-5-11 0,-1-6-44 16,1-3-49-16,4-5-135 15,3-5-169-15</inkml:trace>
  <inkml:trace contextRef="#ctx0" brushRef="#br0" timeOffset="15575.8746">13222 9329 830 0,'0'0'137'0,"0"0"-111"0,0 0 21 15,0 0 36 1,0 0-36-16,0 0-13 0,36 2 14 15,-12-2-38-15,2 0-5 16,-2-4-2-16,-4-4-3 16,-6 0 2-16,-5-1 3 15,-4-3-5-15,-5-3-2 16,0 0 2-16,0-1-1 16,-8 2-2-16,-4-1 3 15,2-2-5-15,4 1-7 16,4 0-7-16,2 2-12 15,0 2-11-15,8 1-9 16,8 6-21-16,-1 0 58 16,3 4 6-16,-3 1 7 0,0 0 2 15,-1 0 0-15,-1 5 2 16,-1 1-3-16,-2 5 12 16,-1 3 2-16,-3 1 8 15,-1 4 0-15,-2 0 14 16,-1 2-10-16,2 2 2 15,1-1-3-15,3-2 1 16,2-2-12-16,4-3 4 16,-1-5-10-16,6-5 4 15,1-5-5-15,2 0-3 16,4-14 3-16,-3-6-6 0,-1-4-1 16,-3 2 2-1,-4-2 0-15,-4 2 0 0,-3 3-2 16,-6 2 0-16,1 6 0 15,-3 0 0-15,0 5 1 16,0 3-1-16,-8 0 0 16,-2 3-4-16,-2 0 4 15,1 0 3-15,2 6-3 16,1 5-6-16,2 3 6 16,1 1 0-16,1 2 0 15,4-1 0-15,0 0 1 16,0-1 0-16,0-1 6 15,3 0 3-15,7-3-7 16,5-2 8-16,2-2-6 16,2-7 6-16,3 0-4 0,2 0-4 15,-2 0 2 1,-1-3-3-16,0-8 2 0,-3-2-1 16,0-2-1-16,-3 1 1 15,0-3-2-15,-6 1 2 16,-2-1 1-16,0 2-4 15,-4 0 3-15,0 5-4 16,-3 1 4-16,0 3-1 16,0 4-2-16,0 0-2 15,0 1 2-15,0 1 0 16,0 0-2-16,0 0-6 16,0 11 8-16,0 5-1 0,0 3 1 15,0-1-1 1,0 1 1-16,2-3-1 0,8-4 4 15,5-3-10-15,2 0 6 16,5-7-1-16,3-2-19 16,2 0-67-16,3-7-156 15,-2-10-437-15</inkml:trace>
  <inkml:trace contextRef="#ctx0" brushRef="#br0" timeOffset="16564.8711">14773 8994 614 0,'0'0'196'15,"0"0"-126"-15,0 0 62 16,0 0-13-16,0 0-43 16,0 0-35-16,-18-10-16 0,1 10-15 15,0 13 6 1,0 2 6-16,3 2-2 0,4 0-13 16,6 2-6-16,4-2-1 15,0 3 0-15,1 1-1 16,16-1 0-16,4 1 1 15,4 0 0-15,2 1 0 16,-2 1 0-16,-5 2 0 16,-5 1-5-16,-11 0 1 15,-4-3 3-15,0-2 0 16,-11-3-8-16,-6-4 9 0,0-5-5 16,1-2-4-1,4-7-6-15,3 0 6 16,6-5-17-16,3-9-46 0,0-6-8 15,12 1 6-15,11 0 9 16,2 4 31-16,3-2 24 16,-1 5 10-16,-2 0 3 15,-3 1 16-15,0 0 16 16,-3 2 1-16,3-3 1 16,-4-3 11-16,0 0-6 15,-1-2-21-15,0-2 3 16,-3-1 5-16,-1-2-23 15,-5 1 2-15,-5 0-3 16,-3 4-3-16,0 1-2 0,0 7 0 16,0 3-2-1,-5 3-4-15,-2 3 3 0,-2 3-3 16,-5 14-1-16,5 6 7 16,2 4 1-16,1 2 4 15,6 2 9 1,0-1-7-16,0-2 2 0,12-3 7 15,0-9-16-15,4-3 12 16,-1-6-12-16,1-7-9 16,0 0-21-16,-2-11-66 15,-2-12-155-15</inkml:trace>
  <inkml:trace contextRef="#ctx0" brushRef="#br0" timeOffset="16734.9689">14959 9131 771 0,'0'0'43'0,"0"0"-43"16,0 0-5-16,0 0-13 16,80 0-107-16,-54 0-240 15</inkml:trace>
  <inkml:trace contextRef="#ctx0" brushRef="#br0" timeOffset="18158.4725">15169 9293 671 0,'0'0'258'0,"0"0"-179"16,0 0-17-16,0 0 16 15,0 0-30-15,0 0-7 16,11 0-36-16,7-7 3 15,3-3-7-15,-3 0-1 16,-2 1-10-16,-2-4 9 16,-3 1-4-16,1-2-18 15,2-3 13-15,-4 4 2 16,2-1 2-16,2 2 3 16,-2 4-10-16,-1 2 11 0,0 3-8 15,-3 1 10-15,-1 2 0 16,0 0-3-16,-4 0 1 15,-1 9 2-15,1 8 3 16,-2 2 0-16,-1 3-3 16,0 0 14-16,0 3-2 15,2-6-2-15,1-1 7 16,6-2-10-16,3-7 9 16,1-1-14-16,4-8 3 15,6 0-5-15,3-1 12 16,2-15-5-16,2-4-7 15,-3-6 0-15,-5 3 0 16,-3 0 2-16,-5 1-2 0,-6 3 0 16,-5 6 14-16,-3 1-10 15,0 4 7-15,0 2-3 16,0 3 9 0,-5 3-11-16,-3 0-1 0,1 0-5 15,-3 8-3-15,5 6-2 16,0 5 5-16,3-1 1 15,2 6-1-15,0-5 2 16,0-1-2-16,2 0 0 16,13-6 0-16,2-3 0 15,5-6 1-15,3-3 3 16,4 0-4-16,2-11 3 0,-1-6-2 16,0-3-1-16,-8-2-4 15,-2 2-1-15,-3 1 5 16,-7 3 3-16,-3 1 1 15,-4 7 5-15,-1 2 6 16,-2 1-8-16,0 4 24 16,0-1-11-16,0 2-1 15,0 0-14-15,0 0-1 16,0 0-4-16,0 0 0 16,0 10-1-16,0 5 1 15,-2-1 3-15,2 3-3 16,0 0-8-16,0-1 7 15,6 0 0-15,7-2 1 16,3-4-1-16,3 0 1 16,0-3-1-16,-1-5 0 0,1 0-17 15,-3-2-4-15,-2 0 0 16,-2-3 15-16,0-10-11 16,-3-1 15-16,-1-1-4 15,-1 0 7-15,0 3-4 16,1 0 0-16,-2 0 0 15,3 2 0-15,1 0-2 16,1 1-10-16,-1 3 2 16,3 0-13-16,-1 2 0 15,2 3-12-15,-4 1-4 16,-2 0-5-16,-1 0-13 0,-5 0 14 16,-2 0 16-1,0 4 31-15,-12 6 0 0,-6 1 13 16,-1 3 30-16,-4 2-3 15,5 1 8-15,2 0-12 16,5 0-7-16,5-2-13 16,4-1-6-16,2-2-8 15,0 1 8-15,8-3-8 16,10-4 7-16,3-1-9 16,3-5-4-16,4 0 1 15,2 0 2-15,1-10-13 16,1-7 12-16,-1-2 0 15,1-4 0-15,3 0 2 16,0-2 2-16,-2-1 1 0,-4-1 1 16,-3-1-2-16,-7 1 9 15,-5 0-7-15,-1 4 11 16,-6 3-11-16,-2 6 5 16,-4 6 0-16,-1 3 4 15,0 1-9-15,0 4-1 16,0 0-3-16,0 0-4 15,-7 8-7-15,-3 7 9 16,1 3-2-16,5 3 4 16,3-1 1-16,1 1 1 15,0-1 11-15,0-1 8 16,5-2-8-16,9-5 4 0,1-2-10 16,3-1 3-1,0-7-7-15,1-2-3 0,2 0-6 16,-4-2-34-16,-1-14-64 15,-10-4-143-15,-4-3-363 16</inkml:trace>
  <inkml:trace contextRef="#ctx0" brushRef="#br0" timeOffset="18290.5007">16491 9078 219 0,'0'0'353'0,"0"0"-353"16,0 0-46-16,0 0-201 16</inkml:trace>
  <inkml:trace contextRef="#ctx0" brushRef="#br0" timeOffset="19194.1616">16633 9230 512 0,'0'0'342'0,"0"0"-260"16,0 0 8-16,0 0 64 15,0 0-45-15,0 0-52 0,46-15-23 16,-21-1-12 0,-1 1-8-16,-1-3-5 0,-2 0-2 15,-2 1-6 1,-4 3 0-16,-2 1 1 15,-6 3-1-15,-2 3 2 0,-5 2-3 16,0 5 1-16,0 0-3 16,0 0-4-16,-3 0 4 15,-8 12 2-15,0 3 0 16,3 0 4-16,2 1-4 16,1 4 0-16,3-4-4 15,2 1 4-15,0-2 0 16,0 0 2-16,13-3-9 15,4-4 13-15,4-7-6 16,4-1 2-16,2 0-2 0,2-9-4 16,-2-6 0-1,-5-4 4-15,-1 2 0 0,-7 1-8 16,-5 0 2-16,-3 4 6 16,-5 3 1-16,-1 4 1 15,0 0-2-15,0 3 5 16,0 2-4-16,0 0-2 15,0 0 1-15,-2 0-2 16,-3 10 0-16,2 1-1 16,2 4 3-16,1-2-1 15,0-2-2-15,0-1 2 16,4-1-2-16,8-3 2 0,3-2-4 16,0-2-14-1,6-2-7-15,0 0 0 0,0-7-3 16,1-6-4-16,-1 2-4 15,-2 1 5-15,-1 3 12 16,-6 2 8-16,-3 2 7 16,-3 1 3-16,-3 1 4 15,3-1-1-15,2 1-1 16,1 1-1-16,1 0 1 16,-1 0 0-16,4 0 2 15,-2 3-2-15,-2 3 0 16,1 5-2-16,-2-2 2 15,-1 2 6-15,3-1 2 16,-1-2-7-16,3-3 0 16,2-3 1-16,-1-2 3 0,2 0-4 15,0-3-1-15,3-6-6 16,-2-2-2-16,1 5-11 16,-3 4 13-16,1 2 6 15,-1 0 0-15,1 8 12 16,-3 9 22-16,3 0 16 15,-2 2-7-15,3-1-14 16,-1-5-19-16,3-4-10 16,2-6-7-16,4-3-81 15,-4-7-243-15</inkml:trace>
  <inkml:trace contextRef="#ctx0" brushRef="#br0" timeOffset="44693.5163">792 10115 402 0,'0'0'157'15,"0"0"-91"-15,0 0-21 16,0 0 18-16,0 0-44 16,0 0 32-16,0 0 9 15,0 0-7-15,-19-29-16 0,19 29-22 16,0 0-4-16,-3 0-9 16,0 0 0-16,-3 4-2 15,-6 12 11-15,0 1-4 16,-3 6-5-16,2 5 1 15,-3 3 1-15,2 5 3 16,-2 8 3-16,-1 2 3 16,1 12-3-16,2 2 6 15,4 2-13-15,1-1 4 16,9-4-7-16,0 1 3 16,5 2-3-16,15 3 0 15,7 0 2-15,6 2-3 16,7-2 2-16,9 3-2 15,8 3 5-15,9 6-5 0,4 3 1 16,9 2-48-16,15 4-17 16,12-7-15-16,12-9-183 15,1-20-226 1</inkml:trace>
  <inkml:trace contextRef="#ctx0" brushRef="#br0" timeOffset="46035.039">21424 10127 541 0,'0'0'3'15,"0"0"5"-15,0 0-6 16,0 0 2-16,0 0 20 0,0 0 40 15,-11-67 0 1,11 63-26-16,5 2 5 0,7 2-42 16,7 0-1-16,6 0 0 15,4 0 0-15,4 14 0 16,3 5 2-16,4 6 5 16,3 5 3-16,3 4 0 15,2 8-1-15,-3 8-3 16,-1 4 1-16,-6 4-4 15,-5 2 5-15,-3 3-2 16,-8 6 2-16,-3 6 1 16,-10 2 4-16,-6 1-10 15,-3-2 13-15,0-1 1 0,-9-3-6 16,-6-4-5 0,0-5 1-16,1-5 0 15,1-3-7-15,3-2 3 0,3 1-2 16,-1 1-1-16,-4 3-10 15,-9-1-106-15,-13-5-193 16</inkml:trace>
  <inkml:trace contextRef="#ctx0" brushRef="#br0" timeOffset="54288.3059">22569 12731 5 0,'0'0'25'0,"0"0"-19"15,0 0-4-15,0 0-2 16,0 0-3-16,-19-77-14 16</inkml:trace>
  <inkml:trace contextRef="#ctx0" brushRef="#br0" timeOffset="54893.2484">22529 12498 80 0,'0'0'15'0,"0"0"14"16,0 0-2-16,0 0-5 15,-46-76-2-15,37 63-7 16,3-1 23-16,-1-1 5 16,1 3-28-16,1-1 37 15,1 0-9-15,-4 1-7 16,5 1 7-16,-4 0-16 16,4 3-4-16,0 4-5 0,1-1 6 15,0 0 2 1,1 1 12-16,1 2-8 0,0 1-9 15,0 1-13-15,0 0-6 16,0 0-8-16,1 4 2 16,16 6 6-1,3 2 0-15,8-1 4 0,6 0-4 16,8-1 14-16,4 0-6 16,5 1 2-16,-3 3-2 15,-3 5-3-15,-5 1 4 16,-6 5-8-16,-4 6-1 15,-3 7 8-15,-7 8-3 16,-3 6 1-16,-4 4-3 0,-7 1 16 16,-2 4 9-16,1 1 0 15,1 2-18-15,-1-1 4 16,2-3-3-16,-1-2 7 16,2-7-9-16,0 1 6 15,-3 0-10-15,-5 3 11 16,0 3 2-16,0 3-4 15,-9 1-5-15,-7 5-3 16,-4 3-4-16,-1 2 0 16,-3-1-2-16,-1-4 0 15,-1-9 0-15,2-5 7 16,2-6-6-16,2-6 0 0,2-6-1 16,2-4-7-1,1-5-48-15,0 0-44 0,-3-11-125 16,-4-10-215-16</inkml:trace>
  <inkml:trace contextRef="#ctx0" brushRef="#br0" timeOffset="56457.4721">928 12426 20 0,'0'0'98'16,"0"0"-65"-16,0 0-4 15,0 0 20-15,0 0 21 16,31-75 10-16,-29 68-1 15,-2 0-39-15,0 2 35 16,0 0-27-16,0 0-13 0,0 5-7 16,0 0 24-16,0 0-28 15,0 0-24-15,0 0-11 16,-3 7 4-16,-5 11 4 16,-3 4 5-16,-4 6-4 15,-3 3 4-15,-4 3-2 16,-1 5 5-16,-1 3-5 15,0 5 1-15,-1 3 1 16,7 6 1-16,-1 1-3 16,2 4 0-16,2-1 2 15,8 3 0-15,4 3-2 16,3 6 1-16,0 3-1 16,18 0 7-16,6-3-3 15,4 0-3-15,5-3 3 0,4-4-2 16,3-3 0-1,5-1 0-15,3 0-1 0,4-1 2 16,3-2 2-16,8 3 0 16,10-6-5-16,2-1-1 15,5 1-34-15,8 5-85 16,-2-4-49-16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9-13T12:34:23.72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A1D73825-EFC8-4CF7-943E-E63919A58655}" emma:medium="tactile" emma:mode="ink">
          <msink:context xmlns:msink="http://schemas.microsoft.com/ink/2010/main" type="inkDrawing" rotatedBoundingBox="18264,14057 18294,14030 18298,14034 18268,14061" shapeName="Other"/>
        </emma:interpretation>
      </emma:emma>
    </inkml:annotationXML>
    <inkml:trace contextRef="#ctx0" brushRef="#br0">7298 2116 63 0,'0'0'54'0,"0"0"-26"15,0 0-28-15,0 0 6 16,0 0-4-16,0 0 1 15,0 0 13-15,16-15-16 16,-11 10-2-16,-4 0-4 16,4 4-9-16,-1 1-10 15,-4 0-8-15,0 0-26 16</inkml:trace>
  </inkml:traceGroup>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9-13T12:35:41.26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C0AD1BA4-6DF8-4B76-9C00-EE713F4FCCAF}" emma:medium="tactile" emma:mode="ink">
          <msink:context xmlns:msink="http://schemas.microsoft.com/ink/2010/main" type="writingRegion" rotatedBoundingBox="1314,4419 1357,4419 1357,4472 1314,4472"/>
        </emma:interpretation>
      </emma:emma>
    </inkml:annotationXML>
    <inkml:traceGroup>
      <inkml:annotationXML>
        <emma:emma xmlns:emma="http://www.w3.org/2003/04/emma" version="1.0">
          <emma:interpretation id="{F70F7B8A-4C86-461E-9536-19137D9B07F5}" emma:medium="tactile" emma:mode="ink">
            <msink:context xmlns:msink="http://schemas.microsoft.com/ink/2010/main" type="paragraph" rotatedBoundingBox="1314,4419 1357,4419 1357,4472 1314,4472" alignmentLevel="1"/>
          </emma:interpretation>
        </emma:emma>
      </inkml:annotationXML>
      <inkml:traceGroup>
        <inkml:annotationXML>
          <emma:emma xmlns:emma="http://www.w3.org/2003/04/emma" version="1.0">
            <emma:interpretation id="{6E1DC007-EFD0-45A0-9F87-C28EED6F26D5}" emma:medium="tactile" emma:mode="ink">
              <msink:context xmlns:msink="http://schemas.microsoft.com/ink/2010/main" type="line" rotatedBoundingBox="1314,4419 1357,4419 1357,4472 1314,4472"/>
            </emma:interpretation>
          </emma:emma>
        </inkml:annotationXML>
        <inkml:traceGroup>
          <inkml:annotationXML>
            <emma:emma xmlns:emma="http://www.w3.org/2003/04/emma" version="1.0">
              <emma:interpretation id="{BAEDD1AA-DD54-4542-B2B6-9857F392CFCC}" emma:medium="tactile" emma:mode="ink">
                <msink:context xmlns:msink="http://schemas.microsoft.com/ink/2010/main" type="inkWord" rotatedBoundingBox="1314,4419 1357,4419 1357,4472 1314,4472"/>
              </emma:interpretation>
              <emma:one-of disjunction-type="recognition" id="oneOf0">
                <emma:interpretation id="interp0" emma:lang="" emma:confidence="1">
                  <emma:literal/>
                </emma:interpretation>
              </emma:one-of>
            </emma:emma>
          </inkml:annotationXML>
          <inkml:trace contextRef="#ctx0" brushRef="#br0">1154 342 205 0,'0'0'0'16,"0"0"-23"-16,0 0 17 15,0 0-16-15,0 0-46 16,0 0 36-16,0 0-22 16,0 0 54-16,20-53 0 0,-20 53 0 15</inkml:trace>
          <inkml:trace contextRef="#ctx0" brushRef="#br0" timeOffset="145.9126">1154 342 10 0,'28'-53'47'16,"-28"53"18"-16,0 0 48 16,0 0-59-16,0 0-25 15,0 0 11-15,0 0-24 16,0 0-13-16,0 0-3 16,0 0-11-16,0 0-3 15,0 0-27-15,0 0-63 16,5 0 54-16,5 0-69 15</inkml:trace>
        </inkml:traceGroup>
      </inkml:traceGroup>
    </inkml:traceGroup>
  </inkml:traceGroup>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9-13T12:40:01.730"/>
    </inkml:context>
    <inkml:brush xml:id="br0">
      <inkml:brushProperty name="width" value="0.06667" units="cm"/>
      <inkml:brushProperty name="height" value="0.06667" units="cm"/>
      <inkml:brushProperty name="fitToCurve" value="1"/>
    </inkml:brush>
  </inkml:definitions>
  <inkml:trace contextRef="#ctx0" brushRef="#br0">0 0 270 0,'0'0'134'16,"0"0"-12"-16,0 0-79 16,0 0-35-16,0 0-8 15,0 0-5-15,47 0-39 0,-22 0-191 16</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9-13T12:42:26.238"/>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9B456D30-DC51-4D63-90BF-6BE0A05A92AB}" emma:medium="tactile" emma:mode="ink">
          <msink:context xmlns:msink="http://schemas.microsoft.com/ink/2010/main" type="inkDrawing" rotatedBoundingBox="-4878,10039 -4838,10039 -4838,10054 -4878,10054" shapeName="Other"/>
        </emma:interpretation>
      </emma:emma>
    </inkml:annotationXML>
    <inkml:trace contextRef="#ctx0" brushRef="#br0">0 0 0,'40'0'31</inkml:trace>
  </inkml:traceGroup>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smtClean="0"/>
              <a:t>Graphs - Algorithms and Mining</a:t>
            </a: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C4B1A4-6412-4BCE-9D46-4C4F45D10730}" type="datetime1">
              <a:rPr lang="en-IN" smtClean="0"/>
              <a:t>27-11-2021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IN" smtClean="0"/>
              <a:t>Agarwal Charu C. and Wang Haixun, “Managing and Mining Graph Data” </a:t>
            </a: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525816-F6EC-475B-A61D-CE75656011F2}" type="slidenum">
              <a:rPr lang="en-IN" smtClean="0"/>
              <a:pPr/>
              <a:t>‹#›</a:t>
            </a:fld>
            <a:endParaRPr lang="en-IN"/>
          </a:p>
        </p:txBody>
      </p:sp>
    </p:spTree>
    <p:extLst>
      <p:ext uri="{BB962C8B-B14F-4D97-AF65-F5344CB8AC3E}">
        <p14:creationId xmlns:p14="http://schemas.microsoft.com/office/powerpoint/2010/main" val="1414775448"/>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1</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74E4A797-ED5B-4267-9B6F-0498D7026212}" type="datetime1">
              <a:rPr lang="en-IN" smtClean="0"/>
              <a:t>27-11-2021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722574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2</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AD284392-47C4-4658-87E2-31960EB868E9}" type="datetime1">
              <a:rPr lang="en-IN" smtClean="0"/>
              <a:t>27-11-2021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449151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10"/>
          </p:nvPr>
        </p:nvSpPr>
        <p:spPr/>
        <p:txBody>
          <a:bodyPr/>
          <a:lstStyle/>
          <a:p>
            <a:r>
              <a:rPr lang="en-IN" smtClean="0"/>
              <a:t>Agarwal Charu C. and Wang Haixun, “Managing and Mining Graph Data” </a:t>
            </a:r>
            <a:endParaRPr lang="en-IN"/>
          </a:p>
        </p:txBody>
      </p:sp>
      <p:sp>
        <p:nvSpPr>
          <p:cNvPr id="5" name="Slide Number Placeholder 4"/>
          <p:cNvSpPr>
            <a:spLocks noGrp="1"/>
          </p:cNvSpPr>
          <p:nvPr>
            <p:ph type="sldNum" sz="quarter" idx="11"/>
          </p:nvPr>
        </p:nvSpPr>
        <p:spPr/>
        <p:txBody>
          <a:bodyPr/>
          <a:lstStyle/>
          <a:p>
            <a:fld id="{21525816-F6EC-475B-A61D-CE75656011F2}" type="slidenum">
              <a:rPr lang="en-IN" smtClean="0"/>
              <a:pPr/>
              <a:t>3</a:t>
            </a:fld>
            <a:endParaRPr lang="en-IN"/>
          </a:p>
        </p:txBody>
      </p:sp>
      <p:sp>
        <p:nvSpPr>
          <p:cNvPr id="6" name="Date Placeholder 5"/>
          <p:cNvSpPr>
            <a:spLocks noGrp="1"/>
          </p:cNvSpPr>
          <p:nvPr>
            <p:ph type="dt" idx="12"/>
          </p:nvPr>
        </p:nvSpPr>
        <p:spPr/>
        <p:txBody>
          <a:bodyPr/>
          <a:lstStyle/>
          <a:p>
            <a:fld id="{02C52A34-EE6D-4D66-8C42-E408C711C5A4}" type="datetime1">
              <a:rPr lang="en-IN" smtClean="0"/>
              <a:t>27-11-2021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2267309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idx="10"/>
          </p:nvPr>
        </p:nvSpPr>
        <p:spPr/>
        <p:txBody>
          <a:bodyPr/>
          <a:lstStyle/>
          <a:p>
            <a:r>
              <a:rPr lang="en-IN" smtClean="0"/>
              <a:t>Graphs - Algorithms and Mining</a:t>
            </a:r>
            <a:endParaRPr lang="en-IN"/>
          </a:p>
        </p:txBody>
      </p:sp>
      <p:sp>
        <p:nvSpPr>
          <p:cNvPr id="5" name="Date Placeholder 4"/>
          <p:cNvSpPr>
            <a:spLocks noGrp="1"/>
          </p:cNvSpPr>
          <p:nvPr>
            <p:ph type="dt" idx="11"/>
          </p:nvPr>
        </p:nvSpPr>
        <p:spPr/>
        <p:txBody>
          <a:bodyPr/>
          <a:lstStyle/>
          <a:p>
            <a:fld id="{11C4B1A4-6412-4BCE-9D46-4C4F45D10730}" type="datetime1">
              <a:rPr lang="en-IN" smtClean="0"/>
              <a:t>27-11-2021</a:t>
            </a:fld>
            <a:endParaRPr lang="en-IN"/>
          </a:p>
        </p:txBody>
      </p:sp>
      <p:sp>
        <p:nvSpPr>
          <p:cNvPr id="6" name="Footer Placeholder 5"/>
          <p:cNvSpPr>
            <a:spLocks noGrp="1"/>
          </p:cNvSpPr>
          <p:nvPr>
            <p:ph type="ftr" sz="quarter" idx="12"/>
          </p:nvPr>
        </p:nvSpPr>
        <p:spPr/>
        <p:txBody>
          <a:bodyPr/>
          <a:lstStyle/>
          <a:p>
            <a:r>
              <a:rPr lang="en-IN" smtClean="0"/>
              <a:t>Agarwal Charu C. and Wang Haixun, “Managing and Mining Graph Data” </a:t>
            </a:r>
            <a:endParaRPr lang="en-IN"/>
          </a:p>
        </p:txBody>
      </p:sp>
      <p:sp>
        <p:nvSpPr>
          <p:cNvPr id="7" name="Slide Number Placeholder 6"/>
          <p:cNvSpPr>
            <a:spLocks noGrp="1"/>
          </p:cNvSpPr>
          <p:nvPr>
            <p:ph type="sldNum" sz="quarter" idx="13"/>
          </p:nvPr>
        </p:nvSpPr>
        <p:spPr/>
        <p:txBody>
          <a:bodyPr/>
          <a:lstStyle/>
          <a:p>
            <a:fld id="{21525816-F6EC-475B-A61D-CE75656011F2}" type="slidenum">
              <a:rPr lang="en-IN" smtClean="0"/>
              <a:pPr/>
              <a:t>4</a:t>
            </a:fld>
            <a:endParaRPr lang="en-IN"/>
          </a:p>
        </p:txBody>
      </p:sp>
    </p:spTree>
    <p:extLst>
      <p:ext uri="{BB962C8B-B14F-4D97-AF65-F5344CB8AC3E}">
        <p14:creationId xmlns:p14="http://schemas.microsoft.com/office/powerpoint/2010/main" val="2285433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p:spPr>
      </p:sp>
      <p:sp>
        <p:nvSpPr>
          <p:cNvPr id="225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smtClean="0"/>
          </a:p>
        </p:txBody>
      </p:sp>
      <p:sp>
        <p:nvSpPr>
          <p:cNvPr id="22532" name="Slide Number Placeholder 3"/>
          <p:cNvSpPr>
            <a:spLocks noGrp="1"/>
          </p:cNvSpPr>
          <p:nvPr>
            <p:ph type="sldNum" sz="quarter" idx="5"/>
          </p:nvPr>
        </p:nvSpPr>
        <p:spPr bwMode="auto">
          <a:noFill/>
          <a:ln>
            <a:miter lim="800000"/>
            <a:headEnd/>
            <a:tailEnd/>
          </a:ln>
        </p:spPr>
        <p:txBody>
          <a:bodyPr/>
          <a:lstStyle/>
          <a:p>
            <a:fld id="{FF392A8F-9E0D-46DA-BAD2-E88BA0A548D7}" type="slidenum">
              <a:rPr lang="en-IN"/>
              <a:pPr/>
              <a:t>6</a:t>
            </a:fld>
            <a:endParaRPr lang="en-IN"/>
          </a:p>
        </p:txBody>
      </p:sp>
      <p:sp>
        <p:nvSpPr>
          <p:cNvPr id="2" name="Footer Placeholder 1"/>
          <p:cNvSpPr>
            <a:spLocks noGrp="1"/>
          </p:cNvSpPr>
          <p:nvPr>
            <p:ph type="ftr" sz="quarter" idx="10"/>
          </p:nvPr>
        </p:nvSpPr>
        <p:spPr/>
        <p:txBody>
          <a:bodyPr/>
          <a:lstStyle/>
          <a:p>
            <a:r>
              <a:rPr lang="en-IN" smtClean="0"/>
              <a:t>Agarwal Charu C. and Wang Haixun, “Managing and Mining Graph Data” </a:t>
            </a:r>
            <a:endParaRPr lang="en-IN"/>
          </a:p>
        </p:txBody>
      </p:sp>
      <p:sp>
        <p:nvSpPr>
          <p:cNvPr id="3" name="Date Placeholder 2"/>
          <p:cNvSpPr>
            <a:spLocks noGrp="1"/>
          </p:cNvSpPr>
          <p:nvPr>
            <p:ph type="dt" idx="11"/>
          </p:nvPr>
        </p:nvSpPr>
        <p:spPr/>
        <p:txBody>
          <a:bodyPr/>
          <a:lstStyle/>
          <a:p>
            <a:fld id="{9683DE23-D51D-41D3-9115-EF93FAD4001A}" type="datetime1">
              <a:rPr lang="en-IN" smtClean="0"/>
              <a:t>27-11-2021</a:t>
            </a:fld>
            <a:endParaRPr lang="en-IN"/>
          </a:p>
        </p:txBody>
      </p:sp>
      <p:sp>
        <p:nvSpPr>
          <p:cNvPr id="4" name="Header Placeholder 3"/>
          <p:cNvSpPr>
            <a:spLocks noGrp="1"/>
          </p:cNvSpPr>
          <p:nvPr>
            <p:ph type="hdr" sz="quarter" idx="12"/>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470049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p:spPr>
      </p:sp>
      <p:sp>
        <p:nvSpPr>
          <p:cNvPr id="225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smtClean="0"/>
          </a:p>
        </p:txBody>
      </p:sp>
      <p:sp>
        <p:nvSpPr>
          <p:cNvPr id="22532" name="Slide Number Placeholder 3"/>
          <p:cNvSpPr>
            <a:spLocks noGrp="1"/>
          </p:cNvSpPr>
          <p:nvPr>
            <p:ph type="sldNum" sz="quarter" idx="5"/>
          </p:nvPr>
        </p:nvSpPr>
        <p:spPr bwMode="auto">
          <a:noFill/>
          <a:ln>
            <a:miter lim="800000"/>
            <a:headEnd/>
            <a:tailEnd/>
          </a:ln>
        </p:spPr>
        <p:txBody>
          <a:bodyPr/>
          <a:lstStyle/>
          <a:p>
            <a:fld id="{FF392A8F-9E0D-46DA-BAD2-E88BA0A548D7}" type="slidenum">
              <a:rPr lang="en-IN"/>
              <a:pPr/>
              <a:t>7</a:t>
            </a:fld>
            <a:endParaRPr lang="en-IN"/>
          </a:p>
        </p:txBody>
      </p:sp>
      <p:sp>
        <p:nvSpPr>
          <p:cNvPr id="2" name="Footer Placeholder 1"/>
          <p:cNvSpPr>
            <a:spLocks noGrp="1"/>
          </p:cNvSpPr>
          <p:nvPr>
            <p:ph type="ftr" sz="quarter" idx="10"/>
          </p:nvPr>
        </p:nvSpPr>
        <p:spPr/>
        <p:txBody>
          <a:bodyPr/>
          <a:lstStyle/>
          <a:p>
            <a:r>
              <a:rPr lang="en-IN" smtClean="0"/>
              <a:t>Agarwal Charu C. and Wang Haixun, “Managing and Mining Graph Data” </a:t>
            </a:r>
            <a:endParaRPr lang="en-IN"/>
          </a:p>
        </p:txBody>
      </p:sp>
      <p:sp>
        <p:nvSpPr>
          <p:cNvPr id="3" name="Date Placeholder 2"/>
          <p:cNvSpPr>
            <a:spLocks noGrp="1"/>
          </p:cNvSpPr>
          <p:nvPr>
            <p:ph type="dt" idx="11"/>
          </p:nvPr>
        </p:nvSpPr>
        <p:spPr/>
        <p:txBody>
          <a:bodyPr/>
          <a:lstStyle/>
          <a:p>
            <a:fld id="{9683DE23-D51D-41D3-9115-EF93FAD4001A}" type="datetime1">
              <a:rPr lang="en-IN" smtClean="0"/>
              <a:t>27-11-2021</a:t>
            </a:fld>
            <a:endParaRPr lang="en-IN"/>
          </a:p>
        </p:txBody>
      </p:sp>
      <p:sp>
        <p:nvSpPr>
          <p:cNvPr id="4" name="Header Placeholder 3"/>
          <p:cNvSpPr>
            <a:spLocks noGrp="1"/>
          </p:cNvSpPr>
          <p:nvPr>
            <p:ph type="hdr" sz="quarter" idx="12"/>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680941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11</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231F3278-6D7D-493C-A5B6-51D5847E4370}" type="datetime1">
              <a:rPr lang="en-IN" smtClean="0"/>
              <a:t>27-11-2021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923739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12</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231F3278-6D7D-493C-A5B6-51D5847E4370}" type="datetime1">
              <a:rPr lang="en-IN" smtClean="0"/>
              <a:t>27-11-2021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438275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27</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3467DBA0-BF5D-4899-B397-E23DDE95F3F2}" type="datetime1">
              <a:rPr lang="en-IN" smtClean="0"/>
              <a:t>27-11-2021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549422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35</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53F34C33-78A3-4EFF-BD4D-D72171A45FBC}" type="datetime1">
              <a:rPr lang="en-IN" smtClean="0"/>
              <a:t>27-11-2021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1162701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The problem is efficiently solvable, and can be resolved by repeated applications of the maximum flow problem. This is because the maximum flow between source s and sink t determines the minimum s-t cut. By using different source and sink combinations, it is also possible to find the global minimum cut. </a:t>
            </a:r>
            <a:endParaRPr lang="en-IN" dirty="0"/>
          </a:p>
        </p:txBody>
      </p:sp>
      <p:sp>
        <p:nvSpPr>
          <p:cNvPr id="4" name="Header Placeholder 3"/>
          <p:cNvSpPr>
            <a:spLocks noGrp="1"/>
          </p:cNvSpPr>
          <p:nvPr>
            <p:ph type="hdr" sz="quarter" idx="10"/>
          </p:nvPr>
        </p:nvSpPr>
        <p:spPr/>
        <p:txBody>
          <a:bodyPr/>
          <a:lstStyle/>
          <a:p>
            <a:r>
              <a:rPr lang="en-IN" smtClean="0"/>
              <a:t>Graphs - Algorithms and Mining</a:t>
            </a:r>
            <a:endParaRPr lang="en-IN"/>
          </a:p>
        </p:txBody>
      </p:sp>
      <p:sp>
        <p:nvSpPr>
          <p:cNvPr id="5" name="Date Placeholder 4"/>
          <p:cNvSpPr>
            <a:spLocks noGrp="1"/>
          </p:cNvSpPr>
          <p:nvPr>
            <p:ph type="dt" idx="11"/>
          </p:nvPr>
        </p:nvSpPr>
        <p:spPr/>
        <p:txBody>
          <a:bodyPr/>
          <a:lstStyle/>
          <a:p>
            <a:fld id="{11C4B1A4-6412-4BCE-9D46-4C4F45D10730}" type="datetime1">
              <a:rPr lang="en-IN" smtClean="0"/>
              <a:t>27-11-2021</a:t>
            </a:fld>
            <a:endParaRPr lang="en-IN"/>
          </a:p>
        </p:txBody>
      </p:sp>
      <p:sp>
        <p:nvSpPr>
          <p:cNvPr id="6" name="Footer Placeholder 5"/>
          <p:cNvSpPr>
            <a:spLocks noGrp="1"/>
          </p:cNvSpPr>
          <p:nvPr>
            <p:ph type="ftr" sz="quarter" idx="12"/>
          </p:nvPr>
        </p:nvSpPr>
        <p:spPr/>
        <p:txBody>
          <a:bodyPr/>
          <a:lstStyle/>
          <a:p>
            <a:r>
              <a:rPr lang="en-IN" smtClean="0"/>
              <a:t>Agarwal Charu C. and Wang Haixun, “Managing and Mining Graph Data” </a:t>
            </a:r>
            <a:endParaRPr lang="en-IN"/>
          </a:p>
        </p:txBody>
      </p:sp>
      <p:sp>
        <p:nvSpPr>
          <p:cNvPr id="7" name="Slide Number Placeholder 6"/>
          <p:cNvSpPr>
            <a:spLocks noGrp="1"/>
          </p:cNvSpPr>
          <p:nvPr>
            <p:ph type="sldNum" sz="quarter" idx="13"/>
          </p:nvPr>
        </p:nvSpPr>
        <p:spPr/>
        <p:txBody>
          <a:bodyPr/>
          <a:lstStyle/>
          <a:p>
            <a:fld id="{21525816-F6EC-475B-A61D-CE75656011F2}" type="slidenum">
              <a:rPr lang="en-IN" smtClean="0"/>
              <a:pPr/>
              <a:t>67</a:t>
            </a:fld>
            <a:endParaRPr lang="en-IN"/>
          </a:p>
        </p:txBody>
      </p:sp>
    </p:spTree>
    <p:extLst>
      <p:ext uri="{BB962C8B-B14F-4D97-AF65-F5344CB8AC3E}">
        <p14:creationId xmlns:p14="http://schemas.microsoft.com/office/powerpoint/2010/main" val="2936706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p:cNvSpPr txBox="1">
            <a:spLocks noChangeArrowheads="1"/>
          </p:cNvSpPr>
          <p:nvPr/>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smtClean="0"/>
              <a:t>Click to edit Master text styles</a:t>
            </a:r>
          </a:p>
          <a:p>
            <a:pPr lvl="1"/>
            <a:r>
              <a:rPr lang="en-US" smtClean="0"/>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smtClean="0"/>
              <a:t>Click to edit Master title style</a:t>
            </a:r>
            <a:endParaRPr lang="en-US" dirty="0"/>
          </a:p>
        </p:txBody>
      </p:sp>
      <p:sp>
        <p:nvSpPr>
          <p:cNvPr id="12" name="Rectangle 11"/>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13" name="Rectangle 12"/>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6" name="Picture 10" descr="BITS_university_logo_whitevert.png"/>
          <p:cNvPicPr>
            <a:picLocks noChangeAspect="1"/>
          </p:cNvPicPr>
          <p:nvPr userDrawn="1"/>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8" name="TextBox 17"/>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extBox 8"/>
          <p:cNvSpPr txBox="1"/>
          <p:nvPr/>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p:cNvSpPr txBox="1">
            <a:spLocks noChangeArrowheads="1"/>
          </p:cNvSpPr>
          <p:nvPr/>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smtClean="0"/>
              <a:t>Click to edit Master text styles</a:t>
            </a:r>
          </a:p>
          <a:p>
            <a:pPr lvl="1"/>
            <a:r>
              <a:rPr lang="en-US" smtClean="0"/>
              <a:t>Second level</a:t>
            </a:r>
          </a:p>
        </p:txBody>
      </p:sp>
      <p:pic>
        <p:nvPicPr>
          <p:cNvPr id="11" name="Picture 6"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12" name="Rectangle 11"/>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 name="Picture 8" descr="Picture 7.png"/>
          <p:cNvPicPr>
            <a:picLocks noChangeAspect="1"/>
          </p:cNvPicPr>
          <p:nvPr userDrawn="1"/>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14" name="Rectangle 13"/>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TextBox 17"/>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9" name="TextBox 18"/>
          <p:cNvSpPr txBox="1">
            <a:spLocks noChangeArrowheads="1"/>
          </p:cNvSpPr>
          <p:nvPr userDrawn="1"/>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2"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14"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9"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4"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2"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14"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9"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4"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2"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14"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9"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4"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2"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14"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9"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4"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cstate="print"/>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customXml" Target="../ink/ink1.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14.emf"/></Relationships>
</file>

<file path=ppt/slides/_rels/slide3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customXml" Target="../ink/ink3.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customXml" Target="../ink/ink4.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customXml" Target="../ink/ink5.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customXml" Target="../ink/ink6.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customXml" Target="../ink/ink7.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customXml" Target="../ink/ink8.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customXml" Target="../ink/ink9.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customXml" Target="../ink/ink10.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customXml" Target="../ink/ink11.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customXml" Target="../ink/ink12.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customXml" Target="../ink/ink13.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11.xml"/><Relationship Id="rId1" Type="http://schemas.openxmlformats.org/officeDocument/2006/relationships/slideLayout" Target="../slideLayouts/slideLayout17.xml"/><Relationship Id="rId22" Type="http://schemas.openxmlformats.org/officeDocument/2006/relationships/image" Target="../media/image55.e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13" Type="http://schemas.openxmlformats.org/officeDocument/2006/relationships/image" Target="../media/image72.emf"/><Relationship Id="rId2" Type="http://schemas.openxmlformats.org/officeDocument/2006/relationships/customXml" Target="../ink/ink15.xml"/><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2" Type="http://schemas.openxmlformats.org/officeDocument/2006/relationships/customXml" Target="../ink/ink16.xml"/><Relationship Id="rId1" Type="http://schemas.openxmlformats.org/officeDocument/2006/relationships/slideLayout" Target="../slideLayouts/slideLayout17.xml"/><Relationship Id="rId15" Type="http://schemas.openxmlformats.org/officeDocument/2006/relationships/image" Target="../media/image113.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25" Type="http://schemas.openxmlformats.org/officeDocument/2006/relationships/image" Target="../media/image145.emf"/><Relationship Id="rId2" Type="http://schemas.openxmlformats.org/officeDocument/2006/relationships/customXml" Target="../ink/ink17.xml"/><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828800" y="3810000"/>
            <a:ext cx="6781800" cy="1524000"/>
          </a:xfrm>
        </p:spPr>
        <p:txBody>
          <a:bodyPr/>
          <a:lstStyle/>
          <a:p>
            <a:pPr>
              <a:defRPr/>
            </a:pPr>
            <a:r>
              <a:rPr lang="en-US" sz="4000" dirty="0"/>
              <a:t>Graphs - Algorithms and </a:t>
            </a:r>
            <a:r>
              <a:rPr lang="en-US" sz="4000" dirty="0" smtClean="0"/>
              <a:t>Mining </a:t>
            </a:r>
            <a:br>
              <a:rPr lang="en-US" sz="4000" dirty="0" smtClean="0"/>
            </a:br>
            <a:r>
              <a:rPr lang="en-US" sz="4000" dirty="0" smtClean="0"/>
              <a:t>(DSE**  ZG521)</a:t>
            </a:r>
            <a:endParaRPr lang="en-US" sz="4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28600" y="4648200"/>
            <a:ext cx="8763000" cy="1600200"/>
          </a:xfrm>
        </p:spPr>
        <p:txBody>
          <a:bodyPr rtlCol="0"/>
          <a:lstStyle/>
          <a:p>
            <a:pPr algn="ctr"/>
            <a:endParaRPr lang="en-US" sz="8000" dirty="0" smtClean="0"/>
          </a:p>
          <a:p>
            <a:pPr algn="ctr"/>
            <a:r>
              <a:rPr lang="en-US" sz="8000" dirty="0" smtClean="0"/>
              <a:t>Module I</a:t>
            </a:r>
            <a:endParaRPr lang="en-IN" sz="8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idx="1"/>
          </p:nvPr>
        </p:nvSpPr>
        <p:spPr/>
        <p:txBody>
          <a:bodyPr>
            <a:normAutofit/>
          </a:bodyPr>
          <a:lstStyle/>
          <a:p>
            <a:pPr fontAlgn="base">
              <a:spcAft>
                <a:spcPct val="0"/>
              </a:spcAft>
            </a:pPr>
            <a:r>
              <a:rPr lang="en-US" b="1" dirty="0" smtClean="0"/>
              <a:t>COURSE </a:t>
            </a:r>
            <a:r>
              <a:rPr lang="en-US" b="1" cap="all" dirty="0" smtClean="0"/>
              <a:t>Objectives</a:t>
            </a:r>
            <a:r>
              <a:rPr lang="en-US" dirty="0" smtClean="0"/>
              <a:t>:</a:t>
            </a:r>
          </a:p>
          <a:p>
            <a:pPr lvl="1">
              <a:buFont typeface="Wingdings" panose="05000000000000000000" pitchFamily="2" charset="2"/>
              <a:buChar char="v"/>
            </a:pPr>
            <a:r>
              <a:rPr lang="en-US" sz="2400" b="1" dirty="0" smtClean="0"/>
              <a:t>CO</a:t>
            </a:r>
            <a:r>
              <a:rPr lang="en-US" sz="2400" b="1" baseline="-25000" dirty="0" smtClean="0"/>
              <a:t>1</a:t>
            </a:r>
            <a:r>
              <a:rPr lang="en-US" sz="2400" b="1" dirty="0" smtClean="0"/>
              <a:t>: </a:t>
            </a:r>
            <a:r>
              <a:rPr lang="en-US" sz="2400" dirty="0"/>
              <a:t>To introduce handling graph data at large scale</a:t>
            </a:r>
          </a:p>
          <a:p>
            <a:pPr lvl="1">
              <a:buFont typeface="Wingdings" panose="05000000000000000000" pitchFamily="2" charset="2"/>
              <a:buChar char="v"/>
            </a:pPr>
            <a:r>
              <a:rPr lang="en-US" sz="2400" b="1" dirty="0" smtClean="0"/>
              <a:t>CO</a:t>
            </a:r>
            <a:r>
              <a:rPr lang="en-US" sz="2400" b="1" baseline="-25000" dirty="0" smtClean="0"/>
              <a:t>2</a:t>
            </a:r>
            <a:r>
              <a:rPr lang="en-US" sz="2400" b="1" dirty="0" smtClean="0"/>
              <a:t>: </a:t>
            </a:r>
            <a:r>
              <a:rPr lang="en-US" sz="2400" dirty="0"/>
              <a:t>To introduce graph mining algorithms and their applications</a:t>
            </a:r>
          </a:p>
          <a:p>
            <a:pPr lvl="1">
              <a:buFont typeface="Wingdings" panose="05000000000000000000" pitchFamily="2" charset="2"/>
              <a:buChar char="v"/>
            </a:pPr>
            <a:r>
              <a:rPr lang="en-US" sz="2400" b="1" dirty="0" smtClean="0"/>
              <a:t>CO</a:t>
            </a:r>
            <a:r>
              <a:rPr lang="en-US" sz="2400" b="1" baseline="-25000" dirty="0" smtClean="0"/>
              <a:t>3</a:t>
            </a:r>
            <a:r>
              <a:rPr lang="en-US" sz="2400" b="1" dirty="0" smtClean="0"/>
              <a:t>: </a:t>
            </a:r>
            <a:r>
              <a:rPr lang="en-US" sz="2400" dirty="0"/>
              <a:t>To enable students to identify and formulate graph mining problems formally, </a:t>
            </a:r>
            <a:r>
              <a:rPr lang="en-US" sz="2400" dirty="0" smtClean="0"/>
              <a:t>providing </a:t>
            </a:r>
            <a:r>
              <a:rPr lang="en-IN" sz="2400" dirty="0" smtClean="0"/>
              <a:t>solutions</a:t>
            </a:r>
            <a:endParaRPr lang="en-IN" sz="2400" dirty="0"/>
          </a:p>
          <a:p>
            <a:pPr lvl="1">
              <a:buFont typeface="Wingdings" panose="05000000000000000000" pitchFamily="2" charset="2"/>
              <a:buChar char="v"/>
            </a:pPr>
            <a:r>
              <a:rPr lang="en-US" sz="2400" b="1" dirty="0" smtClean="0"/>
              <a:t>CO</a:t>
            </a:r>
            <a:r>
              <a:rPr lang="en-US" sz="2400" b="1" baseline="-25000" dirty="0" smtClean="0"/>
              <a:t>4</a:t>
            </a:r>
            <a:r>
              <a:rPr lang="en-US" sz="2400" b="1" dirty="0" smtClean="0"/>
              <a:t>: </a:t>
            </a:r>
            <a:r>
              <a:rPr lang="en-US" sz="2400" dirty="0"/>
              <a:t>To enable students to evaluate various possible graph mining solutions for a </a:t>
            </a:r>
            <a:r>
              <a:rPr lang="en-US" sz="2400" dirty="0" smtClean="0"/>
              <a:t>given </a:t>
            </a:r>
            <a:r>
              <a:rPr lang="en-IN" sz="2400" dirty="0" smtClean="0"/>
              <a:t>problem</a:t>
            </a:r>
            <a:endParaRPr lang="en-IN" sz="2400" dirty="0"/>
          </a:p>
        </p:txBody>
      </p:sp>
      <p:sp>
        <p:nvSpPr>
          <p:cNvPr id="3" name="Content Placeholder 2"/>
          <p:cNvSpPr>
            <a:spLocks noGrp="1"/>
          </p:cNvSpPr>
          <p:nvPr>
            <p:ph sz="quarter" idx="10"/>
          </p:nvPr>
        </p:nvSpPr>
        <p:spPr/>
        <p:txBody>
          <a:bodyPr/>
          <a:lstStyle/>
          <a:p>
            <a:pPr>
              <a:buFont typeface="Arial" charset="0"/>
              <a:buNone/>
              <a:defRPr/>
            </a:pPr>
            <a:r>
              <a:rPr lang="en-US" dirty="0" smtClean="0"/>
              <a:t>Course Introduction</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a:xfrm>
            <a:off x="304800" y="1600200"/>
            <a:ext cx="8534400" cy="5181600"/>
          </a:xfrm>
        </p:spPr>
        <p:txBody>
          <a:bodyPr>
            <a:noAutofit/>
          </a:bodyPr>
          <a:lstStyle/>
          <a:p>
            <a:pPr fontAlgn="base">
              <a:spcAft>
                <a:spcPct val="0"/>
              </a:spcAft>
            </a:pPr>
            <a:r>
              <a:rPr lang="en-US" b="1" dirty="0" smtClean="0"/>
              <a:t>TEXT BOOKS (T1 &amp; T2)</a:t>
            </a:r>
            <a:r>
              <a:rPr lang="en-US" dirty="0" smtClean="0"/>
              <a:t>: </a:t>
            </a:r>
          </a:p>
          <a:p>
            <a:pPr marL="685800" fontAlgn="base">
              <a:spcAft>
                <a:spcPct val="0"/>
              </a:spcAft>
              <a:buFont typeface="Wingdings" panose="05000000000000000000" pitchFamily="2" charset="2"/>
              <a:buChar char="v"/>
            </a:pPr>
            <a:r>
              <a:rPr lang="en-IN" dirty="0"/>
              <a:t>Social Media Mining - An introduction, Reza </a:t>
            </a:r>
            <a:r>
              <a:rPr lang="en-IN" dirty="0" err="1"/>
              <a:t>Zafarani</a:t>
            </a:r>
            <a:r>
              <a:rPr lang="en-IN" dirty="0"/>
              <a:t>, Mohammad Ali </a:t>
            </a:r>
            <a:r>
              <a:rPr lang="en-IN" dirty="0" err="1"/>
              <a:t>Abbasi</a:t>
            </a:r>
            <a:r>
              <a:rPr lang="en-IN" dirty="0"/>
              <a:t>, </a:t>
            </a:r>
            <a:r>
              <a:rPr lang="en-IN" dirty="0" err="1"/>
              <a:t>Huan</a:t>
            </a:r>
            <a:r>
              <a:rPr lang="en-IN" dirty="0"/>
              <a:t> Liu , Cambridge University Press , 2014 [ http://dmml.asu.edu/smm/SMM.pdf - Open Access]</a:t>
            </a:r>
            <a:endParaRPr lang="en-US" dirty="0" smtClean="0">
              <a:solidFill>
                <a:srgbClr val="0070C0"/>
              </a:solidFill>
            </a:endParaRPr>
          </a:p>
          <a:p>
            <a:pPr marL="685800" fontAlgn="base">
              <a:spcAft>
                <a:spcPct val="0"/>
              </a:spcAft>
              <a:buFont typeface="Wingdings" panose="05000000000000000000" pitchFamily="2" charset="2"/>
              <a:buChar char="v"/>
            </a:pPr>
            <a:r>
              <a:rPr lang="en-US" dirty="0" smtClean="0">
                <a:solidFill>
                  <a:srgbClr val="0070C0"/>
                </a:solidFill>
              </a:rPr>
              <a:t>Not all topics are covered in one text/reference book.</a:t>
            </a:r>
          </a:p>
          <a:p>
            <a:pPr marL="685800" fontAlgn="base">
              <a:spcAft>
                <a:spcPct val="0"/>
              </a:spcAft>
              <a:buFont typeface="Wingdings" panose="05000000000000000000" pitchFamily="2" charset="2"/>
              <a:buChar char="v"/>
            </a:pPr>
            <a:endParaRPr lang="en-US" dirty="0" smtClean="0">
              <a:solidFill>
                <a:srgbClr val="0070C0"/>
              </a:solidFill>
            </a:endParaRPr>
          </a:p>
          <a:p>
            <a:pPr indent="0" fontAlgn="base">
              <a:spcAft>
                <a:spcPct val="0"/>
              </a:spcAft>
            </a:pPr>
            <a:r>
              <a:rPr lang="en-US" dirty="0" smtClean="0">
                <a:solidFill>
                  <a:schemeClr val="accent2"/>
                </a:solidFill>
              </a:rPr>
              <a:t>* Research Papers will be used for most of the topics.</a:t>
            </a:r>
          </a:p>
          <a:p>
            <a:pPr indent="0" fontAlgn="base">
              <a:spcAft>
                <a:spcPct val="0"/>
              </a:spcAft>
            </a:pPr>
            <a:r>
              <a:rPr lang="en-US" dirty="0" smtClean="0">
                <a:solidFill>
                  <a:schemeClr val="accent2"/>
                </a:solidFill>
              </a:rPr>
              <a:t>* Most of the contents are theoretical, but their practical application will be explained.</a:t>
            </a:r>
          </a:p>
          <a:p>
            <a:pPr indent="0" fontAlgn="base">
              <a:spcAft>
                <a:spcPct val="0"/>
              </a:spcAft>
            </a:pPr>
            <a:r>
              <a:rPr lang="en-US" dirty="0" smtClean="0">
                <a:solidFill>
                  <a:schemeClr val="accent2"/>
                </a:solidFill>
              </a:rPr>
              <a:t>* Research Paper will also be provided  to you, for your better understanding</a:t>
            </a:r>
          </a:p>
          <a:p>
            <a:pPr marL="685800" fontAlgn="base">
              <a:spcAft>
                <a:spcPct val="0"/>
              </a:spcAft>
              <a:buFont typeface="Wingdings" panose="05000000000000000000" pitchFamily="2" charset="2"/>
              <a:buChar char="v"/>
            </a:pPr>
            <a:endParaRPr lang="en-US" dirty="0">
              <a:solidFill>
                <a:srgbClr val="FF0000"/>
              </a:solidFill>
            </a:endParaRPr>
          </a:p>
          <a:p>
            <a:pPr fontAlgn="base">
              <a:spcAft>
                <a:spcPct val="0"/>
              </a:spcAft>
            </a:pPr>
            <a:r>
              <a:rPr lang="en-US" dirty="0" smtClean="0"/>
              <a:t> </a:t>
            </a:r>
          </a:p>
        </p:txBody>
      </p:sp>
      <p:sp>
        <p:nvSpPr>
          <p:cNvPr id="5" name="Content Placeholder 4"/>
          <p:cNvSpPr>
            <a:spLocks noGrp="1"/>
          </p:cNvSpPr>
          <p:nvPr>
            <p:ph sz="quarter" idx="10"/>
          </p:nvPr>
        </p:nvSpPr>
        <p:spPr/>
        <p:txBody>
          <a:bodyPr/>
          <a:lstStyle/>
          <a:p>
            <a:r>
              <a:rPr lang="en-IN" dirty="0" smtClean="0"/>
              <a:t>Resources</a:t>
            </a:r>
            <a:endParaRPr lang="en-I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p:txBody>
          <a:bodyPr>
            <a:normAutofit/>
          </a:bodyPr>
          <a:lstStyle/>
          <a:p>
            <a:pPr fontAlgn="base">
              <a:spcAft>
                <a:spcPct val="0"/>
              </a:spcAft>
            </a:pPr>
            <a:r>
              <a:rPr lang="en-US" b="1" dirty="0" smtClean="0"/>
              <a:t>REFERENCE BOOKS (R)</a:t>
            </a:r>
            <a:r>
              <a:rPr lang="en-US" dirty="0" smtClean="0"/>
              <a:t>:</a:t>
            </a:r>
          </a:p>
          <a:p>
            <a:pPr fontAlgn="base">
              <a:spcAft>
                <a:spcPct val="0"/>
              </a:spcAft>
            </a:pPr>
            <a:r>
              <a:rPr lang="en-US" dirty="0" smtClean="0"/>
              <a:t> </a:t>
            </a:r>
          </a:p>
          <a:p>
            <a:pPr marL="685800" fontAlgn="base">
              <a:spcAft>
                <a:spcPct val="0"/>
              </a:spcAft>
              <a:buFont typeface="Wingdings" panose="05000000000000000000" pitchFamily="2" charset="2"/>
              <a:buChar char="v"/>
            </a:pPr>
            <a:r>
              <a:rPr lang="en-US" i="1" dirty="0" smtClean="0"/>
              <a:t>(R1) Agarwal </a:t>
            </a:r>
            <a:r>
              <a:rPr lang="en-US" i="1" dirty="0" err="1"/>
              <a:t>Charu</a:t>
            </a:r>
            <a:r>
              <a:rPr lang="en-US" i="1" dirty="0"/>
              <a:t> C. and Wang </a:t>
            </a:r>
            <a:r>
              <a:rPr lang="en-US" i="1" dirty="0" err="1"/>
              <a:t>Haixun</a:t>
            </a:r>
            <a:r>
              <a:rPr lang="en-US" i="1" dirty="0"/>
              <a:t>, “</a:t>
            </a:r>
            <a:r>
              <a:rPr lang="en-US" b="1" i="1" dirty="0"/>
              <a:t>Managing and Mining Graph Data</a:t>
            </a:r>
            <a:r>
              <a:rPr lang="en-US" i="1" dirty="0" smtClean="0"/>
              <a:t>” </a:t>
            </a:r>
            <a:r>
              <a:rPr lang="en-US" i="1" dirty="0"/>
              <a:t>, Springer; 2010 </a:t>
            </a:r>
            <a:r>
              <a:rPr lang="en-US" i="1" dirty="0" smtClean="0"/>
              <a:t>edition.</a:t>
            </a:r>
          </a:p>
          <a:p>
            <a:pPr marL="685800" fontAlgn="base">
              <a:spcAft>
                <a:spcPct val="0"/>
              </a:spcAft>
              <a:buFont typeface="Wingdings" panose="05000000000000000000" pitchFamily="2" charset="2"/>
              <a:buChar char="v"/>
            </a:pPr>
            <a:r>
              <a:rPr lang="en-US" i="1" dirty="0" smtClean="0"/>
              <a:t>(</a:t>
            </a:r>
            <a:r>
              <a:rPr lang="en-US" i="1" dirty="0"/>
              <a:t>R2</a:t>
            </a:r>
            <a:r>
              <a:rPr lang="en-US" i="1" dirty="0" smtClean="0"/>
              <a:t>) Jure </a:t>
            </a:r>
            <a:r>
              <a:rPr lang="en-US" i="1" dirty="0" err="1"/>
              <a:t>Leskovec</a:t>
            </a:r>
            <a:r>
              <a:rPr lang="en-US" i="1" dirty="0"/>
              <a:t>, </a:t>
            </a:r>
            <a:r>
              <a:rPr lang="en-US" i="1" dirty="0" err="1"/>
              <a:t>Anand</a:t>
            </a:r>
            <a:r>
              <a:rPr lang="en-US" i="1" dirty="0"/>
              <a:t> </a:t>
            </a:r>
            <a:r>
              <a:rPr lang="en-US" i="1" dirty="0" err="1"/>
              <a:t>Rajaraman</a:t>
            </a:r>
            <a:r>
              <a:rPr lang="en-US" i="1" dirty="0"/>
              <a:t>, Jeff Ullman. “</a:t>
            </a:r>
            <a:r>
              <a:rPr lang="en-US" b="1" i="1" dirty="0"/>
              <a:t>Mining of Massive Datasets</a:t>
            </a:r>
            <a:r>
              <a:rPr lang="en-US" i="1" dirty="0"/>
              <a:t>”. Book </a:t>
            </a:r>
            <a:r>
              <a:rPr lang="en-US" i="1" dirty="0" smtClean="0"/>
              <a:t>2</a:t>
            </a:r>
            <a:r>
              <a:rPr lang="en-US" i="1" baseline="30000" dirty="0" smtClean="0"/>
              <a:t>nd</a:t>
            </a:r>
            <a:r>
              <a:rPr lang="en-US" i="1" dirty="0" smtClean="0"/>
              <a:t> edition</a:t>
            </a:r>
            <a:r>
              <a:rPr lang="en-US" i="1" dirty="0"/>
              <a:t>. Cambridge University Press.</a:t>
            </a:r>
          </a:p>
          <a:p>
            <a:pPr marL="685800" fontAlgn="base">
              <a:spcAft>
                <a:spcPct val="0"/>
              </a:spcAft>
              <a:buFont typeface="Wingdings" panose="05000000000000000000" pitchFamily="2" charset="2"/>
              <a:buChar char="v"/>
            </a:pPr>
            <a:r>
              <a:rPr lang="en-US" i="1" dirty="0" smtClean="0"/>
              <a:t>(R3) Tan </a:t>
            </a:r>
            <a:r>
              <a:rPr lang="en-US" i="1" dirty="0"/>
              <a:t>P. N., Steinbach M &amp; Kumar V. “</a:t>
            </a:r>
            <a:r>
              <a:rPr lang="en-US" b="1" i="1" dirty="0"/>
              <a:t>Introduction to Data Mining</a:t>
            </a:r>
            <a:r>
              <a:rPr lang="en-US" i="1" dirty="0"/>
              <a:t>” Pearson Education, 2006</a:t>
            </a:r>
          </a:p>
        </p:txBody>
      </p:sp>
      <p:sp>
        <p:nvSpPr>
          <p:cNvPr id="3" name="Content Placeholder 2"/>
          <p:cNvSpPr>
            <a:spLocks noGrp="1"/>
          </p:cNvSpPr>
          <p:nvPr>
            <p:ph sz="quarter" idx="10"/>
          </p:nvPr>
        </p:nvSpPr>
        <p:spPr/>
        <p:txBody>
          <a:bodyPr/>
          <a:lstStyle/>
          <a:p>
            <a:r>
              <a:rPr lang="en-IN" dirty="0"/>
              <a:t>Resources</a:t>
            </a:r>
          </a:p>
        </p:txBody>
      </p:sp>
    </p:spTree>
    <p:extLst>
      <p:ext uri="{BB962C8B-B14F-4D97-AF65-F5344CB8AC3E}">
        <p14:creationId xmlns:p14="http://schemas.microsoft.com/office/powerpoint/2010/main" val="31535596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304800" y="609600"/>
            <a:ext cx="5775325" cy="708025"/>
          </a:xfrm>
          <a:prstGeom prst="rect">
            <a:avLst/>
          </a:prstGeom>
          <a:noFill/>
          <a:ln w="9525">
            <a:noFill/>
            <a:miter lim="800000"/>
            <a:headEnd/>
            <a:tailEnd/>
          </a:ln>
        </p:spPr>
        <p:txBody>
          <a:bodyPr wrap="none">
            <a:spAutoFit/>
          </a:bodyPr>
          <a:lstStyle/>
          <a:p>
            <a:pPr eaLnBrk="1" hangingPunct="1"/>
            <a:r>
              <a:rPr lang="en-US" sz="4000" b="1">
                <a:cs typeface="Arial" pitchFamily="34" charset="0"/>
              </a:rPr>
              <a:t>EVALUATION SCHEME</a:t>
            </a:r>
            <a:endParaRPr lang="en-US" sz="4000">
              <a:cs typeface="Arial"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356387927"/>
              </p:ext>
            </p:extLst>
          </p:nvPr>
        </p:nvGraphicFramePr>
        <p:xfrm>
          <a:off x="408215" y="1676399"/>
          <a:ext cx="7821387" cy="4648201"/>
        </p:xfrm>
        <a:graphic>
          <a:graphicData uri="http://schemas.openxmlformats.org/drawingml/2006/table">
            <a:tbl>
              <a:tblPr/>
              <a:tblGrid>
                <a:gridCol w="887185">
                  <a:extLst>
                    <a:ext uri="{9D8B030D-6E8A-4147-A177-3AD203B41FA5}">
                      <a16:colId xmlns:a16="http://schemas.microsoft.com/office/drawing/2014/main" val="20000"/>
                    </a:ext>
                  </a:extLst>
                </a:gridCol>
                <a:gridCol w="2514602">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685801">
                <a:tc>
                  <a:txBody>
                    <a:bodyPr/>
                    <a:lstStyle/>
                    <a:p>
                      <a:pPr algn="ctr">
                        <a:spcAft>
                          <a:spcPts val="0"/>
                        </a:spcAft>
                      </a:pPr>
                      <a:r>
                        <a:rPr lang="en-IN" sz="2000" b="1" kern="50" dirty="0">
                          <a:latin typeface="Calibri"/>
                          <a:ea typeface="WenQuanYi Micro Hei"/>
                          <a:cs typeface="Lohit Hindi"/>
                        </a:rPr>
                        <a:t>EC No</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b="1" kern="50" dirty="0">
                          <a:latin typeface="Calibri"/>
                          <a:ea typeface="WenQuanYi Micro Hei"/>
                          <a:cs typeface="Lohit Hindi"/>
                        </a:rPr>
                        <a:t>Component &amp; Nature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b="1" kern="50">
                          <a:latin typeface="Calibri"/>
                          <a:ea typeface="WenQuanYi Micro Hei"/>
                          <a:cs typeface="Lohit Hindi"/>
                        </a:rPr>
                        <a:t>Duration </a:t>
                      </a:r>
                      <a:endParaRPr lang="en-IN" sz="2000" kern="5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b="1" kern="50" dirty="0">
                          <a:latin typeface="Calibri"/>
                          <a:ea typeface="WenQuanYi Micro Hei"/>
                          <a:cs typeface="Lohit Hindi"/>
                        </a:rPr>
                        <a:t>Weightage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2000" b="1">
                          <a:latin typeface="Calibri"/>
                          <a:ea typeface="Times New Roman"/>
                          <a:cs typeface="Times New Roman"/>
                        </a:rPr>
                        <a:t>Date, Time</a:t>
                      </a:r>
                      <a:endParaRPr lang="en-IN" sz="2000" b="1">
                        <a:latin typeface="Calibri"/>
                        <a:ea typeface="Times New Roman"/>
                        <a:cs typeface="Times New Roman"/>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pPr algn="ctr">
                        <a:spcAft>
                          <a:spcPts val="0"/>
                        </a:spcAft>
                      </a:pPr>
                      <a:r>
                        <a:rPr lang="en-IN" sz="2000" kern="50" dirty="0" smtClean="0">
                          <a:latin typeface="Times New Roman"/>
                          <a:ea typeface="WenQuanYi Micro Hei"/>
                          <a:cs typeface="Lohit Hindi"/>
                        </a:rPr>
                        <a:t>1.</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strike="noStrike" kern="50" baseline="0" dirty="0" smtClean="0">
                          <a:latin typeface="Times New Roman"/>
                          <a:ea typeface="WenQuanYi Micro Hei"/>
                          <a:cs typeface="Lohit Hindi"/>
                        </a:rPr>
                        <a:t>Quiz 1</a:t>
                      </a:r>
                      <a:endParaRPr lang="en-IN" sz="2000" strike="noStrike" kern="50" baseline="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Times New Roman"/>
                          <a:ea typeface="WenQuanYi Micro Hei"/>
                          <a:cs typeface="Lohit Hindi"/>
                        </a:rPr>
                        <a:t>-</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IN" sz="2000" kern="50" dirty="0" smtClean="0">
                          <a:latin typeface="Times New Roman"/>
                          <a:ea typeface="WenQuanYi Micro Hei"/>
                          <a:cs typeface="Lohit Hindi"/>
                        </a:rPr>
                        <a:t>5% (Best of the Two)</a:t>
                      </a:r>
                      <a:endParaRPr lang="en-IN" sz="2000" kern="50" dirty="0">
                        <a:latin typeface="Times New Roman"/>
                        <a:ea typeface="WenQuanYi Micro Hei"/>
                        <a:cs typeface="Lohit Hindi"/>
                      </a:endParaRPr>
                    </a:p>
                  </a:txBody>
                  <a:tcPr marL="61232" marR="612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pPr algn="ctr">
                        <a:spcAft>
                          <a:spcPts val="0"/>
                        </a:spcAft>
                      </a:pPr>
                      <a:r>
                        <a:rPr lang="en-IN" sz="2000" kern="50" dirty="0" smtClean="0">
                          <a:latin typeface="Calibri"/>
                          <a:ea typeface="WenQuanYi Micro Hei"/>
                          <a:cs typeface="Lohit Hindi"/>
                        </a:rPr>
                        <a:t>1.</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2000" kern="50" dirty="0" smtClean="0">
                          <a:latin typeface="+mn-lt"/>
                          <a:ea typeface="WenQuanYi Micro Hei"/>
                          <a:cs typeface="Lohit Hindi"/>
                        </a:rPr>
                        <a:t>Quiz</a:t>
                      </a:r>
                      <a:r>
                        <a:rPr lang="en-US" sz="2000" kern="50" baseline="0" dirty="0" smtClean="0">
                          <a:latin typeface="+mn-lt"/>
                          <a:ea typeface="WenQuanYi Micro Hei"/>
                          <a:cs typeface="Lohit Hindi"/>
                        </a:rPr>
                        <a:t> 2</a:t>
                      </a:r>
                      <a:endParaRPr lang="en-IN" sz="2000" kern="50" dirty="0" smtClean="0">
                        <a:latin typeface="+mn-lt"/>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Times New Roman"/>
                          <a:ea typeface="WenQuanYi Micro Hei"/>
                          <a:cs typeface="Lohit Hindi"/>
                        </a:rPr>
                        <a:t>-</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20486">
                <a:tc>
                  <a:txBody>
                    <a:bodyPr/>
                    <a:lstStyle/>
                    <a:p>
                      <a:pPr algn="ctr">
                        <a:spcAft>
                          <a:spcPts val="0"/>
                        </a:spcAft>
                      </a:pPr>
                      <a:r>
                        <a:rPr lang="en-IN" sz="2000" kern="50" dirty="0">
                          <a:latin typeface="Calibri"/>
                          <a:ea typeface="WenQuanYi Micro Hei"/>
                          <a:cs typeface="Lohit Hindi"/>
                        </a:rPr>
                        <a:t>1</a:t>
                      </a:r>
                      <a:r>
                        <a:rPr lang="en-IN" sz="2000" kern="50" dirty="0" smtClean="0">
                          <a:latin typeface="Calibri"/>
                          <a:ea typeface="WenQuanYi Micro Hei"/>
                          <a:cs typeface="Lohit Hindi"/>
                        </a:rPr>
                        <a:t>.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kern="50" dirty="0" smtClean="0">
                          <a:latin typeface="+mn-lt"/>
                          <a:ea typeface="WenQuanYi Micro Hei"/>
                          <a:cs typeface="Lohit Hindi"/>
                        </a:rPr>
                        <a:t>Assignment 1</a:t>
                      </a:r>
                      <a:endParaRPr lang="en-IN" sz="2000" strike="noStrike" kern="50" baseline="0" dirty="0" smtClean="0">
                        <a:latin typeface="Times New Roman"/>
                        <a:ea typeface="WenQuanYi Micro Hei"/>
                        <a:cs typeface="Lohit Hind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Calibri"/>
                          <a:ea typeface="WenQuanYi Micro Hei"/>
                          <a:cs typeface="Lohit Hindi"/>
                        </a:rPr>
                        <a:t>-</a:t>
                      </a:r>
                      <a:endParaRPr lang="en-IN" sz="2000" kern="50" dirty="0">
                        <a:latin typeface="Calibri"/>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Calibri"/>
                          <a:ea typeface="WenQuanYi Micro Hei"/>
                          <a:cs typeface="Lohit Hindi"/>
                        </a:rPr>
                        <a:t>25%</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51114">
                <a:tc>
                  <a:txBody>
                    <a:bodyPr/>
                    <a:lstStyle/>
                    <a:p>
                      <a:pPr algn="ctr">
                        <a:spcAft>
                          <a:spcPts val="0"/>
                        </a:spcAft>
                      </a:pPr>
                      <a:r>
                        <a:rPr lang="en-IN" sz="2000" kern="50" dirty="0" smtClean="0">
                          <a:latin typeface="Calibri"/>
                          <a:ea typeface="WenQuanYi Micro Hei"/>
                          <a:cs typeface="Lohit Hindi"/>
                        </a:rPr>
                        <a:t>2.</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kern="50" dirty="0" smtClean="0">
                          <a:latin typeface="Times New Roman"/>
                          <a:ea typeface="WenQuanYi Micro Hei"/>
                          <a:cs typeface="Lohit Hindi"/>
                        </a:rPr>
                        <a:t>Mid-Semester Test</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kern="50" dirty="0" smtClean="0">
                          <a:latin typeface="Times New Roman"/>
                          <a:ea typeface="WenQuanYi Micro Hei"/>
                          <a:cs typeface="Lohit Hindi"/>
                        </a:rPr>
                        <a:t>(Closed Book)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mn-lt"/>
                          <a:ea typeface="WenQuanYi Micro Hei"/>
                          <a:cs typeface="Lohit Hindi"/>
                        </a:rPr>
                        <a:t>2 hours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Times New Roman"/>
                          <a:ea typeface="WenQuanYi Micro Hei"/>
                          <a:cs typeface="Lohit Hindi"/>
                        </a:rPr>
                        <a:t>30%</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14400">
                <a:tc>
                  <a:txBody>
                    <a:bodyPr/>
                    <a:lstStyle/>
                    <a:p>
                      <a:pPr algn="ctr">
                        <a:spcAft>
                          <a:spcPts val="0"/>
                        </a:spcAft>
                      </a:pPr>
                      <a:r>
                        <a:rPr lang="en-IN" sz="2000" kern="50" dirty="0" smtClean="0">
                          <a:latin typeface="Times New Roman"/>
                          <a:ea typeface="WenQuanYi Micro Hei"/>
                          <a:cs typeface="Lohit Hindi"/>
                        </a:rPr>
                        <a:t>3.</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Calibri"/>
                          <a:ea typeface="WenQuanYi Micro Hei"/>
                          <a:cs typeface="Lohit Hindi"/>
                        </a:rPr>
                        <a:t>Comprehensive </a:t>
                      </a:r>
                      <a:r>
                        <a:rPr lang="en-IN" sz="2000" kern="50" dirty="0">
                          <a:latin typeface="Calibri"/>
                          <a:ea typeface="WenQuanYi Micro Hei"/>
                          <a:cs typeface="Lohit Hindi"/>
                        </a:rPr>
                        <a:t>Exam </a:t>
                      </a:r>
                      <a:endParaRPr lang="en-IN" sz="2000" kern="50" dirty="0">
                        <a:latin typeface="Times New Roman"/>
                        <a:ea typeface="WenQuanYi Micro Hei"/>
                        <a:cs typeface="Lohit Hindi"/>
                      </a:endParaRPr>
                    </a:p>
                    <a:p>
                      <a:pPr algn="ctr">
                        <a:spcAft>
                          <a:spcPts val="0"/>
                        </a:spcAft>
                      </a:pPr>
                      <a:r>
                        <a:rPr lang="en-IN" sz="2000" kern="50" dirty="0">
                          <a:latin typeface="Calibri"/>
                          <a:ea typeface="WenQuanYi Micro Hei"/>
                          <a:cs typeface="Lohit Hindi"/>
                        </a:rPr>
                        <a:t>(Open Book)</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a:latin typeface="Calibri"/>
                          <a:ea typeface="WenQuanYi Micro Hei"/>
                          <a:cs typeface="Lohit Hindi"/>
                        </a:rPr>
                        <a:t>3 hours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Calibri"/>
                          <a:ea typeface="WenQuanYi Micro Hei"/>
                          <a:cs typeface="Lohit Hindi"/>
                        </a:rPr>
                        <a:t>40%</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304800" y="609600"/>
            <a:ext cx="2987421" cy="707886"/>
          </a:xfrm>
          <a:prstGeom prst="rect">
            <a:avLst/>
          </a:prstGeom>
          <a:noFill/>
          <a:ln w="9525">
            <a:noFill/>
            <a:miter lim="800000"/>
            <a:headEnd/>
            <a:tailEnd/>
          </a:ln>
        </p:spPr>
        <p:txBody>
          <a:bodyPr wrap="none">
            <a:spAutoFit/>
          </a:bodyPr>
          <a:lstStyle/>
          <a:p>
            <a:pPr eaLnBrk="1" hangingPunct="1"/>
            <a:r>
              <a:rPr lang="en-US" sz="4000" b="1" dirty="0" smtClean="0">
                <a:cs typeface="Arial" pitchFamily="34" charset="0"/>
              </a:rPr>
              <a:t>Delivery Plan</a:t>
            </a:r>
            <a:endParaRPr lang="en-US" sz="4000" dirty="0">
              <a:cs typeface="Arial" pitchFamily="34" charset="0"/>
            </a:endParaRPr>
          </a:p>
        </p:txBody>
      </p:sp>
      <p:pic>
        <p:nvPicPr>
          <p:cNvPr id="7" name="Picture 6"/>
          <p:cNvPicPr>
            <a:picLocks noChangeAspect="1"/>
          </p:cNvPicPr>
          <p:nvPr/>
        </p:nvPicPr>
        <p:blipFill>
          <a:blip r:embed="rId3"/>
          <a:stretch>
            <a:fillRect/>
          </a:stretch>
        </p:blipFill>
        <p:spPr>
          <a:xfrm>
            <a:off x="0" y="1342103"/>
            <a:ext cx="9144001" cy="5515897"/>
          </a:xfrm>
          <a:prstGeom prst="rect">
            <a:avLst/>
          </a:prstGeom>
        </p:spPr>
      </p:pic>
    </p:spTree>
    <p:extLst>
      <p:ext uri="{BB962C8B-B14F-4D97-AF65-F5344CB8AC3E}">
        <p14:creationId xmlns:p14="http://schemas.microsoft.com/office/powerpoint/2010/main" val="20454396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768350895"/>
              </p:ext>
            </p:extLst>
          </p:nvPr>
        </p:nvGraphicFramePr>
        <p:xfrm>
          <a:off x="304800" y="1447799"/>
          <a:ext cx="8610600" cy="495300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69765240"/>
                    </a:ext>
                  </a:extLst>
                </a:gridCol>
                <a:gridCol w="3352800">
                  <a:extLst>
                    <a:ext uri="{9D8B030D-6E8A-4147-A177-3AD203B41FA5}">
                      <a16:colId xmlns:a16="http://schemas.microsoft.com/office/drawing/2014/main" val="311921452"/>
                    </a:ext>
                  </a:extLst>
                </a:gridCol>
                <a:gridCol w="4419600">
                  <a:extLst>
                    <a:ext uri="{9D8B030D-6E8A-4147-A177-3AD203B41FA5}">
                      <a16:colId xmlns:a16="http://schemas.microsoft.com/office/drawing/2014/main" val="1130353643"/>
                    </a:ext>
                  </a:extLst>
                </a:gridCol>
              </a:tblGrid>
              <a:tr h="553591">
                <a:tc>
                  <a:txBody>
                    <a:bodyPr/>
                    <a:lstStyle/>
                    <a:p>
                      <a:r>
                        <a:rPr lang="en-US" dirty="0" err="1" smtClean="0"/>
                        <a:t>S.No</a:t>
                      </a:r>
                      <a:endParaRPr lang="en-IN" dirty="0"/>
                    </a:p>
                  </a:txBody>
                  <a:tcPr anchor="ctr"/>
                </a:tc>
                <a:tc>
                  <a:txBody>
                    <a:bodyPr/>
                    <a:lstStyle/>
                    <a:p>
                      <a:r>
                        <a:rPr lang="en-US" dirty="0" smtClean="0"/>
                        <a:t>Name of</a:t>
                      </a:r>
                      <a:r>
                        <a:rPr lang="en-US" baseline="0" dirty="0" smtClean="0"/>
                        <a:t> Professor</a:t>
                      </a:r>
                      <a:endParaRPr lang="en-IN" dirty="0"/>
                    </a:p>
                  </a:txBody>
                  <a:tcPr anchor="ctr"/>
                </a:tc>
                <a:tc>
                  <a:txBody>
                    <a:bodyPr/>
                    <a:lstStyle/>
                    <a:p>
                      <a:r>
                        <a:rPr lang="en-US" dirty="0" smtClean="0"/>
                        <a:t>Contact Details</a:t>
                      </a:r>
                      <a:endParaRPr lang="en-IN" dirty="0"/>
                    </a:p>
                  </a:txBody>
                  <a:tcPr anchor="ctr"/>
                </a:tc>
                <a:extLst>
                  <a:ext uri="{0D108BD9-81ED-4DB2-BD59-A6C34878D82A}">
                    <a16:rowId xmlns:a16="http://schemas.microsoft.com/office/drawing/2014/main" val="506589550"/>
                  </a:ext>
                </a:extLst>
              </a:tr>
              <a:tr h="823057">
                <a:tc>
                  <a:txBody>
                    <a:bodyPr/>
                    <a:lstStyle/>
                    <a:p>
                      <a:r>
                        <a:rPr lang="en-US" dirty="0" smtClean="0"/>
                        <a:t>1</a:t>
                      </a:r>
                      <a:endParaRPr lang="en-IN" dirty="0"/>
                    </a:p>
                  </a:txBody>
                  <a:tcPr anchor="ctr"/>
                </a:tc>
                <a:tc>
                  <a:txBody>
                    <a:bodyPr/>
                    <a:lstStyle/>
                    <a:p>
                      <a:r>
                        <a:rPr lang="en-US" dirty="0" smtClean="0"/>
                        <a:t>Prof Shan </a:t>
                      </a:r>
                      <a:r>
                        <a:rPr lang="en-US" dirty="0" err="1" smtClean="0"/>
                        <a:t>Bala</a:t>
                      </a:r>
                      <a:r>
                        <a:rPr lang="en-US" dirty="0" smtClean="0"/>
                        <a:t> </a:t>
                      </a:r>
                      <a:r>
                        <a:rPr lang="en-US" dirty="0" err="1" smtClean="0"/>
                        <a:t>Subramaniam</a:t>
                      </a:r>
                      <a:endParaRPr lang="en-IN" dirty="0"/>
                    </a:p>
                  </a:txBody>
                  <a:tcPr anchor="ctr"/>
                </a:tc>
                <a:tc>
                  <a:txBody>
                    <a:bodyPr/>
                    <a:lstStyle/>
                    <a:p>
                      <a:r>
                        <a:rPr lang="en-IN" sz="1800" b="0" i="0" kern="1200" dirty="0" smtClean="0">
                          <a:solidFill>
                            <a:schemeClr val="dk1"/>
                          </a:solidFill>
                          <a:effectLst/>
                          <a:latin typeface="+mn-lt"/>
                          <a:ea typeface="+mn-ea"/>
                          <a:cs typeface="+mn-cs"/>
                        </a:rPr>
                        <a:t>sundar.balasub@gmail.com</a:t>
                      </a:r>
                      <a:endParaRPr lang="en-IN" dirty="0"/>
                    </a:p>
                  </a:txBody>
                  <a:tcPr anchor="ctr"/>
                </a:tc>
                <a:extLst>
                  <a:ext uri="{0D108BD9-81ED-4DB2-BD59-A6C34878D82A}">
                    <a16:rowId xmlns:a16="http://schemas.microsoft.com/office/drawing/2014/main" val="3426407558"/>
                  </a:ext>
                </a:extLst>
              </a:tr>
              <a:tr h="823057">
                <a:tc>
                  <a:txBody>
                    <a:bodyPr/>
                    <a:lstStyle/>
                    <a:p>
                      <a:r>
                        <a:rPr lang="en-US" dirty="0" smtClean="0"/>
                        <a:t>2</a:t>
                      </a:r>
                      <a:endParaRPr lang="en-IN" dirty="0"/>
                    </a:p>
                  </a:txBody>
                  <a:tcPr anchor="ctr"/>
                </a:tc>
                <a:tc>
                  <a:txBody>
                    <a:bodyPr/>
                    <a:lstStyle/>
                    <a:p>
                      <a:r>
                        <a:rPr lang="en-US" dirty="0" smtClean="0"/>
                        <a:t>Prof </a:t>
                      </a:r>
                      <a:r>
                        <a:rPr lang="en-US" dirty="0" err="1" smtClean="0"/>
                        <a:t>Vimal</a:t>
                      </a:r>
                      <a:r>
                        <a:rPr lang="en-US" dirty="0" smtClean="0"/>
                        <a:t> SP</a:t>
                      </a:r>
                      <a:endParaRPr lang="en-IN" dirty="0"/>
                    </a:p>
                  </a:txBody>
                  <a:tcPr anchor="ctr"/>
                </a:tc>
                <a:tc>
                  <a:txBody>
                    <a:bodyPr/>
                    <a:lstStyle/>
                    <a:p>
                      <a:r>
                        <a:rPr lang="en-IN" sz="1800" b="0" i="0" kern="1200" dirty="0" smtClean="0">
                          <a:solidFill>
                            <a:schemeClr val="dk1"/>
                          </a:solidFill>
                          <a:effectLst/>
                          <a:latin typeface="+mn-lt"/>
                          <a:ea typeface="+mn-ea"/>
                          <a:cs typeface="+mn-cs"/>
                        </a:rPr>
                        <a:t>vimalsp@pilani.bits-pilani.ac.in</a:t>
                      </a:r>
                      <a:endParaRPr lang="en-IN" sz="1800" b="0" i="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3149149606"/>
                  </a:ext>
                </a:extLst>
              </a:tr>
              <a:tr h="823057">
                <a:tc>
                  <a:txBody>
                    <a:bodyPr/>
                    <a:lstStyle/>
                    <a:p>
                      <a:r>
                        <a:rPr lang="en-US" dirty="0" smtClean="0"/>
                        <a:t>3</a:t>
                      </a:r>
                      <a:endParaRPr lang="en-IN" dirty="0"/>
                    </a:p>
                  </a:txBody>
                  <a:tcPr anchor="ctr"/>
                </a:tc>
                <a:tc>
                  <a:txBody>
                    <a:bodyPr/>
                    <a:lstStyle/>
                    <a:p>
                      <a:r>
                        <a:rPr lang="en-US" dirty="0" smtClean="0"/>
                        <a:t>Prof </a:t>
                      </a:r>
                      <a:r>
                        <a:rPr lang="en-IN" sz="1800" b="0" i="0" kern="1200" dirty="0" smtClean="0">
                          <a:solidFill>
                            <a:schemeClr val="dk1"/>
                          </a:solidFill>
                          <a:effectLst/>
                          <a:latin typeface="+mn-lt"/>
                          <a:ea typeface="+mn-ea"/>
                          <a:cs typeface="+mn-cs"/>
                        </a:rPr>
                        <a:t>Seetha </a:t>
                      </a:r>
                      <a:r>
                        <a:rPr lang="en-IN" sz="1800" b="0" i="0" kern="1200" dirty="0" err="1" smtClean="0">
                          <a:solidFill>
                            <a:schemeClr val="dk1"/>
                          </a:solidFill>
                          <a:effectLst/>
                          <a:latin typeface="+mn-lt"/>
                          <a:ea typeface="+mn-ea"/>
                          <a:cs typeface="+mn-cs"/>
                        </a:rPr>
                        <a:t>Parameswaran</a:t>
                      </a:r>
                      <a:endParaRPr lang="en-IN" dirty="0"/>
                    </a:p>
                  </a:txBody>
                  <a:tcPr anchor="ctr"/>
                </a:tc>
                <a:tc>
                  <a:txBody>
                    <a:bodyPr/>
                    <a:lstStyle/>
                    <a:p>
                      <a:r>
                        <a:rPr lang="en-IN" sz="1800" b="0" i="0" kern="1200" dirty="0" smtClean="0">
                          <a:solidFill>
                            <a:schemeClr val="dk1"/>
                          </a:solidFill>
                          <a:effectLst/>
                          <a:latin typeface="+mn-lt"/>
                          <a:ea typeface="+mn-ea"/>
                          <a:cs typeface="+mn-cs"/>
                        </a:rPr>
                        <a:t>seetha.p@pilani.bits-pilani.ac.in</a:t>
                      </a:r>
                      <a:endParaRPr lang="en-IN" sz="1800" b="0" i="0" kern="1200" dirty="0">
                        <a:solidFill>
                          <a:schemeClr val="dk1"/>
                        </a:solidFill>
                        <a:effectLst/>
                        <a:latin typeface="+mn-lt"/>
                        <a:ea typeface="+mn-ea"/>
                        <a:cs typeface="+mn-cs"/>
                      </a:endParaRPr>
                    </a:p>
                  </a:txBody>
                  <a:tcPr marL="0" marR="95250" marT="0" marB="0" anchor="ctr"/>
                </a:tc>
                <a:extLst>
                  <a:ext uri="{0D108BD9-81ED-4DB2-BD59-A6C34878D82A}">
                    <a16:rowId xmlns:a16="http://schemas.microsoft.com/office/drawing/2014/main" val="3939115956"/>
                  </a:ext>
                </a:extLst>
              </a:tr>
              <a:tr h="1107181">
                <a:tc>
                  <a:txBody>
                    <a:bodyPr/>
                    <a:lstStyle/>
                    <a:p>
                      <a:r>
                        <a:rPr lang="en-US" dirty="0" smtClean="0"/>
                        <a:t>4 </a:t>
                      </a:r>
                      <a:endParaRPr lang="en-IN" dirty="0"/>
                    </a:p>
                  </a:txBody>
                  <a:tcPr anchor="ctr"/>
                </a:tc>
                <a:tc>
                  <a:txBody>
                    <a:bodyPr/>
                    <a:lstStyle/>
                    <a:p>
                      <a:r>
                        <a:rPr lang="en-US" dirty="0" smtClean="0"/>
                        <a:t>Prof </a:t>
                      </a:r>
                      <a:r>
                        <a:rPr lang="en-IN" sz="1800" b="0" i="0" kern="1200" dirty="0" err="1" smtClean="0">
                          <a:solidFill>
                            <a:schemeClr val="dk1"/>
                          </a:solidFill>
                          <a:effectLst/>
                          <a:latin typeface="+mn-lt"/>
                          <a:ea typeface="+mn-ea"/>
                          <a:cs typeface="+mn-cs"/>
                        </a:rPr>
                        <a:t>Mehala</a:t>
                      </a:r>
                      <a:r>
                        <a:rPr lang="en-IN" sz="1800" b="0" i="0" kern="1200" dirty="0" smtClean="0">
                          <a:solidFill>
                            <a:schemeClr val="dk1"/>
                          </a:solidFill>
                          <a:effectLst/>
                          <a:latin typeface="+mn-lt"/>
                          <a:ea typeface="+mn-ea"/>
                          <a:cs typeface="+mn-cs"/>
                        </a:rPr>
                        <a:t> N</a:t>
                      </a:r>
                      <a:endParaRPr lang="en-IN"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smtClean="0">
                          <a:solidFill>
                            <a:schemeClr val="dk1"/>
                          </a:solidFill>
                          <a:effectLst/>
                          <a:latin typeface="+mn-lt"/>
                          <a:ea typeface="+mn-ea"/>
                          <a:cs typeface="+mn-cs"/>
                        </a:rPr>
                        <a:t/>
                      </a:r>
                      <a:br>
                        <a:rPr lang="en-IN" sz="1800" b="0" i="0" kern="1200" dirty="0" smtClean="0">
                          <a:solidFill>
                            <a:schemeClr val="dk1"/>
                          </a:solidFill>
                          <a:effectLst/>
                          <a:latin typeface="+mn-lt"/>
                          <a:ea typeface="+mn-ea"/>
                          <a:cs typeface="+mn-cs"/>
                        </a:rPr>
                      </a:br>
                      <a:r>
                        <a:rPr lang="en-IN" sz="1800" b="0" i="0" kern="1200" dirty="0" smtClean="0">
                          <a:solidFill>
                            <a:schemeClr val="dk1"/>
                          </a:solidFill>
                          <a:effectLst/>
                          <a:latin typeface="+mn-lt"/>
                          <a:ea typeface="+mn-ea"/>
                          <a:cs typeface="+mn-cs"/>
                        </a:rPr>
                        <a:t>mehalan@wilp.bits-pilani.ac.in</a:t>
                      </a:r>
                    </a:p>
                    <a:p>
                      <a:endParaRPr lang="en-IN" sz="1800" b="0" i="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3526258775"/>
                  </a:ext>
                </a:extLst>
              </a:tr>
              <a:tr h="823057">
                <a:tc>
                  <a:txBody>
                    <a:bodyPr/>
                    <a:lstStyle/>
                    <a:p>
                      <a:r>
                        <a:rPr lang="en-US" dirty="0" smtClean="0"/>
                        <a:t>5</a:t>
                      </a:r>
                      <a:endParaRPr lang="en-IN" dirty="0"/>
                    </a:p>
                  </a:txBody>
                  <a:tcPr anchor="ctr"/>
                </a:tc>
                <a:tc>
                  <a:txBody>
                    <a:bodyPr/>
                    <a:lstStyle/>
                    <a:p>
                      <a:r>
                        <a:rPr lang="en-US" dirty="0" smtClean="0"/>
                        <a:t>Prof Ankur Pachauri</a:t>
                      </a:r>
                      <a:endParaRPr lang="en-IN" dirty="0"/>
                    </a:p>
                  </a:txBody>
                  <a:tcPr anchor="ctr"/>
                </a:tc>
                <a:tc>
                  <a:txBody>
                    <a:bodyPr/>
                    <a:lstStyle/>
                    <a:p>
                      <a:r>
                        <a:rPr lang="en-US" sz="1800" b="0" i="0" kern="1200" dirty="0" smtClean="0">
                          <a:solidFill>
                            <a:schemeClr val="dk1"/>
                          </a:solidFill>
                          <a:effectLst/>
                          <a:latin typeface="+mn-lt"/>
                          <a:ea typeface="+mn-ea"/>
                          <a:cs typeface="+mn-cs"/>
                        </a:rPr>
                        <a:t>ankur.pachauri@Pilani.bits-Pilani.ac.in</a:t>
                      </a:r>
                    </a:p>
                    <a:p>
                      <a:r>
                        <a:rPr lang="en-US" sz="1800" b="0" i="0" kern="1200" dirty="0" smtClean="0">
                          <a:solidFill>
                            <a:schemeClr val="dk1"/>
                          </a:solidFill>
                          <a:effectLst/>
                          <a:latin typeface="+mn-lt"/>
                          <a:ea typeface="+mn-ea"/>
                          <a:cs typeface="+mn-cs"/>
                        </a:rPr>
                        <a:t>9927590910</a:t>
                      </a:r>
                      <a:endParaRPr lang="en-IN" sz="1800" b="0" i="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23477600"/>
                  </a:ext>
                </a:extLst>
              </a:tr>
            </a:tbl>
          </a:graphicData>
        </a:graphic>
      </p:graphicFrame>
      <p:sp>
        <p:nvSpPr>
          <p:cNvPr id="3" name="Content Placeholder 2"/>
          <p:cNvSpPr>
            <a:spLocks noGrp="1"/>
          </p:cNvSpPr>
          <p:nvPr>
            <p:ph sz="quarter" idx="10"/>
          </p:nvPr>
        </p:nvSpPr>
        <p:spPr/>
        <p:txBody>
          <a:bodyPr/>
          <a:lstStyle/>
          <a:p>
            <a:r>
              <a:rPr lang="en-US" dirty="0" smtClean="0"/>
              <a:t>Faculty Details</a:t>
            </a:r>
            <a:endParaRPr lang="en-IN" dirty="0"/>
          </a:p>
        </p:txBody>
      </p:sp>
    </p:spTree>
    <p:extLst>
      <p:ext uri="{BB962C8B-B14F-4D97-AF65-F5344CB8AC3E}">
        <p14:creationId xmlns:p14="http://schemas.microsoft.com/office/powerpoint/2010/main" val="42538465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Wingdings" panose="05000000000000000000" pitchFamily="2" charset="2"/>
              <a:buChar char="v"/>
            </a:pPr>
            <a:r>
              <a:rPr lang="en-US" dirty="0"/>
              <a:t>Email </a:t>
            </a:r>
            <a:r>
              <a:rPr lang="en-US" dirty="0" smtClean="0"/>
              <a:t>etiquettes.</a:t>
            </a:r>
          </a:p>
          <a:p>
            <a:pPr>
              <a:buFont typeface="Wingdings" panose="05000000000000000000" pitchFamily="2" charset="2"/>
              <a:buChar char="v"/>
            </a:pPr>
            <a:r>
              <a:rPr lang="en-US" dirty="0" smtClean="0"/>
              <a:t>No “reply to all”; unless &amp; until unavoidable!</a:t>
            </a:r>
          </a:p>
          <a:p>
            <a:pPr>
              <a:buFont typeface="Wingdings" panose="05000000000000000000" pitchFamily="2" charset="2"/>
              <a:buChar char="v"/>
            </a:pPr>
            <a:r>
              <a:rPr lang="en-US" dirty="0" smtClean="0"/>
              <a:t>No Request to timeline extension, with the reason of being working professionals.</a:t>
            </a:r>
          </a:p>
          <a:p>
            <a:pPr>
              <a:buFont typeface="Wingdings" panose="05000000000000000000" pitchFamily="2" charset="2"/>
              <a:buChar char="v"/>
            </a:pPr>
            <a:r>
              <a:rPr lang="en-US" dirty="0" smtClean="0"/>
              <a:t>Continuous reading of papers &amp; books.</a:t>
            </a:r>
          </a:p>
          <a:p>
            <a:pPr>
              <a:buFont typeface="Wingdings" panose="05000000000000000000" pitchFamily="2" charset="2"/>
              <a:buChar char="v"/>
            </a:pPr>
            <a:endParaRPr lang="en-US" dirty="0" smtClean="0"/>
          </a:p>
          <a:p>
            <a:pPr>
              <a:buFont typeface="Wingdings" panose="05000000000000000000" pitchFamily="2" charset="2"/>
              <a:buChar char="v"/>
            </a:pPr>
            <a:endParaRPr lang="en-IN" dirty="0"/>
          </a:p>
        </p:txBody>
      </p:sp>
      <p:sp>
        <p:nvSpPr>
          <p:cNvPr id="3" name="Content Placeholder 2"/>
          <p:cNvSpPr>
            <a:spLocks noGrp="1"/>
          </p:cNvSpPr>
          <p:nvPr>
            <p:ph sz="quarter" idx="10"/>
          </p:nvPr>
        </p:nvSpPr>
        <p:spPr/>
        <p:txBody>
          <a:bodyPr/>
          <a:lstStyle/>
          <a:p>
            <a:r>
              <a:rPr lang="en-US" dirty="0" smtClean="0"/>
              <a:t>Few Requests</a:t>
            </a:r>
            <a:endParaRPr lang="en-IN" dirty="0"/>
          </a:p>
        </p:txBody>
      </p:sp>
    </p:spTree>
    <p:extLst>
      <p:ext uri="{BB962C8B-B14F-4D97-AF65-F5344CB8AC3E}">
        <p14:creationId xmlns:p14="http://schemas.microsoft.com/office/powerpoint/2010/main" val="6483819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52400" y="381000"/>
            <a:ext cx="8534400" cy="990600"/>
          </a:xfrm>
        </p:spPr>
        <p:txBody>
          <a:bodyPr>
            <a:normAutofit/>
          </a:bodyPr>
          <a:lstStyle/>
          <a:p>
            <a:pPr algn="l"/>
            <a:r>
              <a:rPr lang="en-IN" sz="3600" dirty="0"/>
              <a:t>Various type of </a:t>
            </a:r>
            <a:r>
              <a:rPr lang="en-IN" sz="3600" dirty="0" smtClean="0"/>
              <a:t>Graph Data </a:t>
            </a:r>
            <a:r>
              <a:rPr lang="en-IN" sz="3600" dirty="0"/>
              <a:t>for Graph </a:t>
            </a:r>
            <a:r>
              <a:rPr lang="en-IN" sz="3600" dirty="0" smtClean="0"/>
              <a:t>Mining</a:t>
            </a:r>
            <a:endParaRPr lang="en-IN" sz="3600" dirty="0"/>
          </a:p>
        </p:txBody>
      </p:sp>
      <p:pic>
        <p:nvPicPr>
          <p:cNvPr id="2" name="Picture 1"/>
          <p:cNvPicPr>
            <a:picLocks noChangeAspect="1"/>
          </p:cNvPicPr>
          <p:nvPr/>
        </p:nvPicPr>
        <p:blipFill>
          <a:blip r:embed="rId2"/>
          <a:stretch>
            <a:fillRect/>
          </a:stretch>
        </p:blipFill>
        <p:spPr>
          <a:xfrm>
            <a:off x="381000" y="1371600"/>
            <a:ext cx="8305800" cy="5094967"/>
          </a:xfrm>
          <a:prstGeom prst="rect">
            <a:avLst/>
          </a:prstGeom>
        </p:spPr>
      </p:pic>
    </p:spTree>
    <p:extLst>
      <p:ext uri="{BB962C8B-B14F-4D97-AF65-F5344CB8AC3E}">
        <p14:creationId xmlns:p14="http://schemas.microsoft.com/office/powerpoint/2010/main" val="14865815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p:cNvSpPr>
            <a:spLocks noGrp="1"/>
          </p:cNvSpPr>
          <p:nvPr>
            <p:ph idx="1"/>
          </p:nvPr>
        </p:nvSpPr>
        <p:spPr>
          <a:xfrm>
            <a:off x="304800" y="1600200"/>
            <a:ext cx="8229600" cy="4953000"/>
          </a:xfrm>
        </p:spPr>
        <p:txBody>
          <a:bodyPr>
            <a:noAutofit/>
          </a:bodyPr>
          <a:lstStyle/>
          <a:p>
            <a:pPr fontAlgn="base">
              <a:spcAft>
                <a:spcPct val="0"/>
              </a:spcAft>
              <a:buFont typeface="Wingdings" panose="05000000000000000000" pitchFamily="2" charset="2"/>
              <a:buChar char="v"/>
            </a:pPr>
            <a:r>
              <a:rPr lang="en-US" sz="2000" dirty="0" smtClean="0"/>
              <a:t>Introduction to the Graphs</a:t>
            </a:r>
          </a:p>
          <a:p>
            <a:pPr lvl="1" fontAlgn="base">
              <a:spcAft>
                <a:spcPct val="0"/>
              </a:spcAft>
              <a:buFont typeface="Wingdings" panose="05000000000000000000" pitchFamily="2" charset="2"/>
              <a:buChar char="v"/>
            </a:pPr>
            <a:r>
              <a:rPr lang="en-IN" sz="2000" dirty="0"/>
              <a:t>Preliminaries</a:t>
            </a:r>
          </a:p>
          <a:p>
            <a:pPr fontAlgn="base">
              <a:spcAft>
                <a:spcPct val="0"/>
              </a:spcAft>
              <a:buFont typeface="Wingdings" panose="05000000000000000000" pitchFamily="2" charset="2"/>
              <a:buChar char="v"/>
            </a:pPr>
            <a:r>
              <a:rPr lang="en-IN" sz="2000" dirty="0" smtClean="0"/>
              <a:t>Graph Mining Applications</a:t>
            </a:r>
          </a:p>
          <a:p>
            <a:pPr fontAlgn="base">
              <a:spcAft>
                <a:spcPct val="0"/>
              </a:spcAft>
              <a:buFont typeface="Wingdings" panose="05000000000000000000" pitchFamily="2" charset="2"/>
              <a:buChar char="v"/>
            </a:pPr>
            <a:r>
              <a:rPr lang="en-IN" sz="2000" dirty="0" smtClean="0"/>
              <a:t>Overview of Graph mining Algorithms</a:t>
            </a:r>
          </a:p>
          <a:p>
            <a:pPr lvl="1" fontAlgn="base">
              <a:spcAft>
                <a:spcPct val="0"/>
              </a:spcAft>
              <a:buFont typeface="Wingdings" panose="05000000000000000000" pitchFamily="2" charset="2"/>
              <a:buChar char="v"/>
            </a:pPr>
            <a:r>
              <a:rPr lang="en-IN" sz="2000" dirty="0" smtClean="0"/>
              <a:t>Graph Data Management Algorithms</a:t>
            </a:r>
          </a:p>
          <a:p>
            <a:pPr lvl="2" fontAlgn="base">
              <a:spcAft>
                <a:spcPct val="0"/>
              </a:spcAft>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Indexing</a:t>
            </a:r>
          </a:p>
          <a:p>
            <a:pPr lvl="2" fontAlgn="base">
              <a:spcAft>
                <a:spcPct val="0"/>
              </a:spcAft>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Querying</a:t>
            </a:r>
          </a:p>
          <a:p>
            <a:pPr lvl="3" fontAlgn="base">
              <a:spcAft>
                <a:spcPct val="0"/>
              </a:spcAft>
              <a:buFont typeface="Wingdings" panose="05000000000000000000" pitchFamily="2" charset="2"/>
              <a:buChar char="v"/>
            </a:pPr>
            <a:r>
              <a:rPr lang="en-IN" dirty="0" smtClean="0">
                <a:latin typeface="Arial" panose="020B0604020202020204" pitchFamily="34" charset="0"/>
                <a:cs typeface="Arial" panose="020B0604020202020204" pitchFamily="34" charset="0"/>
              </a:rPr>
              <a:t>Reachability</a:t>
            </a:r>
          </a:p>
          <a:p>
            <a:pPr lvl="3" fontAlgn="base">
              <a:spcAft>
                <a:spcPct val="0"/>
              </a:spcAft>
              <a:buFont typeface="Wingdings" panose="05000000000000000000" pitchFamily="2" charset="2"/>
              <a:buChar char="v"/>
            </a:pPr>
            <a:r>
              <a:rPr lang="en-IN" dirty="0" smtClean="0">
                <a:latin typeface="Arial" panose="020B0604020202020204" pitchFamily="34" charset="0"/>
                <a:cs typeface="Arial" panose="020B0604020202020204" pitchFamily="34" charset="0"/>
              </a:rPr>
              <a:t>Matching</a:t>
            </a:r>
          </a:p>
          <a:p>
            <a:pPr lvl="3" fontAlgn="base">
              <a:spcAft>
                <a:spcPct val="0"/>
              </a:spcAft>
              <a:buFont typeface="Wingdings" panose="05000000000000000000" pitchFamily="2" charset="2"/>
              <a:buChar char="v"/>
            </a:pPr>
            <a:r>
              <a:rPr lang="en-IN" dirty="0" smtClean="0">
                <a:latin typeface="Arial" panose="020B0604020202020204" pitchFamily="34" charset="0"/>
                <a:cs typeface="Arial" panose="020B0604020202020204" pitchFamily="34" charset="0"/>
              </a:rPr>
              <a:t>Searching</a:t>
            </a:r>
          </a:p>
          <a:p>
            <a:pPr lvl="3" fontAlgn="base">
              <a:spcAft>
                <a:spcPct val="0"/>
              </a:spcAft>
              <a:buFont typeface="Wingdings" panose="05000000000000000000" pitchFamily="2" charset="2"/>
              <a:buChar char="v"/>
            </a:pPr>
            <a:r>
              <a:rPr lang="en-IN" dirty="0" smtClean="0">
                <a:latin typeface="Arial" panose="020B0604020202020204" pitchFamily="34" charset="0"/>
                <a:cs typeface="Arial" panose="020B0604020202020204" pitchFamily="34" charset="0"/>
              </a:rPr>
              <a:t>Summarization</a:t>
            </a:r>
          </a:p>
          <a:p>
            <a:pPr lvl="1" fontAlgn="base">
              <a:spcAft>
                <a:spcPct val="0"/>
              </a:spcAft>
              <a:buFont typeface="Wingdings" panose="05000000000000000000" pitchFamily="2" charset="2"/>
              <a:buChar char="v"/>
            </a:pPr>
            <a:r>
              <a:rPr lang="en-IN" sz="2000" dirty="0"/>
              <a:t>Dynamics of Dynamic Graphs (Time Evolving Graphs)</a:t>
            </a:r>
          </a:p>
          <a:p>
            <a:pPr lvl="2" fontAlgn="base">
              <a:spcAft>
                <a:spcPct val="0"/>
              </a:spcAft>
              <a:buFont typeface="Wingdings" panose="05000000000000000000" pitchFamily="2" charset="2"/>
              <a:buChar char="v"/>
            </a:pPr>
            <a:r>
              <a:rPr lang="en-IN" sz="2000" dirty="0">
                <a:latin typeface="Arial" panose="020B0604020202020204" pitchFamily="34" charset="0"/>
                <a:cs typeface="Arial" panose="020B0604020202020204" pitchFamily="34" charset="0"/>
              </a:rPr>
              <a:t>Densification</a:t>
            </a:r>
          </a:p>
          <a:p>
            <a:pPr lvl="2" fontAlgn="base">
              <a:spcAft>
                <a:spcPct val="0"/>
              </a:spcAft>
              <a:buFont typeface="Wingdings" panose="05000000000000000000" pitchFamily="2" charset="2"/>
              <a:buChar char="v"/>
            </a:pPr>
            <a:r>
              <a:rPr lang="en-IN" sz="2000" dirty="0">
                <a:latin typeface="Arial" panose="020B0604020202020204" pitchFamily="34" charset="0"/>
                <a:cs typeface="Arial" panose="020B0604020202020204" pitchFamily="34" charset="0"/>
              </a:rPr>
              <a:t>Radius &amp; Diameter of graph</a:t>
            </a:r>
          </a:p>
          <a:p>
            <a:pPr lvl="3" fontAlgn="base">
              <a:spcAft>
                <a:spcPct val="0"/>
              </a:spcAft>
              <a:buFont typeface="Wingdings" panose="05000000000000000000" pitchFamily="2" charset="2"/>
              <a:buChar char="v"/>
            </a:pPr>
            <a:endParaRPr lang="en-IN"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pPr>
              <a:defRPr/>
            </a:pPr>
            <a:r>
              <a:rPr lang="en-US" dirty="0" smtClean="0"/>
              <a:t>Course Outline</a:t>
            </a:r>
            <a:endParaRPr lang="en-US" dirty="0"/>
          </a:p>
        </p:txBody>
      </p:sp>
    </p:spTree>
    <p:extLst>
      <p:ext uri="{BB962C8B-B14F-4D97-AF65-F5344CB8AC3E}">
        <p14:creationId xmlns:p14="http://schemas.microsoft.com/office/powerpoint/2010/main" val="17528417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p:cNvSpPr>
            <a:spLocks noGrp="1"/>
          </p:cNvSpPr>
          <p:nvPr>
            <p:ph idx="1"/>
          </p:nvPr>
        </p:nvSpPr>
        <p:spPr>
          <a:xfrm>
            <a:off x="304800" y="1600200"/>
            <a:ext cx="8686800" cy="5105400"/>
          </a:xfrm>
        </p:spPr>
        <p:txBody>
          <a:bodyPr>
            <a:noAutofit/>
          </a:bodyPr>
          <a:lstStyle/>
          <a:p>
            <a:pPr fontAlgn="base">
              <a:spcAft>
                <a:spcPct val="0"/>
              </a:spcAft>
              <a:buFont typeface="Wingdings" panose="05000000000000000000" pitchFamily="2" charset="2"/>
              <a:buChar char="v"/>
            </a:pPr>
            <a:r>
              <a:rPr lang="en-IN" sz="2200" b="1" dirty="0" smtClean="0"/>
              <a:t>Graph Mining Algorithms</a:t>
            </a:r>
          </a:p>
          <a:p>
            <a:pPr lvl="1" fontAlgn="base">
              <a:spcAft>
                <a:spcPct val="0"/>
              </a:spcAft>
              <a:buFont typeface="Wingdings" panose="05000000000000000000" pitchFamily="2" charset="2"/>
              <a:buChar char="v"/>
            </a:pPr>
            <a:r>
              <a:rPr lang="en-IN" sz="2200" dirty="0" smtClean="0"/>
              <a:t>Pattern Mining</a:t>
            </a:r>
          </a:p>
          <a:p>
            <a:pPr lvl="1" fontAlgn="base">
              <a:spcAft>
                <a:spcPct val="0"/>
              </a:spcAft>
              <a:buFont typeface="Wingdings" panose="05000000000000000000" pitchFamily="2" charset="2"/>
              <a:buChar char="v"/>
            </a:pPr>
            <a:r>
              <a:rPr lang="en-IN" sz="2200" dirty="0" smtClean="0"/>
              <a:t>Clustering</a:t>
            </a:r>
          </a:p>
          <a:p>
            <a:pPr lvl="2" fontAlgn="base">
              <a:spcAft>
                <a:spcPct val="0"/>
              </a:spcAft>
              <a:buFont typeface="Wingdings" panose="05000000000000000000" pitchFamily="2" charset="2"/>
              <a:buChar char="v"/>
            </a:pPr>
            <a:r>
              <a:rPr lang="en-IN" sz="2200" dirty="0" smtClean="0">
                <a:latin typeface="Arial" panose="020B0604020202020204" pitchFamily="34" charset="0"/>
                <a:cs typeface="Arial" panose="020B0604020202020204" pitchFamily="34" charset="0"/>
              </a:rPr>
              <a:t>Node Clustering</a:t>
            </a:r>
          </a:p>
          <a:p>
            <a:pPr lvl="2" fontAlgn="base">
              <a:spcAft>
                <a:spcPct val="0"/>
              </a:spcAft>
              <a:buFont typeface="Wingdings" panose="05000000000000000000" pitchFamily="2" charset="2"/>
              <a:buChar char="v"/>
            </a:pPr>
            <a:r>
              <a:rPr lang="en-IN" sz="2200" dirty="0" smtClean="0">
                <a:latin typeface="Arial" panose="020B0604020202020204" pitchFamily="34" charset="0"/>
                <a:cs typeface="Arial" panose="020B0604020202020204" pitchFamily="34" charset="0"/>
              </a:rPr>
              <a:t>Graph Clustering</a:t>
            </a:r>
          </a:p>
          <a:p>
            <a:pPr lvl="1" fontAlgn="base">
              <a:spcAft>
                <a:spcPct val="0"/>
              </a:spcAft>
              <a:buFont typeface="Wingdings" panose="05000000000000000000" pitchFamily="2" charset="2"/>
              <a:buChar char="v"/>
            </a:pPr>
            <a:r>
              <a:rPr lang="en-IN" sz="2200" dirty="0" smtClean="0"/>
              <a:t>Classification</a:t>
            </a:r>
          </a:p>
          <a:p>
            <a:pPr lvl="2" fontAlgn="base">
              <a:spcAft>
                <a:spcPct val="0"/>
              </a:spcAft>
              <a:buFont typeface="Wingdings" panose="05000000000000000000" pitchFamily="2" charset="2"/>
              <a:buChar char="v"/>
            </a:pPr>
            <a:r>
              <a:rPr lang="en-IN" sz="2200" dirty="0" smtClean="0">
                <a:latin typeface="Arial" panose="020B0604020202020204" pitchFamily="34" charset="0"/>
                <a:cs typeface="Arial" panose="020B0604020202020204" pitchFamily="34" charset="0"/>
              </a:rPr>
              <a:t>Label Propagation</a:t>
            </a:r>
          </a:p>
          <a:p>
            <a:pPr lvl="2" fontAlgn="base">
              <a:spcAft>
                <a:spcPct val="0"/>
              </a:spcAft>
              <a:buFont typeface="Wingdings" panose="05000000000000000000" pitchFamily="2" charset="2"/>
              <a:buChar char="v"/>
            </a:pPr>
            <a:r>
              <a:rPr lang="en-IN" sz="2200" dirty="0" smtClean="0">
                <a:latin typeface="Arial" panose="020B0604020202020204" pitchFamily="34" charset="0"/>
                <a:cs typeface="Arial" panose="020B0604020202020204" pitchFamily="34" charset="0"/>
              </a:rPr>
              <a:t>Graph Classification</a:t>
            </a:r>
          </a:p>
          <a:p>
            <a:pPr lvl="1" fontAlgn="base">
              <a:spcAft>
                <a:spcPct val="0"/>
              </a:spcAft>
              <a:buFont typeface="Wingdings" panose="05000000000000000000" pitchFamily="2" charset="2"/>
              <a:buChar char="v"/>
            </a:pPr>
            <a:r>
              <a:rPr lang="en-IN" sz="2200" dirty="0"/>
              <a:t>Graph Compression</a:t>
            </a:r>
          </a:p>
          <a:p>
            <a:pPr lvl="1" fontAlgn="base">
              <a:spcAft>
                <a:spcPct val="0"/>
              </a:spcAft>
              <a:buFont typeface="Wingdings" panose="05000000000000000000" pitchFamily="2" charset="2"/>
              <a:buChar char="v"/>
            </a:pPr>
            <a:r>
              <a:rPr lang="en-IN" sz="2200" dirty="0"/>
              <a:t>Other important topics </a:t>
            </a:r>
            <a:endParaRPr lang="en-IN" sz="2200" dirty="0" smtClean="0"/>
          </a:p>
          <a:p>
            <a:pPr lvl="2" fontAlgn="base">
              <a:spcAft>
                <a:spcPct val="0"/>
              </a:spcAft>
              <a:buFont typeface="Wingdings" panose="05000000000000000000" pitchFamily="2" charset="2"/>
              <a:buChar char="v"/>
            </a:pPr>
            <a:r>
              <a:rPr lang="en-IN" sz="2200" dirty="0" smtClean="0">
                <a:latin typeface="Arial" panose="020B0604020202020204" pitchFamily="34" charset="0"/>
                <a:cs typeface="Arial" panose="020B0604020202020204" pitchFamily="34" charset="0"/>
              </a:rPr>
              <a:t>(</a:t>
            </a:r>
            <a:r>
              <a:rPr lang="en-IN" sz="2200" dirty="0">
                <a:latin typeface="Arial" panose="020B0604020202020204" pitchFamily="34" charset="0"/>
                <a:cs typeface="Arial" panose="020B0604020202020204" pitchFamily="34" charset="0"/>
              </a:rPr>
              <a:t>graph model, laws, graph dynamics, social network analysis</a:t>
            </a:r>
            <a:r>
              <a:rPr lang="en-IN" sz="2200" dirty="0" smtClean="0">
                <a:latin typeface="Arial" panose="020B0604020202020204" pitchFamily="34" charset="0"/>
                <a:cs typeface="Arial" panose="020B0604020202020204" pitchFamily="34" charset="0"/>
              </a:rPr>
              <a:t>, visualization</a:t>
            </a:r>
            <a:r>
              <a:rPr lang="en-IN" sz="2200" dirty="0">
                <a:latin typeface="Arial" panose="020B0604020202020204" pitchFamily="34" charset="0"/>
                <a:cs typeface="Arial" panose="020B0604020202020204" pitchFamily="34" charset="0"/>
              </a:rPr>
              <a:t>, summarization, graph clustering, link analysis, …)</a:t>
            </a:r>
            <a:endParaRPr lang="en-IN" sz="22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pPr>
              <a:defRPr/>
            </a:pPr>
            <a:r>
              <a:rPr lang="en-US" dirty="0"/>
              <a:t>Course </a:t>
            </a:r>
            <a:r>
              <a:rPr lang="en-US" dirty="0" smtClean="0"/>
              <a:t>Outline ….</a:t>
            </a:r>
            <a:endParaRPr lang="en-US" dirty="0"/>
          </a:p>
        </p:txBody>
      </p:sp>
    </p:spTree>
    <p:extLst>
      <p:ext uri="{BB962C8B-B14F-4D97-AF65-F5344CB8AC3E}">
        <p14:creationId xmlns:p14="http://schemas.microsoft.com/office/powerpoint/2010/main" val="3377979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229600" cy="4876800"/>
          </a:xfrm>
        </p:spPr>
        <p:txBody>
          <a:bodyPr>
            <a:noAutofit/>
          </a:bodyPr>
          <a:lstStyle/>
          <a:p>
            <a:pPr>
              <a:buFont typeface="Wingdings" panose="05000000000000000000" pitchFamily="2" charset="2"/>
              <a:buChar char="v"/>
            </a:pPr>
            <a:r>
              <a:rPr lang="en-IN" dirty="0" smtClean="0"/>
              <a:t>Graph Terminologies.</a:t>
            </a:r>
          </a:p>
          <a:p>
            <a:pPr lvl="1">
              <a:buFont typeface="Wingdings" panose="05000000000000000000" pitchFamily="2" charset="2"/>
              <a:buChar char="v"/>
            </a:pPr>
            <a:r>
              <a:rPr lang="en-US" sz="2400" dirty="0" smtClean="0"/>
              <a:t>Nodes</a:t>
            </a:r>
          </a:p>
          <a:p>
            <a:pPr lvl="1">
              <a:buFont typeface="Wingdings" panose="05000000000000000000" pitchFamily="2" charset="2"/>
              <a:buChar char="v"/>
            </a:pPr>
            <a:r>
              <a:rPr lang="en-US" sz="2400" dirty="0" smtClean="0"/>
              <a:t>Edges</a:t>
            </a:r>
          </a:p>
          <a:p>
            <a:pPr lvl="1">
              <a:buFont typeface="Wingdings" panose="05000000000000000000" pitchFamily="2" charset="2"/>
              <a:buChar char="v"/>
            </a:pPr>
            <a:r>
              <a:rPr lang="en-US" sz="2400" dirty="0" smtClean="0"/>
              <a:t>Degree and Degree distribution</a:t>
            </a:r>
          </a:p>
          <a:p>
            <a:pPr lvl="1">
              <a:buFont typeface="Wingdings" panose="05000000000000000000" pitchFamily="2" charset="2"/>
              <a:buChar char="v"/>
            </a:pPr>
            <a:r>
              <a:rPr lang="en-IN" sz="2400" dirty="0" smtClean="0"/>
              <a:t>Weighted - unweighted, </a:t>
            </a:r>
          </a:p>
          <a:p>
            <a:pPr lvl="1">
              <a:buFont typeface="Wingdings" panose="05000000000000000000" pitchFamily="2" charset="2"/>
              <a:buChar char="v"/>
            </a:pPr>
            <a:r>
              <a:rPr lang="en-IN" sz="2400" dirty="0" smtClean="0"/>
              <a:t>Storage of graph: Matrix-list.. </a:t>
            </a:r>
          </a:p>
          <a:p>
            <a:pPr lvl="1">
              <a:buFont typeface="Wingdings" panose="05000000000000000000" pitchFamily="2" charset="2"/>
              <a:buChar char="v"/>
            </a:pPr>
            <a:r>
              <a:rPr lang="en-US" sz="2400" dirty="0" smtClean="0"/>
              <a:t>Tree, Forest, Spanning tree</a:t>
            </a:r>
          </a:p>
          <a:p>
            <a:pPr lvl="1">
              <a:buFont typeface="Wingdings" panose="05000000000000000000" pitchFamily="2" charset="2"/>
              <a:buChar char="v"/>
            </a:pPr>
            <a:r>
              <a:rPr lang="en-US" sz="2400" dirty="0" smtClean="0"/>
              <a:t>Traversal: DFS, BFS</a:t>
            </a:r>
          </a:p>
          <a:p>
            <a:pPr lvl="1">
              <a:buFont typeface="Wingdings" panose="05000000000000000000" pitchFamily="2" charset="2"/>
              <a:buChar char="v"/>
            </a:pPr>
            <a:r>
              <a:rPr lang="en-US" sz="2400" dirty="0" smtClean="0"/>
              <a:t>Paths, </a:t>
            </a:r>
            <a:r>
              <a:rPr lang="en-IN" sz="2400" dirty="0"/>
              <a:t>Connected – disconnected</a:t>
            </a:r>
          </a:p>
          <a:p>
            <a:pPr lvl="1">
              <a:buFont typeface="Wingdings" panose="05000000000000000000" pitchFamily="2" charset="2"/>
              <a:buChar char="v"/>
            </a:pPr>
            <a:endParaRPr lang="en-IN" sz="2400" dirty="0" smtClean="0"/>
          </a:p>
          <a:p>
            <a:pPr lvl="1">
              <a:buFont typeface="Wingdings" panose="05000000000000000000" pitchFamily="2" charset="2"/>
              <a:buChar char="v"/>
            </a:pPr>
            <a:endParaRPr lang="en-IN" sz="2400" dirty="0" smtClean="0"/>
          </a:p>
        </p:txBody>
      </p:sp>
      <p:sp>
        <p:nvSpPr>
          <p:cNvPr id="4" name="Content Placeholder 2"/>
          <p:cNvSpPr>
            <a:spLocks noGrp="1"/>
          </p:cNvSpPr>
          <p:nvPr>
            <p:ph sz="quarter" idx="10"/>
          </p:nvPr>
        </p:nvSpPr>
        <p:spPr/>
        <p:txBody>
          <a:bodyPr/>
          <a:lstStyle/>
          <a:p>
            <a:r>
              <a:rPr lang="en-IN" dirty="0" smtClean="0"/>
              <a:t>Prerequisite</a:t>
            </a:r>
            <a:endParaRPr lang="en-IN" dirty="0"/>
          </a:p>
        </p:txBody>
      </p:sp>
      <p:pic>
        <p:nvPicPr>
          <p:cNvPr id="3" name="Picture 2"/>
          <p:cNvPicPr>
            <a:picLocks noChangeAspect="1"/>
          </p:cNvPicPr>
          <p:nvPr/>
        </p:nvPicPr>
        <p:blipFill>
          <a:blip r:embed="rId2"/>
          <a:stretch>
            <a:fillRect/>
          </a:stretch>
        </p:blipFill>
        <p:spPr>
          <a:xfrm>
            <a:off x="6019800" y="758536"/>
            <a:ext cx="2959686" cy="2437603"/>
          </a:xfrm>
          <a:prstGeom prst="rect">
            <a:avLst/>
          </a:prstGeom>
        </p:spPr>
      </p:pic>
      <p:pic>
        <p:nvPicPr>
          <p:cNvPr id="5" name="Picture 4"/>
          <p:cNvPicPr>
            <a:picLocks noChangeAspect="1"/>
          </p:cNvPicPr>
          <p:nvPr/>
        </p:nvPicPr>
        <p:blipFill>
          <a:blip r:embed="rId3"/>
          <a:stretch>
            <a:fillRect/>
          </a:stretch>
        </p:blipFill>
        <p:spPr>
          <a:xfrm>
            <a:off x="4207819" y="3827162"/>
            <a:ext cx="4732229" cy="1125838"/>
          </a:xfrm>
          <a:prstGeom prst="rect">
            <a:avLst/>
          </a:prstGeom>
        </p:spPr>
      </p:pic>
    </p:spTree>
    <p:extLst>
      <p:ext uri="{BB962C8B-B14F-4D97-AF65-F5344CB8AC3E}">
        <p14:creationId xmlns:p14="http://schemas.microsoft.com/office/powerpoint/2010/main" val="89866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229600" cy="4876800"/>
          </a:xfrm>
        </p:spPr>
        <p:txBody>
          <a:bodyPr>
            <a:noAutofit/>
          </a:bodyPr>
          <a:lstStyle/>
          <a:p>
            <a:pPr>
              <a:buFont typeface="Wingdings" panose="05000000000000000000" pitchFamily="2" charset="2"/>
              <a:buChar char="v"/>
            </a:pPr>
            <a:r>
              <a:rPr lang="en-IN" sz="2000" dirty="0" smtClean="0"/>
              <a:t>NP Complete Problems.</a:t>
            </a:r>
          </a:p>
          <a:p>
            <a:pPr>
              <a:buFont typeface="Wingdings" panose="05000000000000000000" pitchFamily="2" charset="2"/>
              <a:buChar char="v"/>
            </a:pPr>
            <a:r>
              <a:rPr lang="en-IN" sz="2000" dirty="0" smtClean="0"/>
              <a:t>Graph Isomorphism.</a:t>
            </a:r>
          </a:p>
          <a:p>
            <a:pPr>
              <a:buFont typeface="Wingdings" panose="05000000000000000000" pitchFamily="2" charset="2"/>
              <a:buChar char="v"/>
            </a:pPr>
            <a:r>
              <a:rPr lang="en-IN" sz="2000" dirty="0" smtClean="0"/>
              <a:t>Graph Matching.</a:t>
            </a:r>
          </a:p>
          <a:p>
            <a:pPr lvl="1">
              <a:buFont typeface="Wingdings" panose="05000000000000000000" pitchFamily="2" charset="2"/>
              <a:buChar char="v"/>
            </a:pPr>
            <a:r>
              <a:rPr lang="en-IN" sz="2000" dirty="0" smtClean="0"/>
              <a:t>Edit Distance</a:t>
            </a:r>
          </a:p>
          <a:p>
            <a:pPr>
              <a:buFont typeface="Wingdings" panose="05000000000000000000" pitchFamily="2" charset="2"/>
              <a:buChar char="v"/>
            </a:pPr>
            <a:r>
              <a:rPr lang="en-IN" sz="2000" dirty="0" smtClean="0"/>
              <a:t>Sub Graph Isomorphism.</a:t>
            </a:r>
          </a:p>
          <a:p>
            <a:pPr>
              <a:buFont typeface="Wingdings" panose="05000000000000000000" pitchFamily="2" charset="2"/>
              <a:buChar char="v"/>
            </a:pPr>
            <a:r>
              <a:rPr lang="en-IN" sz="2000" dirty="0"/>
              <a:t>Graph Summarization </a:t>
            </a:r>
            <a:endParaRPr lang="en-IN" sz="2000" dirty="0" smtClean="0"/>
          </a:p>
          <a:p>
            <a:pPr lvl="1">
              <a:buFont typeface="Wingdings" panose="05000000000000000000" pitchFamily="2" charset="2"/>
              <a:buChar char="v"/>
            </a:pPr>
            <a:r>
              <a:rPr lang="en-IN" sz="2000" dirty="0" smtClean="0"/>
              <a:t>Google Maps example</a:t>
            </a:r>
          </a:p>
          <a:p>
            <a:pPr>
              <a:buFont typeface="Wingdings" panose="05000000000000000000" pitchFamily="2" charset="2"/>
              <a:buChar char="v"/>
            </a:pPr>
            <a:r>
              <a:rPr lang="en-IN" sz="2000" dirty="0" smtClean="0"/>
              <a:t>Graph Partitioning</a:t>
            </a:r>
          </a:p>
          <a:p>
            <a:pPr lvl="1">
              <a:buFont typeface="Wingdings" panose="05000000000000000000" pitchFamily="2" charset="2"/>
              <a:buChar char="v"/>
            </a:pPr>
            <a:r>
              <a:rPr lang="en-IN" sz="2000" dirty="0" smtClean="0"/>
              <a:t>Cut Vertex</a:t>
            </a:r>
          </a:p>
          <a:p>
            <a:pPr lvl="1">
              <a:buFont typeface="Wingdings" panose="05000000000000000000" pitchFamily="2" charset="2"/>
              <a:buChar char="v"/>
            </a:pPr>
            <a:r>
              <a:rPr lang="en-IN" sz="2000" dirty="0" smtClean="0"/>
              <a:t>Cut Edge</a:t>
            </a:r>
          </a:p>
          <a:p>
            <a:pPr lvl="1">
              <a:buFont typeface="Wingdings" panose="05000000000000000000" pitchFamily="2" charset="2"/>
              <a:buChar char="v"/>
            </a:pPr>
            <a:r>
              <a:rPr lang="en-US" sz="2000" dirty="0" smtClean="0"/>
              <a:t>Bipartite graph</a:t>
            </a:r>
            <a:endParaRPr lang="en-IN" sz="2000" dirty="0" smtClean="0"/>
          </a:p>
        </p:txBody>
      </p:sp>
      <p:sp>
        <p:nvSpPr>
          <p:cNvPr id="4" name="Content Placeholder 2"/>
          <p:cNvSpPr>
            <a:spLocks noGrp="1"/>
          </p:cNvSpPr>
          <p:nvPr>
            <p:ph sz="quarter" idx="10"/>
          </p:nvPr>
        </p:nvSpPr>
        <p:spPr/>
        <p:txBody>
          <a:bodyPr/>
          <a:lstStyle/>
          <a:p>
            <a:r>
              <a:rPr lang="en-IN" dirty="0" smtClean="0"/>
              <a:t>Prerequisite</a:t>
            </a:r>
            <a:endParaRPr lang="en-IN" dirty="0"/>
          </a:p>
        </p:txBody>
      </p:sp>
      <p:pic>
        <p:nvPicPr>
          <p:cNvPr id="3" name="Picture 2"/>
          <p:cNvPicPr>
            <a:picLocks noChangeAspect="1"/>
          </p:cNvPicPr>
          <p:nvPr/>
        </p:nvPicPr>
        <p:blipFill>
          <a:blip r:embed="rId2"/>
          <a:stretch>
            <a:fillRect/>
          </a:stretch>
        </p:blipFill>
        <p:spPr>
          <a:xfrm>
            <a:off x="3962400" y="723900"/>
            <a:ext cx="5062257" cy="2062163"/>
          </a:xfrm>
          <a:prstGeom prst="rect">
            <a:avLst/>
          </a:prstGeom>
        </p:spPr>
      </p:pic>
      <p:grpSp>
        <p:nvGrpSpPr>
          <p:cNvPr id="8" name="Group 7"/>
          <p:cNvGrpSpPr/>
          <p:nvPr/>
        </p:nvGrpSpPr>
        <p:grpSpPr>
          <a:xfrm>
            <a:off x="3962400" y="2792990"/>
            <a:ext cx="5062257" cy="2085976"/>
            <a:chOff x="3962400" y="2792990"/>
            <a:chExt cx="5062257" cy="2085976"/>
          </a:xfrm>
        </p:grpSpPr>
        <p:pic>
          <p:nvPicPr>
            <p:cNvPr id="5" name="Picture 4"/>
            <p:cNvPicPr>
              <a:picLocks noChangeAspect="1"/>
            </p:cNvPicPr>
            <p:nvPr/>
          </p:nvPicPr>
          <p:blipFill>
            <a:blip r:embed="rId3"/>
            <a:stretch>
              <a:fillRect/>
            </a:stretch>
          </p:blipFill>
          <p:spPr>
            <a:xfrm>
              <a:off x="3962400" y="2792990"/>
              <a:ext cx="1905000" cy="2085975"/>
            </a:xfrm>
            <a:prstGeom prst="rect">
              <a:avLst/>
            </a:prstGeom>
          </p:spPr>
        </p:pic>
        <p:pic>
          <p:nvPicPr>
            <p:cNvPr id="7" name="Picture 6"/>
            <p:cNvPicPr>
              <a:picLocks noChangeAspect="1"/>
            </p:cNvPicPr>
            <p:nvPr/>
          </p:nvPicPr>
          <p:blipFill>
            <a:blip r:embed="rId4"/>
            <a:stretch>
              <a:fillRect/>
            </a:stretch>
          </p:blipFill>
          <p:spPr>
            <a:xfrm>
              <a:off x="7315200" y="2792990"/>
              <a:ext cx="1709457" cy="2085976"/>
            </a:xfrm>
            <a:prstGeom prst="rect">
              <a:avLst/>
            </a:prstGeom>
          </p:spPr>
        </p:pic>
      </p:grpSp>
    </p:spTree>
    <p:extLst>
      <p:ext uri="{BB962C8B-B14F-4D97-AF65-F5344CB8AC3E}">
        <p14:creationId xmlns:p14="http://schemas.microsoft.com/office/powerpoint/2010/main" val="2259142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buFont typeface="Wingdings" panose="05000000000000000000" pitchFamily="2" charset="2"/>
              <a:buChar char="v"/>
            </a:pPr>
            <a:r>
              <a:rPr lang="en-US" dirty="0" smtClean="0"/>
              <a:t>Random Walk</a:t>
            </a:r>
            <a:endParaRPr lang="en-IN" dirty="0" smtClean="0"/>
          </a:p>
          <a:p>
            <a:pPr>
              <a:buFont typeface="Wingdings" panose="05000000000000000000" pitchFamily="2" charset="2"/>
              <a:buChar char="v"/>
            </a:pPr>
            <a:r>
              <a:rPr lang="en-IN" dirty="0" smtClean="0"/>
              <a:t>Cliques</a:t>
            </a:r>
          </a:p>
          <a:p>
            <a:pPr>
              <a:buFont typeface="Wingdings" panose="05000000000000000000" pitchFamily="2" charset="2"/>
              <a:buChar char="v"/>
            </a:pPr>
            <a:r>
              <a:rPr lang="en-IN" dirty="0" smtClean="0"/>
              <a:t>Planar &amp; Non Planar Graphs.</a:t>
            </a:r>
          </a:p>
          <a:p>
            <a:pPr>
              <a:buFont typeface="Wingdings" panose="05000000000000000000" pitchFamily="2" charset="2"/>
              <a:buChar char="v"/>
            </a:pPr>
            <a:r>
              <a:rPr lang="en-IN" dirty="0" smtClean="0"/>
              <a:t>Pattern Matching.</a:t>
            </a:r>
          </a:p>
          <a:p>
            <a:pPr>
              <a:buFont typeface="Wingdings" panose="05000000000000000000" pitchFamily="2" charset="2"/>
              <a:buChar char="v"/>
            </a:pPr>
            <a:r>
              <a:rPr lang="en-IN" dirty="0" smtClean="0"/>
              <a:t>Disk Resident Graphs.</a:t>
            </a:r>
          </a:p>
          <a:p>
            <a:pPr lvl="1">
              <a:buFont typeface="Wingdings" panose="05000000000000000000" pitchFamily="2" charset="2"/>
              <a:buChar char="v"/>
            </a:pPr>
            <a:r>
              <a:rPr lang="en-IN" sz="2400" dirty="0" smtClean="0"/>
              <a:t>Why </a:t>
            </a:r>
            <a:r>
              <a:rPr lang="en-IN" sz="2400" dirty="0"/>
              <a:t>the algorithms using </a:t>
            </a:r>
            <a:r>
              <a:rPr lang="en-IN" sz="2400" dirty="0" smtClean="0"/>
              <a:t>random </a:t>
            </a:r>
            <a:r>
              <a:rPr lang="en-IN" sz="2400" dirty="0"/>
              <a:t>edges/nodes are not suitable for disk resident </a:t>
            </a:r>
            <a:r>
              <a:rPr lang="en-IN" sz="2400" dirty="0" smtClean="0"/>
              <a:t>graphs</a:t>
            </a:r>
          </a:p>
          <a:p>
            <a:pPr>
              <a:buFont typeface="Wingdings" panose="05000000000000000000" pitchFamily="2" charset="2"/>
              <a:buChar char="v"/>
            </a:pPr>
            <a:r>
              <a:rPr lang="en-IN" dirty="0"/>
              <a:t>Graph Connectivity, </a:t>
            </a:r>
            <a:endParaRPr lang="en-IN" dirty="0" smtClean="0"/>
          </a:p>
          <a:p>
            <a:pPr lvl="1">
              <a:buFont typeface="Wingdings" panose="05000000000000000000" pitchFamily="2" charset="2"/>
              <a:buChar char="v"/>
            </a:pPr>
            <a:r>
              <a:rPr lang="en-IN" sz="2400" dirty="0" smtClean="0"/>
              <a:t>Max </a:t>
            </a:r>
            <a:r>
              <a:rPr lang="en-IN" sz="2400" dirty="0"/>
              <a:t>Flow - </a:t>
            </a:r>
            <a:r>
              <a:rPr lang="en-IN" sz="2400" dirty="0" smtClean="0"/>
              <a:t>Min </a:t>
            </a:r>
            <a:r>
              <a:rPr lang="en-IN" sz="2400" dirty="0"/>
              <a:t>Cut </a:t>
            </a:r>
            <a:endParaRPr lang="en-IN" sz="2400" dirty="0" smtClean="0"/>
          </a:p>
          <a:p>
            <a:pPr>
              <a:buFont typeface="Wingdings" panose="05000000000000000000" pitchFamily="2" charset="2"/>
              <a:buChar char="v"/>
            </a:pPr>
            <a:r>
              <a:rPr lang="en-IN" dirty="0" smtClean="0"/>
              <a:t>Connected </a:t>
            </a:r>
            <a:r>
              <a:rPr lang="en-IN" dirty="0"/>
              <a:t>C</a:t>
            </a:r>
            <a:r>
              <a:rPr lang="en-IN" dirty="0" smtClean="0"/>
              <a:t>omponents</a:t>
            </a:r>
          </a:p>
          <a:p>
            <a:pPr lvl="1">
              <a:buFont typeface="Wingdings" panose="05000000000000000000" pitchFamily="2" charset="2"/>
              <a:buChar char="v"/>
            </a:pPr>
            <a:r>
              <a:rPr lang="en-IN" sz="2400" dirty="0" smtClean="0"/>
              <a:t>Largest Connected Components</a:t>
            </a:r>
          </a:p>
          <a:p>
            <a:pPr>
              <a:buFont typeface="Wingdings" panose="05000000000000000000" pitchFamily="2" charset="2"/>
              <a:buChar char="v"/>
            </a:pPr>
            <a:r>
              <a:rPr lang="en-IN" dirty="0" smtClean="0"/>
              <a:t>Lowest common ancestor.</a:t>
            </a:r>
          </a:p>
          <a:p>
            <a:pPr>
              <a:buFont typeface="Wingdings" panose="05000000000000000000" pitchFamily="2" charset="2"/>
              <a:buChar char="v"/>
            </a:pPr>
            <a:r>
              <a:rPr lang="en-IN" dirty="0" smtClean="0"/>
              <a:t>……</a:t>
            </a:r>
          </a:p>
          <a:p>
            <a:pPr lvl="1">
              <a:buFont typeface="Wingdings" panose="05000000000000000000" pitchFamily="2" charset="2"/>
              <a:buChar char="v"/>
            </a:pPr>
            <a:endParaRPr lang="en-IN" sz="2400" dirty="0" smtClean="0"/>
          </a:p>
          <a:p>
            <a:pPr>
              <a:buFont typeface="Wingdings" panose="05000000000000000000" pitchFamily="2" charset="2"/>
              <a:buChar char="v"/>
            </a:pPr>
            <a:endParaRPr lang="en-IN" dirty="0" smtClean="0"/>
          </a:p>
          <a:p>
            <a:endParaRPr lang="en-IN" dirty="0"/>
          </a:p>
        </p:txBody>
      </p:sp>
      <p:sp>
        <p:nvSpPr>
          <p:cNvPr id="4" name="Content Placeholder 2"/>
          <p:cNvSpPr>
            <a:spLocks noGrp="1"/>
          </p:cNvSpPr>
          <p:nvPr>
            <p:ph sz="quarter" idx="10"/>
          </p:nvPr>
        </p:nvSpPr>
        <p:spPr/>
        <p:txBody>
          <a:bodyPr/>
          <a:lstStyle/>
          <a:p>
            <a:r>
              <a:rPr lang="en-IN" dirty="0" smtClean="0"/>
              <a:t>Prerequisite….</a:t>
            </a:r>
            <a:endParaRPr lang="en-IN" dirty="0"/>
          </a:p>
        </p:txBody>
      </p:sp>
    </p:spTree>
    <p:extLst>
      <p:ext uri="{BB962C8B-B14F-4D97-AF65-F5344CB8AC3E}">
        <p14:creationId xmlns:p14="http://schemas.microsoft.com/office/powerpoint/2010/main" val="250563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Topics for Assignments/Presentation</a:t>
            </a:r>
            <a:endParaRPr lang="en-IN" dirty="0"/>
          </a:p>
        </p:txBody>
      </p:sp>
      <p:sp>
        <p:nvSpPr>
          <p:cNvPr id="5" name="Content Placeholder 4"/>
          <p:cNvSpPr>
            <a:spLocks noGrp="1"/>
          </p:cNvSpPr>
          <p:nvPr>
            <p:ph idx="1"/>
          </p:nvPr>
        </p:nvSpPr>
        <p:spPr/>
        <p:txBody>
          <a:bodyPr/>
          <a:lstStyle/>
          <a:p>
            <a:pPr marL="457200" indent="-457200">
              <a:buFont typeface="+mj-lt"/>
              <a:buAutoNum type="arabicPeriod"/>
            </a:pPr>
            <a:r>
              <a:rPr lang="en-US" dirty="0" smtClean="0"/>
              <a:t>Graph Isomorphic algorithms</a:t>
            </a:r>
          </a:p>
          <a:p>
            <a:pPr marL="457200" indent="-457200">
              <a:buFont typeface="+mj-lt"/>
              <a:buAutoNum type="arabicPeriod"/>
            </a:pPr>
            <a:r>
              <a:rPr lang="en-US" dirty="0" smtClean="0"/>
              <a:t>Diameter </a:t>
            </a:r>
            <a:r>
              <a:rPr lang="en-US" dirty="0"/>
              <a:t>&amp; </a:t>
            </a:r>
            <a:r>
              <a:rPr lang="en-US" dirty="0" smtClean="0"/>
              <a:t>Reachability calculation algorithm</a:t>
            </a:r>
          </a:p>
          <a:p>
            <a:pPr marL="457200" indent="-457200">
              <a:buFont typeface="+mj-lt"/>
              <a:buAutoNum type="arabicPeriod"/>
            </a:pPr>
            <a:r>
              <a:rPr lang="en-US" dirty="0" smtClean="0"/>
              <a:t>Topic sensitive page rank algorithm</a:t>
            </a:r>
          </a:p>
          <a:p>
            <a:pPr marL="457200" indent="-457200">
              <a:buFont typeface="+mj-lt"/>
              <a:buAutoNum type="arabicPeriod"/>
            </a:pPr>
            <a:r>
              <a:rPr lang="en-US" dirty="0" err="1" smtClean="0"/>
              <a:t>SimRank</a:t>
            </a:r>
            <a:r>
              <a:rPr lang="en-US" dirty="0" smtClean="0"/>
              <a:t> algorithm </a:t>
            </a:r>
            <a:endParaRPr lang="en-US" dirty="0"/>
          </a:p>
          <a:p>
            <a:pPr marL="457200" indent="-457200">
              <a:buFont typeface="+mj-lt"/>
              <a:buAutoNum type="arabicPeriod"/>
            </a:pPr>
            <a:r>
              <a:rPr lang="en-IN" dirty="0" err="1" smtClean="0"/>
              <a:t>Kerninghan</a:t>
            </a:r>
            <a:r>
              <a:rPr lang="en-IN" dirty="0" smtClean="0"/>
              <a:t>-Lin algorithm &amp; </a:t>
            </a:r>
            <a:r>
              <a:rPr lang="en-IN" dirty="0"/>
              <a:t>The Girvan-Newman Algorithm</a:t>
            </a:r>
          </a:p>
          <a:p>
            <a:pPr marL="457200" indent="-457200">
              <a:buFont typeface="+mj-lt"/>
              <a:buAutoNum type="arabicPeriod"/>
            </a:pPr>
            <a:r>
              <a:rPr lang="en-US" dirty="0" err="1" smtClean="0"/>
              <a:t>gSpan</a:t>
            </a:r>
            <a:r>
              <a:rPr lang="en-US" dirty="0" smtClean="0"/>
              <a:t> Algorithm</a:t>
            </a:r>
            <a:endParaRPr lang="en-IN" dirty="0"/>
          </a:p>
          <a:p>
            <a:pPr marL="457200" indent="-457200">
              <a:buFont typeface="+mj-lt"/>
              <a:buAutoNum type="arabicPeriod"/>
            </a:pPr>
            <a:endParaRPr lang="en-IN" dirty="0"/>
          </a:p>
        </p:txBody>
      </p:sp>
    </p:spTree>
    <p:extLst>
      <p:ext uri="{BB962C8B-B14F-4D97-AF65-F5344CB8AC3E}">
        <p14:creationId xmlns:p14="http://schemas.microsoft.com/office/powerpoint/2010/main" val="31616489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382000" cy="4525963"/>
          </a:xfrm>
        </p:spPr>
        <p:txBody>
          <a:bodyPr/>
          <a:lstStyle/>
          <a:p>
            <a:pPr marL="457200" indent="-457200">
              <a:buFont typeface="+mj-lt"/>
              <a:buAutoNum type="arabicPeriod"/>
            </a:pPr>
            <a:r>
              <a:rPr lang="en-IN" dirty="0" smtClean="0"/>
              <a:t>Write short notes on each of the graph algorithms named.</a:t>
            </a:r>
          </a:p>
          <a:p>
            <a:pPr marL="457200" indent="-457200">
              <a:buFont typeface="+mj-lt"/>
              <a:buAutoNum type="arabicPeriod"/>
            </a:pPr>
            <a:r>
              <a:rPr lang="en-IN" dirty="0" smtClean="0"/>
              <a:t>Solve (through Dry Run), atleast one graph problem of size not less than 10 nodes, for each of the algorithm. </a:t>
            </a:r>
            <a:r>
              <a:rPr lang="en-IN" sz="2000" i="1" dirty="0" smtClean="0"/>
              <a:t>(use internet and your previous text books for algorithms or pseudocode)</a:t>
            </a:r>
            <a:endParaRPr lang="en-IN" i="1" dirty="0" smtClean="0"/>
          </a:p>
          <a:p>
            <a:pPr marL="457200" indent="-457200">
              <a:buFont typeface="+mj-lt"/>
              <a:buAutoNum type="arabicPeriod"/>
            </a:pPr>
            <a:r>
              <a:rPr lang="en-IN" dirty="0" smtClean="0"/>
              <a:t>Submit individually (on portal) on or before</a:t>
            </a:r>
          </a:p>
          <a:p>
            <a:pPr marL="0" indent="0"/>
            <a:endParaRPr lang="en-IN" dirty="0" smtClean="0"/>
          </a:p>
          <a:p>
            <a:pPr marL="0" indent="0"/>
            <a:r>
              <a:rPr lang="en-IN" b="1" i="1" dirty="0" smtClean="0"/>
              <a:t>No extension of any timeline unless our server is down.</a:t>
            </a:r>
          </a:p>
          <a:p>
            <a:endParaRPr lang="en-IN" dirty="0"/>
          </a:p>
        </p:txBody>
      </p:sp>
      <p:sp>
        <p:nvSpPr>
          <p:cNvPr id="3" name="Content Placeholder 2"/>
          <p:cNvSpPr>
            <a:spLocks noGrp="1"/>
          </p:cNvSpPr>
          <p:nvPr>
            <p:ph sz="quarter" idx="10"/>
          </p:nvPr>
        </p:nvSpPr>
        <p:spPr/>
        <p:txBody>
          <a:bodyPr/>
          <a:lstStyle/>
          <a:p>
            <a:r>
              <a:rPr lang="en-IN" dirty="0" smtClean="0"/>
              <a:t>Assignment #1</a:t>
            </a:r>
            <a:endParaRPr lang="en-IN" dirty="0"/>
          </a:p>
        </p:txBody>
      </p:sp>
    </p:spTree>
    <p:extLst>
      <p:ext uri="{BB962C8B-B14F-4D97-AF65-F5344CB8AC3E}">
        <p14:creationId xmlns:p14="http://schemas.microsoft.com/office/powerpoint/2010/main" val="15406864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US" dirty="0" smtClean="0"/>
              <a:t>The Graph algorithms are broadly classified in two different cases:</a:t>
            </a:r>
          </a:p>
          <a:p>
            <a:pPr lvl="1">
              <a:buFont typeface="Wingdings" panose="05000000000000000000" pitchFamily="2" charset="2"/>
              <a:buChar char="v"/>
            </a:pPr>
            <a:r>
              <a:rPr lang="en-US" sz="2400" dirty="0"/>
              <a:t>Multiple graphs</a:t>
            </a:r>
          </a:p>
          <a:p>
            <a:pPr lvl="2">
              <a:buFont typeface="Wingdings" panose="05000000000000000000" pitchFamily="2" charset="2"/>
              <a:buChar char="v"/>
            </a:pPr>
            <a:r>
              <a:rPr lang="en-US" dirty="0">
                <a:latin typeface="Arial" panose="020B0604020202020204" pitchFamily="34" charset="0"/>
                <a:cs typeface="Arial" panose="020B0604020202020204" pitchFamily="34" charset="0"/>
              </a:rPr>
              <a:t>Chemical data</a:t>
            </a:r>
          </a:p>
          <a:p>
            <a:pPr lvl="2">
              <a:buFont typeface="Wingdings" panose="05000000000000000000" pitchFamily="2" charset="2"/>
              <a:buChar char="v"/>
            </a:pPr>
            <a:r>
              <a:rPr lang="en-US" dirty="0">
                <a:latin typeface="Arial" panose="020B0604020202020204" pitchFamily="34" charset="0"/>
                <a:cs typeface="Arial" panose="020B0604020202020204" pitchFamily="34" charset="0"/>
              </a:rPr>
              <a:t>Biological data</a:t>
            </a:r>
            <a:endParaRPr lang="en-IN" dirty="0">
              <a:latin typeface="Arial" panose="020B0604020202020204" pitchFamily="34" charset="0"/>
              <a:cs typeface="Arial" panose="020B0604020202020204" pitchFamily="34" charset="0"/>
            </a:endParaRPr>
          </a:p>
          <a:p>
            <a:pPr lvl="1">
              <a:buFont typeface="Wingdings" panose="05000000000000000000" pitchFamily="2" charset="2"/>
              <a:buChar char="v"/>
            </a:pPr>
            <a:r>
              <a:rPr lang="en-US" sz="2400" dirty="0" smtClean="0"/>
              <a:t>Single Large Graph</a:t>
            </a:r>
          </a:p>
          <a:p>
            <a:pPr lvl="2">
              <a:buFont typeface="Wingdings" panose="05000000000000000000" pitchFamily="2" charset="2"/>
              <a:buChar char="v"/>
            </a:pPr>
            <a:r>
              <a:rPr lang="en-US" dirty="0" smtClean="0">
                <a:latin typeface="Arial" panose="020B0604020202020204" pitchFamily="34" charset="0"/>
                <a:cs typeface="Arial" panose="020B0604020202020204" pitchFamily="34" charset="0"/>
              </a:rPr>
              <a:t>Web Graph</a:t>
            </a:r>
          </a:p>
          <a:p>
            <a:pPr lvl="2">
              <a:buFont typeface="Wingdings" panose="05000000000000000000" pitchFamily="2" charset="2"/>
              <a:buChar char="v"/>
            </a:pPr>
            <a:r>
              <a:rPr lang="en-US" dirty="0" smtClean="0">
                <a:latin typeface="Arial" panose="020B0604020202020204" pitchFamily="34" charset="0"/>
                <a:cs typeface="Arial" panose="020B0604020202020204" pitchFamily="34" charset="0"/>
              </a:rPr>
              <a:t>Social media graphs</a:t>
            </a:r>
          </a:p>
        </p:txBody>
      </p:sp>
      <p:sp>
        <p:nvSpPr>
          <p:cNvPr id="3" name="Content Placeholder 2"/>
          <p:cNvSpPr>
            <a:spLocks noGrp="1"/>
          </p:cNvSpPr>
          <p:nvPr>
            <p:ph sz="quarter" idx="10"/>
          </p:nvPr>
        </p:nvSpPr>
        <p:spPr/>
        <p:txBody>
          <a:bodyPr/>
          <a:lstStyle/>
          <a:p>
            <a:r>
              <a:rPr lang="en-US" dirty="0" smtClean="0"/>
              <a:t>Types of Graph Algorithms</a:t>
            </a:r>
            <a:endParaRPr lang="en-IN" dirty="0"/>
          </a:p>
        </p:txBody>
      </p:sp>
    </p:spTree>
    <p:extLst>
      <p:ext uri="{BB962C8B-B14F-4D97-AF65-F5344CB8AC3E}">
        <p14:creationId xmlns:p14="http://schemas.microsoft.com/office/powerpoint/2010/main" val="733247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0" indent="-457200">
              <a:buFont typeface="+mj-lt"/>
              <a:buAutoNum type="arabicPeriod"/>
            </a:pPr>
            <a:r>
              <a:rPr lang="en-US" dirty="0" smtClean="0"/>
              <a:t>What is the difference between:</a:t>
            </a:r>
          </a:p>
          <a:p>
            <a:pPr marL="857250" lvl="1" indent="-457200">
              <a:buFont typeface="+mj-lt"/>
              <a:buAutoNum type="arabicPeriod"/>
            </a:pPr>
            <a:r>
              <a:rPr lang="en-US" sz="2400" dirty="0" smtClean="0"/>
              <a:t>A tree and a spanning tree?</a:t>
            </a:r>
          </a:p>
          <a:p>
            <a:pPr marL="857250" lvl="1" indent="-457200">
              <a:buFont typeface="+mj-lt"/>
              <a:buAutoNum type="arabicPeriod"/>
            </a:pPr>
            <a:r>
              <a:rPr lang="en-US" sz="2400" dirty="0" smtClean="0"/>
              <a:t>A spanning tree and Minimum spanning tree.</a:t>
            </a:r>
          </a:p>
          <a:p>
            <a:pPr marL="457200" indent="-457200">
              <a:buFont typeface="+mj-lt"/>
              <a:buAutoNum type="arabicPeriod"/>
            </a:pPr>
            <a:r>
              <a:rPr lang="en-US" dirty="0" smtClean="0"/>
              <a:t>For what NP stands for and what does it mean?</a:t>
            </a:r>
          </a:p>
          <a:p>
            <a:pPr marL="457200" indent="-457200">
              <a:buFont typeface="+mj-lt"/>
              <a:buAutoNum type="arabicPeriod"/>
            </a:pPr>
            <a:r>
              <a:rPr lang="en-US" dirty="0" smtClean="0"/>
              <a:t>What are disk resident graphs and what is its limitation, and why?</a:t>
            </a:r>
            <a:endParaRPr lang="en-IN" dirty="0"/>
          </a:p>
        </p:txBody>
      </p:sp>
      <p:sp>
        <p:nvSpPr>
          <p:cNvPr id="3" name="Content Placeholder 2"/>
          <p:cNvSpPr>
            <a:spLocks noGrp="1"/>
          </p:cNvSpPr>
          <p:nvPr>
            <p:ph sz="quarter" idx="10"/>
          </p:nvPr>
        </p:nvSpPr>
        <p:spPr/>
        <p:txBody>
          <a:bodyPr/>
          <a:lstStyle/>
          <a:p>
            <a:r>
              <a:rPr lang="en-US" dirty="0" smtClean="0"/>
              <a:t>Quick recap</a:t>
            </a:r>
            <a:endParaRPr lang="en-IN" dirty="0"/>
          </a:p>
        </p:txBody>
      </p:sp>
    </p:spTree>
    <p:extLst>
      <p:ext uri="{BB962C8B-B14F-4D97-AF65-F5344CB8AC3E}">
        <p14:creationId xmlns:p14="http://schemas.microsoft.com/office/powerpoint/2010/main" val="383593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762000" y="2971800"/>
            <a:ext cx="7772400" cy="1362075"/>
          </a:xfrm>
        </p:spPr>
        <p:txBody>
          <a:bodyPr>
            <a:normAutofit fontScale="90000"/>
          </a:bodyPr>
          <a:lstStyle/>
          <a:p>
            <a:r>
              <a:rPr lang="en-IN" dirty="0"/>
              <a:t>Various type of Data for Graph </a:t>
            </a:r>
            <a:r>
              <a:rPr lang="en-IN" dirty="0" smtClean="0"/>
              <a:t>Mining</a:t>
            </a:r>
            <a:endParaRPr lang="en-IN" dirty="0"/>
          </a:p>
        </p:txBody>
      </p:sp>
      <p:sp>
        <p:nvSpPr>
          <p:cNvPr id="2" name="TextBox 1"/>
          <p:cNvSpPr txBox="1"/>
          <p:nvPr/>
        </p:nvSpPr>
        <p:spPr>
          <a:xfrm>
            <a:off x="1524000" y="4876800"/>
            <a:ext cx="6172200" cy="369332"/>
          </a:xfrm>
          <a:prstGeom prst="rect">
            <a:avLst/>
          </a:prstGeom>
          <a:noFill/>
        </p:spPr>
        <p:txBody>
          <a:bodyPr wrap="square" rtlCol="0">
            <a:spAutoFit/>
          </a:bodyPr>
          <a:lstStyle/>
          <a:p>
            <a:r>
              <a:rPr lang="en-US" i="1" dirty="0" smtClean="0">
                <a:solidFill>
                  <a:srgbClr val="0070C0"/>
                </a:solidFill>
              </a:rPr>
              <a:t>Search “</a:t>
            </a:r>
            <a:r>
              <a:rPr lang="en-US" i="1" u="sng" dirty="0" err="1" smtClean="0">
                <a:solidFill>
                  <a:srgbClr val="0070C0"/>
                </a:solidFill>
              </a:rPr>
              <a:t>image.Google</a:t>
            </a:r>
            <a:r>
              <a:rPr lang="en-US" i="1" dirty="0" smtClean="0">
                <a:solidFill>
                  <a:srgbClr val="0070C0"/>
                </a:solidFill>
              </a:rPr>
              <a:t>” for various types of large graphs</a:t>
            </a:r>
            <a:endParaRPr lang="en-IN" i="1" dirty="0">
              <a:solidFill>
                <a:srgbClr val="0070C0"/>
              </a:solidFill>
            </a:endParaRPr>
          </a:p>
        </p:txBody>
      </p:sp>
    </p:spTree>
    <p:extLst>
      <p:ext uri="{BB962C8B-B14F-4D97-AF65-F5344CB8AC3E}">
        <p14:creationId xmlns:p14="http://schemas.microsoft.com/office/powerpoint/2010/main" val="27633488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229600" cy="4800600"/>
          </a:xfrm>
        </p:spPr>
        <p:txBody>
          <a:bodyPr>
            <a:noAutofit/>
          </a:bodyPr>
          <a:lstStyle/>
          <a:p>
            <a:pPr>
              <a:buFont typeface="Wingdings" panose="05000000000000000000" pitchFamily="2" charset="2"/>
              <a:buChar char="v"/>
            </a:pPr>
            <a:r>
              <a:rPr lang="en-IN" b="1" dirty="0"/>
              <a:t>Chemical Data: </a:t>
            </a:r>
            <a:r>
              <a:rPr lang="en-IN" dirty="0" smtClean="0"/>
              <a:t>Often </a:t>
            </a:r>
            <a:r>
              <a:rPr lang="en-IN" dirty="0"/>
              <a:t>represented as graphs in </a:t>
            </a:r>
            <a:r>
              <a:rPr lang="en-IN" dirty="0" smtClean="0"/>
              <a:t>which the </a:t>
            </a:r>
            <a:r>
              <a:rPr lang="en-IN" dirty="0"/>
              <a:t>nodes correspond to atoms, and the links correspond to bonds </a:t>
            </a:r>
            <a:r>
              <a:rPr lang="en-IN" dirty="0" smtClean="0"/>
              <a:t>between </a:t>
            </a:r>
            <a:r>
              <a:rPr lang="en-IN" dirty="0"/>
              <a:t>the atoms. </a:t>
            </a:r>
            <a:endParaRPr lang="en-IN" dirty="0" smtClean="0"/>
          </a:p>
          <a:p>
            <a:pPr lvl="1">
              <a:buFont typeface="Wingdings" panose="05000000000000000000" pitchFamily="2" charset="2"/>
              <a:buChar char="v"/>
            </a:pPr>
            <a:r>
              <a:rPr lang="en-IN" sz="2400" dirty="0" smtClean="0"/>
              <a:t>In </a:t>
            </a:r>
            <a:r>
              <a:rPr lang="en-IN" sz="2400" dirty="0"/>
              <a:t>some cases, substructures of the data may </a:t>
            </a:r>
            <a:r>
              <a:rPr lang="en-IN" sz="2400" dirty="0" smtClean="0"/>
              <a:t>also be </a:t>
            </a:r>
            <a:r>
              <a:rPr lang="en-IN" sz="2400" dirty="0"/>
              <a:t>used as individual nodes</a:t>
            </a:r>
            <a:r>
              <a:rPr lang="en-IN" sz="2400" dirty="0" smtClean="0"/>
              <a:t>.</a:t>
            </a:r>
          </a:p>
          <a:p>
            <a:pPr lvl="1">
              <a:buFont typeface="Wingdings" panose="05000000000000000000" pitchFamily="2" charset="2"/>
              <a:buChar char="v"/>
            </a:pPr>
            <a:r>
              <a:rPr lang="en-IN" sz="2400" dirty="0" smtClean="0"/>
              <a:t>Such as Benzene rings</a:t>
            </a:r>
          </a:p>
          <a:p>
            <a:pPr lvl="1">
              <a:buFont typeface="Wingdings" panose="05000000000000000000" pitchFamily="2" charset="2"/>
              <a:buChar char="v"/>
            </a:pPr>
            <a:r>
              <a:rPr lang="en-IN" sz="2400" dirty="0" smtClean="0"/>
              <a:t>Polymers</a:t>
            </a:r>
          </a:p>
          <a:p>
            <a:pPr marL="457200" lvl="1" indent="0">
              <a:buNone/>
            </a:pPr>
            <a:endParaRPr lang="en-IN" sz="2400" i="1" dirty="0" smtClean="0"/>
          </a:p>
          <a:p>
            <a:pPr marL="457200" lvl="1" indent="0">
              <a:buNone/>
            </a:pPr>
            <a:r>
              <a:rPr lang="en-IN" sz="2400" i="1" dirty="0" smtClean="0"/>
              <a:t>The </a:t>
            </a:r>
            <a:r>
              <a:rPr lang="en-IN" sz="2400" i="1" dirty="0"/>
              <a:t>individual graphs are quite small, though there are </a:t>
            </a:r>
            <a:r>
              <a:rPr lang="en-IN" sz="2400" dirty="0"/>
              <a:t>significant</a:t>
            </a:r>
            <a:r>
              <a:rPr lang="en-IN" sz="2400" b="1" i="1" dirty="0"/>
              <a:t> repetitions</a:t>
            </a:r>
            <a:r>
              <a:rPr lang="en-IN" sz="2400" i="1" dirty="0"/>
              <a:t> among the different nodes. This leads to </a:t>
            </a:r>
            <a:r>
              <a:rPr lang="en-IN" sz="2400" b="1" i="1" dirty="0"/>
              <a:t>isomorphism challenges</a:t>
            </a:r>
            <a:r>
              <a:rPr lang="en-IN" sz="2400" i="1" dirty="0"/>
              <a:t> in applications such as </a:t>
            </a:r>
            <a:r>
              <a:rPr lang="en-IN" sz="2400" b="1" i="1" dirty="0"/>
              <a:t>graph matching</a:t>
            </a:r>
            <a:r>
              <a:rPr lang="en-IN" sz="2400" i="1" dirty="0" smtClean="0"/>
              <a:t>.</a:t>
            </a:r>
            <a:endParaRPr lang="en-IN" sz="2400" dirty="0"/>
          </a:p>
        </p:txBody>
      </p:sp>
      <p:sp>
        <p:nvSpPr>
          <p:cNvPr id="3" name="Content Placeholder 2"/>
          <p:cNvSpPr>
            <a:spLocks noGrp="1"/>
          </p:cNvSpPr>
          <p:nvPr>
            <p:ph sz="quarter" idx="10"/>
          </p:nvPr>
        </p:nvSpPr>
        <p:spPr/>
        <p:txBody>
          <a:bodyPr/>
          <a:lstStyle/>
          <a:p>
            <a:r>
              <a:rPr lang="en-IN" dirty="0" smtClean="0"/>
              <a:t>Various type of Data for Graph Mining</a:t>
            </a:r>
            <a:endParaRPr lang="en-IN" dirty="0"/>
          </a:p>
        </p:txBody>
      </p:sp>
    </p:spTree>
    <p:extLst>
      <p:ext uri="{BB962C8B-B14F-4D97-AF65-F5344CB8AC3E}">
        <p14:creationId xmlns:p14="http://schemas.microsoft.com/office/powerpoint/2010/main" val="8230342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b="1" dirty="0"/>
              <a:t>Biological Data</a:t>
            </a:r>
            <a:r>
              <a:rPr lang="en-IN" sz="2000" b="1" dirty="0" smtClean="0"/>
              <a:t>: </a:t>
            </a:r>
            <a:r>
              <a:rPr lang="en-IN" sz="2000" dirty="0" smtClean="0"/>
              <a:t>Similar </a:t>
            </a:r>
            <a:r>
              <a:rPr lang="en-IN" sz="2000" dirty="0"/>
              <a:t>way as </a:t>
            </a:r>
            <a:r>
              <a:rPr lang="en-IN" sz="2000" dirty="0" smtClean="0"/>
              <a:t>chemical </a:t>
            </a:r>
            <a:r>
              <a:rPr lang="en-IN" sz="2000" dirty="0"/>
              <a:t>data. However, the individual graphs are typically much larger. </a:t>
            </a:r>
            <a:r>
              <a:rPr lang="en-IN" sz="2000" dirty="0" smtClean="0"/>
              <a:t>Furthermore</a:t>
            </a:r>
            <a:r>
              <a:rPr lang="en-IN" sz="2000" dirty="0"/>
              <a:t>, the nodes are typically carefully designed portions of the </a:t>
            </a:r>
            <a:r>
              <a:rPr lang="en-IN" sz="2000" dirty="0" smtClean="0"/>
              <a:t>biological models</a:t>
            </a:r>
          </a:p>
          <a:p>
            <a:pPr lvl="1">
              <a:buFont typeface="Wingdings" panose="05000000000000000000" pitchFamily="2" charset="2"/>
              <a:buChar char="v"/>
            </a:pPr>
            <a:r>
              <a:rPr lang="en-IN" sz="2000" dirty="0" smtClean="0"/>
              <a:t>Such as Proteins</a:t>
            </a: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Amino acids</a:t>
            </a:r>
          </a:p>
          <a:p>
            <a:pPr lvl="3">
              <a:buFont typeface="Wingdings" panose="05000000000000000000" pitchFamily="2" charset="2"/>
              <a:buChar char="v"/>
            </a:pPr>
            <a:r>
              <a:rPr lang="en-IN" b="1" i="1" dirty="0" smtClean="0">
                <a:latin typeface="Arial" panose="020B0604020202020204" pitchFamily="34" charset="0"/>
                <a:cs typeface="Arial" panose="020B0604020202020204" pitchFamily="34" charset="0"/>
              </a:rPr>
              <a:t>A, T, G,C </a:t>
            </a:r>
            <a:r>
              <a:rPr lang="en-IN" dirty="0" smtClean="0">
                <a:latin typeface="Arial" panose="020B0604020202020204" pitchFamily="34" charset="0"/>
                <a:cs typeface="Arial" panose="020B0604020202020204" pitchFamily="34" charset="0"/>
              </a:rPr>
              <a:t>in </a:t>
            </a:r>
            <a:r>
              <a:rPr lang="en-IN" i="1" dirty="0" smtClean="0">
                <a:latin typeface="Arial" panose="020B0604020202020204" pitchFamily="34" charset="0"/>
                <a:cs typeface="Arial" panose="020B0604020202020204" pitchFamily="34" charset="0"/>
              </a:rPr>
              <a:t>DNA</a:t>
            </a:r>
          </a:p>
          <a:p>
            <a:pPr lvl="3">
              <a:buFont typeface="Wingdings" panose="05000000000000000000" pitchFamily="2" charset="2"/>
              <a:buChar char="v"/>
            </a:pPr>
            <a:r>
              <a:rPr lang="en-IN" b="1" i="1" dirty="0" smtClean="0">
                <a:latin typeface="Arial" panose="020B0604020202020204" pitchFamily="34" charset="0"/>
                <a:cs typeface="Arial" panose="020B0604020202020204" pitchFamily="34" charset="0"/>
              </a:rPr>
              <a:t>A, U, G, C</a:t>
            </a:r>
            <a:r>
              <a:rPr lang="en-IN" dirty="0" smtClean="0">
                <a:latin typeface="Arial" panose="020B0604020202020204" pitchFamily="34" charset="0"/>
                <a:cs typeface="Arial" panose="020B0604020202020204" pitchFamily="34" charset="0"/>
              </a:rPr>
              <a:t> in </a:t>
            </a:r>
            <a:r>
              <a:rPr lang="en-IN" i="1" dirty="0" smtClean="0">
                <a:latin typeface="Arial" panose="020B0604020202020204" pitchFamily="34" charset="0"/>
                <a:cs typeface="Arial" panose="020B0604020202020204" pitchFamily="34" charset="0"/>
              </a:rPr>
              <a:t>RNA</a:t>
            </a:r>
          </a:p>
          <a:p>
            <a:pPr lvl="3">
              <a:buFont typeface="Wingdings" panose="05000000000000000000" pitchFamily="2" charset="2"/>
              <a:buChar char="v"/>
            </a:pPr>
            <a:r>
              <a:rPr lang="en-IN" b="1" i="1" dirty="0" smtClean="0">
                <a:latin typeface="Arial" panose="020B0604020202020204" pitchFamily="34" charset="0"/>
                <a:cs typeface="Arial" panose="020B0604020202020204" pitchFamily="34" charset="0"/>
              </a:rPr>
              <a:t>Dominance</a:t>
            </a:r>
            <a:r>
              <a:rPr lang="en-IN" i="1" dirty="0" smtClean="0">
                <a:latin typeface="Arial" panose="020B0604020202020204" pitchFamily="34" charset="0"/>
                <a:cs typeface="Arial" panose="020B0604020202020204" pitchFamily="34" charset="0"/>
              </a:rPr>
              <a:t> and </a:t>
            </a:r>
            <a:r>
              <a:rPr lang="en-IN" b="1" i="1" dirty="0" smtClean="0">
                <a:latin typeface="Arial" panose="020B0604020202020204" pitchFamily="34" charset="0"/>
                <a:cs typeface="Arial" panose="020B0604020202020204" pitchFamily="34" charset="0"/>
              </a:rPr>
              <a:t>recessive</a:t>
            </a:r>
            <a:r>
              <a:rPr lang="en-IN" i="1" dirty="0" smtClean="0">
                <a:latin typeface="Arial" panose="020B0604020202020204" pitchFamily="34" charset="0"/>
                <a:cs typeface="Arial" panose="020B0604020202020204" pitchFamily="34" charset="0"/>
              </a:rPr>
              <a:t> </a:t>
            </a:r>
            <a:r>
              <a:rPr lang="en-IN" dirty="0" smtClean="0">
                <a:latin typeface="Arial" panose="020B0604020202020204" pitchFamily="34" charset="0"/>
                <a:cs typeface="Arial" panose="020B0604020202020204" pitchFamily="34" charset="0"/>
              </a:rPr>
              <a:t>property of </a:t>
            </a:r>
            <a:r>
              <a:rPr lang="en-IN" i="1" dirty="0" smtClean="0">
                <a:latin typeface="Arial" panose="020B0604020202020204" pitchFamily="34" charset="0"/>
                <a:cs typeface="Arial" panose="020B0604020202020204" pitchFamily="34" charset="0"/>
              </a:rPr>
              <a:t>Genes</a:t>
            </a:r>
          </a:p>
          <a:p>
            <a:pPr lvl="4">
              <a:buFont typeface="Wingdings" panose="05000000000000000000" pitchFamily="2" charset="2"/>
              <a:buChar char="v"/>
            </a:pPr>
            <a:r>
              <a:rPr lang="en-IN" i="1" dirty="0" smtClean="0">
                <a:latin typeface="Arial" panose="020B0604020202020204" pitchFamily="34" charset="0"/>
                <a:cs typeface="Arial" panose="020B0604020202020204" pitchFamily="34" charset="0"/>
              </a:rPr>
              <a:t>Mendel's experiment</a:t>
            </a:r>
          </a:p>
          <a:p>
            <a:pPr marL="0" indent="0" algn="just"/>
            <a:endParaRPr lang="en-IN" sz="2000" i="1" dirty="0" smtClean="0"/>
          </a:p>
          <a:p>
            <a:pPr marL="0" indent="0" algn="just"/>
            <a:r>
              <a:rPr lang="en-IN" sz="2000" i="1" dirty="0" smtClean="0"/>
              <a:t>A </a:t>
            </a:r>
            <a:r>
              <a:rPr lang="en-IN" sz="2000" i="1" dirty="0"/>
              <a:t>single </a:t>
            </a:r>
            <a:r>
              <a:rPr lang="en-IN" sz="2000" i="1" dirty="0" smtClean="0"/>
              <a:t>biological </a:t>
            </a:r>
            <a:r>
              <a:rPr lang="en-IN" sz="2000" i="1" dirty="0"/>
              <a:t>network could easily </a:t>
            </a:r>
            <a:r>
              <a:rPr lang="en-IN" sz="2000" i="1" dirty="0" smtClean="0"/>
              <a:t>contain thousands </a:t>
            </a:r>
            <a:r>
              <a:rPr lang="en-IN" sz="2000" i="1" dirty="0"/>
              <a:t>of nodes. The sizes of the overall database are also large </a:t>
            </a:r>
            <a:r>
              <a:rPr lang="en-IN" sz="2000" i="1" dirty="0" smtClean="0"/>
              <a:t>enough for </a:t>
            </a:r>
            <a:r>
              <a:rPr lang="en-IN" sz="2000" i="1" dirty="0"/>
              <a:t>the underlying graphs to be </a:t>
            </a:r>
            <a:r>
              <a:rPr lang="en-IN" sz="2000" b="1" i="1" dirty="0"/>
              <a:t>disk-resident</a:t>
            </a:r>
            <a:r>
              <a:rPr lang="en-IN" sz="2000" i="1" dirty="0"/>
              <a:t>.</a:t>
            </a:r>
          </a:p>
        </p:txBody>
      </p:sp>
      <p:sp>
        <p:nvSpPr>
          <p:cNvPr id="3" name="Content Placeholder 2"/>
          <p:cNvSpPr>
            <a:spLocks noGrp="1"/>
          </p:cNvSpPr>
          <p:nvPr>
            <p:ph sz="quarter" idx="10"/>
          </p:nvPr>
        </p:nvSpPr>
        <p:spPr/>
        <p:txBody>
          <a:bodyPr/>
          <a:lstStyle/>
          <a:p>
            <a:r>
              <a:rPr lang="en-IN" dirty="0" smtClean="0"/>
              <a:t>Various type of Data for Graph Mining</a:t>
            </a:r>
            <a:endParaRPr lang="en-IN" dirty="0"/>
          </a:p>
        </p:txBody>
      </p:sp>
    </p:spTree>
    <p:extLst>
      <p:ext uri="{BB962C8B-B14F-4D97-AF65-F5344CB8AC3E}">
        <p14:creationId xmlns:p14="http://schemas.microsoft.com/office/powerpoint/2010/main" val="6548077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229600" cy="5029200"/>
          </a:xfrm>
        </p:spPr>
        <p:txBody>
          <a:bodyPr>
            <a:noAutofit/>
          </a:bodyPr>
          <a:lstStyle/>
          <a:p>
            <a:pPr>
              <a:buFont typeface="Wingdings" panose="05000000000000000000" pitchFamily="2" charset="2"/>
              <a:buChar char="v"/>
            </a:pPr>
            <a:r>
              <a:rPr lang="en-IN" sz="2000" b="1" dirty="0"/>
              <a:t>Computer Networked and Web Data</a:t>
            </a:r>
            <a:r>
              <a:rPr lang="en-IN" sz="2000" b="1" dirty="0" smtClean="0"/>
              <a:t>: </a:t>
            </a:r>
            <a:r>
              <a:rPr lang="en-IN" sz="2000" dirty="0" smtClean="0"/>
              <a:t>The </a:t>
            </a:r>
            <a:r>
              <a:rPr lang="en-IN" sz="2000" dirty="0"/>
              <a:t>number of nodes in the underlying graph may be </a:t>
            </a:r>
            <a:r>
              <a:rPr lang="en-IN" sz="2000" dirty="0" smtClean="0"/>
              <a:t>massive as well as edges. (</a:t>
            </a:r>
            <a:r>
              <a:rPr lang="en-IN" sz="2000" b="1" i="1" dirty="0" smtClean="0"/>
              <a:t>massive domain </a:t>
            </a:r>
            <a:r>
              <a:rPr lang="en-IN" sz="2000" b="1" i="1" dirty="0"/>
              <a:t>issue </a:t>
            </a:r>
            <a:r>
              <a:rPr lang="en-IN" sz="2000" dirty="0"/>
              <a:t>in networked data</a:t>
            </a:r>
            <a:r>
              <a:rPr lang="en-IN" sz="2000" dirty="0" smtClean="0"/>
              <a:t>.)</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it </a:t>
            </a:r>
            <a:r>
              <a:rPr lang="en-IN" sz="2000" dirty="0">
                <a:latin typeface="Arial" panose="020B0604020202020204" pitchFamily="34" charset="0"/>
                <a:cs typeface="Arial" panose="020B0604020202020204" pitchFamily="34" charset="0"/>
              </a:rPr>
              <a:t>may be hard to hold in the available </a:t>
            </a:r>
            <a:r>
              <a:rPr lang="en-IN" sz="2000" dirty="0" smtClean="0">
                <a:latin typeface="Arial" panose="020B0604020202020204" pitchFamily="34" charset="0"/>
                <a:cs typeface="Arial" panose="020B0604020202020204" pitchFamily="34" charset="0"/>
              </a:rPr>
              <a:t>storage </a:t>
            </a:r>
            <a:r>
              <a:rPr lang="en-IN" sz="2000" dirty="0">
                <a:latin typeface="Arial" panose="020B0604020202020204" pitchFamily="34" charset="0"/>
                <a:cs typeface="Arial" panose="020B0604020202020204" pitchFamily="34" charset="0"/>
              </a:rPr>
              <a:t>space. </a:t>
            </a:r>
            <a:endParaRPr lang="en-IN" sz="2000" dirty="0" smtClean="0">
              <a:latin typeface="Arial" panose="020B0604020202020204" pitchFamily="34" charset="0"/>
              <a:cs typeface="Arial" panose="020B0604020202020204" pitchFamily="34" charset="0"/>
            </a:endParaRP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So we need </a:t>
            </a:r>
            <a:r>
              <a:rPr lang="en-IN" dirty="0">
                <a:latin typeface="Arial" panose="020B0604020202020204" pitchFamily="34" charset="0"/>
                <a:cs typeface="Arial" panose="020B0604020202020204" pitchFamily="34" charset="0"/>
              </a:rPr>
              <a:t>to be designed </a:t>
            </a:r>
            <a:r>
              <a:rPr lang="en-IN" dirty="0" smtClean="0">
                <a:latin typeface="Arial" panose="020B0604020202020204" pitchFamily="34" charset="0"/>
                <a:cs typeface="Arial" panose="020B0604020202020204" pitchFamily="34" charset="0"/>
              </a:rPr>
              <a:t>some </a:t>
            </a:r>
            <a:r>
              <a:rPr lang="en-IN" dirty="0">
                <a:latin typeface="Arial" panose="020B0604020202020204" pitchFamily="34" charset="0"/>
                <a:cs typeface="Arial" panose="020B0604020202020204" pitchFamily="34" charset="0"/>
              </a:rPr>
              <a:t>techniques </a:t>
            </a:r>
            <a:r>
              <a:rPr lang="en-IN" dirty="0" smtClean="0">
                <a:latin typeface="Arial" panose="020B0604020202020204" pitchFamily="34" charset="0"/>
                <a:cs typeface="Arial" panose="020B0604020202020204" pitchFamily="34" charset="0"/>
              </a:rPr>
              <a:t>to </a:t>
            </a:r>
            <a:r>
              <a:rPr lang="en-IN" b="1" i="1" dirty="0">
                <a:latin typeface="Arial" panose="020B0604020202020204" pitchFamily="34" charset="0"/>
                <a:cs typeface="Arial" panose="020B0604020202020204" pitchFamily="34" charset="0"/>
              </a:rPr>
              <a:t>summarize</a:t>
            </a:r>
            <a:r>
              <a:rPr lang="en-IN" dirty="0">
                <a:latin typeface="Arial" panose="020B0604020202020204" pitchFamily="34" charset="0"/>
                <a:cs typeface="Arial" panose="020B0604020202020204" pitchFamily="34" charset="0"/>
              </a:rPr>
              <a:t> and work with </a:t>
            </a:r>
            <a:r>
              <a:rPr lang="en-IN" b="1" i="1" dirty="0">
                <a:latin typeface="Arial" panose="020B0604020202020204" pitchFamily="34" charset="0"/>
                <a:cs typeface="Arial" panose="020B0604020202020204" pitchFamily="34" charset="0"/>
              </a:rPr>
              <a:t>condensed</a:t>
            </a:r>
            <a:r>
              <a:rPr lang="en-IN" dirty="0">
                <a:latin typeface="Arial" panose="020B0604020202020204" pitchFamily="34" charset="0"/>
                <a:cs typeface="Arial" panose="020B0604020202020204" pitchFamily="34" charset="0"/>
              </a:rPr>
              <a:t> representations of the graph data sets. </a:t>
            </a:r>
            <a:endParaRPr lang="en-IN" dirty="0" smtClean="0">
              <a:latin typeface="Arial" panose="020B0604020202020204" pitchFamily="34" charset="0"/>
              <a:cs typeface="Arial" panose="020B0604020202020204" pitchFamily="34" charset="0"/>
            </a:endParaRPr>
          </a:p>
          <a:p>
            <a:pPr lvl="4">
              <a:buFont typeface="Wingdings" panose="05000000000000000000" pitchFamily="2" charset="2"/>
              <a:buChar char="v"/>
            </a:pPr>
            <a:r>
              <a:rPr lang="en-IN" dirty="0" smtClean="0">
                <a:latin typeface="Arial" panose="020B0604020202020204" pitchFamily="34" charset="0"/>
                <a:cs typeface="Arial" panose="020B0604020202020204" pitchFamily="34" charset="0"/>
              </a:rPr>
              <a:t>Google maps….</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edges </a:t>
            </a:r>
            <a:r>
              <a:rPr lang="en-IN" sz="2000" dirty="0" smtClean="0">
                <a:latin typeface="Arial" panose="020B0604020202020204" pitchFamily="34" charset="0"/>
                <a:cs typeface="Arial" panose="020B0604020202020204" pitchFamily="34" charset="0"/>
              </a:rPr>
              <a:t>may also arrive </a:t>
            </a:r>
            <a:r>
              <a:rPr lang="en-IN" sz="2000" dirty="0">
                <a:latin typeface="Arial" panose="020B0604020202020204" pitchFamily="34" charset="0"/>
                <a:cs typeface="Arial" panose="020B0604020202020204" pitchFamily="34" charset="0"/>
              </a:rPr>
              <a:t>in the form of a </a:t>
            </a:r>
            <a:r>
              <a:rPr lang="en-IN" sz="2000" b="1" i="1" dirty="0">
                <a:latin typeface="Arial" panose="020B0604020202020204" pitchFamily="34" charset="0"/>
                <a:cs typeface="Arial" panose="020B0604020202020204" pitchFamily="34" charset="0"/>
              </a:rPr>
              <a:t>data stream</a:t>
            </a:r>
            <a:r>
              <a:rPr lang="en-IN" sz="2000" dirty="0">
                <a:latin typeface="Arial" panose="020B0604020202020204" pitchFamily="34" charset="0"/>
                <a:cs typeface="Arial" panose="020B0604020202020204" pitchFamily="34" charset="0"/>
              </a:rPr>
              <a:t>. </a:t>
            </a:r>
            <a:endParaRPr lang="en-IN" sz="2000" dirty="0" smtClean="0">
              <a:latin typeface="Arial" panose="020B0604020202020204" pitchFamily="34" charset="0"/>
              <a:cs typeface="Arial" panose="020B0604020202020204" pitchFamily="34" charset="0"/>
            </a:endParaRP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A new </a:t>
            </a:r>
            <a:r>
              <a:rPr lang="en-IN" dirty="0">
                <a:latin typeface="Arial" panose="020B0604020202020204" pitchFamily="34" charset="0"/>
                <a:cs typeface="Arial" panose="020B0604020202020204" pitchFamily="34" charset="0"/>
              </a:rPr>
              <a:t>challenge </a:t>
            </a:r>
            <a:r>
              <a:rPr lang="en-IN" dirty="0" smtClean="0">
                <a:latin typeface="Arial" panose="020B0604020202020204" pitchFamily="34" charset="0"/>
                <a:cs typeface="Arial" panose="020B0604020202020204" pitchFamily="34" charset="0"/>
              </a:rPr>
              <a:t>arises, </a:t>
            </a:r>
            <a:r>
              <a:rPr lang="en-IN" dirty="0">
                <a:latin typeface="Arial" panose="020B0604020202020204" pitchFamily="34" charset="0"/>
                <a:cs typeface="Arial" panose="020B0604020202020204" pitchFamily="34" charset="0"/>
              </a:rPr>
              <a:t>it may not be possible to store the incoming edges for future analysis. </a:t>
            </a:r>
            <a:endParaRPr lang="en-IN" dirty="0" smtClean="0">
              <a:latin typeface="Arial" panose="020B0604020202020204" pitchFamily="34" charset="0"/>
              <a:cs typeface="Arial" panose="020B0604020202020204" pitchFamily="34" charset="0"/>
            </a:endParaRP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Therefore</a:t>
            </a:r>
            <a:r>
              <a:rPr lang="en-IN" dirty="0">
                <a:latin typeface="Arial" panose="020B0604020202020204" pitchFamily="34" charset="0"/>
                <a:cs typeface="Arial" panose="020B0604020202020204" pitchFamily="34" charset="0"/>
              </a:rPr>
              <a:t>, the </a:t>
            </a:r>
            <a:r>
              <a:rPr lang="en-IN" b="1" dirty="0">
                <a:latin typeface="Arial" panose="020B0604020202020204" pitchFamily="34" charset="0"/>
                <a:cs typeface="Arial" panose="020B0604020202020204" pitchFamily="34" charset="0"/>
              </a:rPr>
              <a:t>summarization techniques </a:t>
            </a:r>
            <a:r>
              <a:rPr lang="en-IN" dirty="0" smtClean="0">
                <a:latin typeface="Arial" panose="020B0604020202020204" pitchFamily="34" charset="0"/>
                <a:cs typeface="Arial" panose="020B0604020202020204" pitchFamily="34" charset="0"/>
              </a:rPr>
              <a:t>and the </a:t>
            </a:r>
            <a:r>
              <a:rPr lang="en-IN" b="1" dirty="0">
                <a:latin typeface="Arial" panose="020B0604020202020204" pitchFamily="34" charset="0"/>
                <a:cs typeface="Arial" panose="020B0604020202020204" pitchFamily="34" charset="0"/>
              </a:rPr>
              <a:t>stream summaries </a:t>
            </a:r>
            <a:r>
              <a:rPr lang="en-IN" dirty="0">
                <a:latin typeface="Arial" panose="020B0604020202020204" pitchFamily="34" charset="0"/>
                <a:cs typeface="Arial" panose="020B0604020202020204" pitchFamily="34" charset="0"/>
              </a:rPr>
              <a:t>may be leveraged for future processing of the underlying graphs. </a:t>
            </a:r>
            <a:endParaRPr lang="en-IN" i="1"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smtClean="0"/>
              <a:t>Various type of Data for Graph Mining</a:t>
            </a:r>
            <a:endParaRPr lang="en-IN" dirty="0"/>
          </a:p>
        </p:txBody>
      </p:sp>
    </p:spTree>
    <p:extLst>
      <p:ext uri="{BB962C8B-B14F-4D97-AF65-F5344CB8AC3E}">
        <p14:creationId xmlns:p14="http://schemas.microsoft.com/office/powerpoint/2010/main" val="34389244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b="1" dirty="0"/>
              <a:t>XML data </a:t>
            </a:r>
            <a:r>
              <a:rPr lang="en-IN" b="1" dirty="0" smtClean="0"/>
              <a:t>:</a:t>
            </a:r>
            <a:r>
              <a:rPr lang="en-IN" dirty="0" smtClean="0"/>
              <a:t>Complex </a:t>
            </a:r>
            <a:r>
              <a:rPr lang="en-IN" dirty="0"/>
              <a:t>and semi-structured data is often represented in the form of XML </a:t>
            </a:r>
            <a:r>
              <a:rPr lang="en-IN" dirty="0" smtClean="0"/>
              <a:t>documents</a:t>
            </a:r>
          </a:p>
          <a:p>
            <a:pPr>
              <a:buFont typeface="Wingdings" panose="05000000000000000000" pitchFamily="2" charset="2"/>
              <a:buChar char="v"/>
            </a:pPr>
            <a:r>
              <a:rPr lang="en-IN" b="1" dirty="0"/>
              <a:t>XML data is a natural form of labelled graph data</a:t>
            </a:r>
            <a:r>
              <a:rPr lang="en-IN" dirty="0"/>
              <a:t>.</a:t>
            </a:r>
            <a:endParaRPr lang="en-IN" dirty="0" smtClean="0"/>
          </a:p>
          <a:p>
            <a:pPr>
              <a:buFont typeface="Wingdings" panose="05000000000000000000" pitchFamily="2" charset="2"/>
              <a:buChar char="v"/>
            </a:pPr>
            <a:r>
              <a:rPr lang="en-IN" dirty="0"/>
              <a:t>M</a:t>
            </a:r>
            <a:r>
              <a:rPr lang="en-IN" dirty="0" smtClean="0"/>
              <a:t>ining </a:t>
            </a:r>
            <a:r>
              <a:rPr lang="en-IN" dirty="0"/>
              <a:t>and management algorithms for </a:t>
            </a:r>
            <a:r>
              <a:rPr lang="en-IN" dirty="0" smtClean="0"/>
              <a:t>XML data </a:t>
            </a:r>
            <a:r>
              <a:rPr lang="en-IN" dirty="0"/>
              <a:t>are also quite useful for </a:t>
            </a:r>
            <a:r>
              <a:rPr lang="en-IN" dirty="0" smtClean="0"/>
              <a:t>graph data,</a:t>
            </a:r>
            <a:endParaRPr lang="en-IN" dirty="0"/>
          </a:p>
          <a:p>
            <a:pPr>
              <a:buFont typeface="Wingdings" panose="05000000000000000000" pitchFamily="2" charset="2"/>
              <a:buChar char="v"/>
            </a:pPr>
            <a:r>
              <a:rPr lang="en-IN" dirty="0"/>
              <a:t>In addition, the </a:t>
            </a:r>
            <a:r>
              <a:rPr lang="en-IN" b="1" dirty="0"/>
              <a:t>attribute-value combinations </a:t>
            </a:r>
            <a:r>
              <a:rPr lang="en-IN" dirty="0"/>
              <a:t>associated with the nodes makes the problem much more challenging</a:t>
            </a:r>
            <a:r>
              <a:rPr lang="en-IN" dirty="0" smtClean="0"/>
              <a:t>.</a:t>
            </a:r>
          </a:p>
          <a:p>
            <a:pPr lvl="1">
              <a:buFont typeface="Wingdings" panose="05000000000000000000" pitchFamily="2" charset="2"/>
              <a:buChar char="v"/>
            </a:pPr>
            <a:r>
              <a:rPr lang="en-IN" sz="2400" dirty="0" smtClean="0"/>
              <a:t>Since </a:t>
            </a:r>
            <a:r>
              <a:rPr lang="en-IN" sz="2400" b="1" dirty="0"/>
              <a:t>it is much more difficult to design mining and management operations for structured data. </a:t>
            </a:r>
          </a:p>
        </p:txBody>
      </p:sp>
      <p:sp>
        <p:nvSpPr>
          <p:cNvPr id="3" name="Content Placeholder 2"/>
          <p:cNvSpPr>
            <a:spLocks noGrp="1"/>
          </p:cNvSpPr>
          <p:nvPr>
            <p:ph sz="quarter" idx="10"/>
          </p:nvPr>
        </p:nvSpPr>
        <p:spPr/>
        <p:txBody>
          <a:bodyPr/>
          <a:lstStyle/>
          <a:p>
            <a:r>
              <a:rPr lang="en-IN" dirty="0" smtClean="0"/>
              <a:t>Various type of Data for Graph Mining</a:t>
            </a:r>
            <a:endParaRPr lang="en-IN" dirty="0"/>
          </a:p>
        </p:txBody>
      </p:sp>
    </p:spTree>
    <p:extLst>
      <p:ext uri="{BB962C8B-B14F-4D97-AF65-F5344CB8AC3E}">
        <p14:creationId xmlns:p14="http://schemas.microsoft.com/office/powerpoint/2010/main" val="41951114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838200" y="2971800"/>
            <a:ext cx="7772400" cy="1362075"/>
          </a:xfrm>
        </p:spPr>
        <p:txBody>
          <a:bodyPr>
            <a:normAutofit/>
          </a:bodyPr>
          <a:lstStyle/>
          <a:p>
            <a:r>
              <a:rPr lang="en-IN" dirty="0" smtClean="0"/>
              <a:t>Application of Graph Mining</a:t>
            </a:r>
            <a:endParaRPr lang="en-IN" dirty="0"/>
          </a:p>
        </p:txBody>
      </p:sp>
    </p:spTree>
    <p:extLst>
      <p:ext uri="{BB962C8B-B14F-4D97-AF65-F5344CB8AC3E}">
        <p14:creationId xmlns:p14="http://schemas.microsoft.com/office/powerpoint/2010/main" val="16466453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47800"/>
            <a:ext cx="8229600" cy="4525963"/>
          </a:xfrm>
        </p:spPr>
        <p:txBody>
          <a:bodyPr>
            <a:noAutofit/>
          </a:bodyPr>
          <a:lstStyle/>
          <a:p>
            <a:pPr>
              <a:buFont typeface="Wingdings" panose="05000000000000000000" pitchFamily="2" charset="2"/>
              <a:buChar char="v"/>
            </a:pPr>
            <a:r>
              <a:rPr lang="en-IN" dirty="0"/>
              <a:t>The field of graph mining has seen a rapid explosion in recent years because of new applications </a:t>
            </a:r>
            <a:r>
              <a:rPr lang="en-IN" dirty="0" smtClean="0"/>
              <a:t>in</a:t>
            </a:r>
          </a:p>
          <a:p>
            <a:pPr lvl="1">
              <a:buFont typeface="Wingdings" panose="05000000000000000000" pitchFamily="2" charset="2"/>
              <a:buChar char="v"/>
            </a:pPr>
            <a:r>
              <a:rPr lang="en-IN" sz="2400" b="1" dirty="0" smtClean="0"/>
              <a:t>Computational biology </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Includes </a:t>
            </a:r>
            <a:r>
              <a:rPr lang="en-IN" b="1" dirty="0" smtClean="0">
                <a:latin typeface="Arial" panose="020B0604020202020204" pitchFamily="34" charset="0"/>
                <a:cs typeface="Arial" panose="020B0604020202020204" pitchFamily="34" charset="0"/>
              </a:rPr>
              <a:t>Bioinformatics</a:t>
            </a:r>
            <a:r>
              <a:rPr lang="en-IN" dirty="0" smtClean="0">
                <a:latin typeface="Arial" panose="020B0604020202020204" pitchFamily="34" charset="0"/>
                <a:cs typeface="Arial" panose="020B0604020202020204" pitchFamily="34" charset="0"/>
              </a:rPr>
              <a:t>.</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Is </a:t>
            </a:r>
            <a:r>
              <a:rPr lang="en-IN" dirty="0">
                <a:latin typeface="Arial" panose="020B0604020202020204" pitchFamily="34" charset="0"/>
                <a:cs typeface="Arial" panose="020B0604020202020204" pitchFamily="34" charset="0"/>
              </a:rPr>
              <a:t>the science of using biological data to develop algorithms or models to </a:t>
            </a:r>
            <a:r>
              <a:rPr lang="en-IN" b="1" dirty="0">
                <a:latin typeface="Arial" panose="020B0604020202020204" pitchFamily="34" charset="0"/>
                <a:cs typeface="Arial" panose="020B0604020202020204" pitchFamily="34" charset="0"/>
              </a:rPr>
              <a:t>understand biological systems and </a:t>
            </a:r>
            <a:r>
              <a:rPr lang="en-IN" b="1" dirty="0" smtClean="0">
                <a:latin typeface="Arial" panose="020B0604020202020204" pitchFamily="34" charset="0"/>
                <a:cs typeface="Arial" panose="020B0604020202020204" pitchFamily="34" charset="0"/>
              </a:rPr>
              <a:t>relationships</a:t>
            </a:r>
          </a:p>
        </p:txBody>
      </p:sp>
      <p:sp>
        <p:nvSpPr>
          <p:cNvPr id="3" name="Content Placeholder 2"/>
          <p:cNvSpPr>
            <a:spLocks noGrp="1"/>
          </p:cNvSpPr>
          <p:nvPr>
            <p:ph sz="quarter" idx="10"/>
          </p:nvPr>
        </p:nvSpPr>
        <p:spPr/>
        <p:txBody>
          <a:bodyPr/>
          <a:lstStyle/>
          <a:p>
            <a:r>
              <a:rPr lang="en-IN" dirty="0" smtClean="0"/>
              <a:t>Application Of Graph Mining</a:t>
            </a:r>
            <a:endParaRPr lang="en-IN" dirty="0"/>
          </a:p>
        </p:txBody>
      </p:sp>
    </p:spTree>
    <p:extLst>
      <p:ext uri="{BB962C8B-B14F-4D97-AF65-F5344CB8AC3E}">
        <p14:creationId xmlns:p14="http://schemas.microsoft.com/office/powerpoint/2010/main" val="1375602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47800"/>
            <a:ext cx="8229600" cy="5040868"/>
          </a:xfrm>
        </p:spPr>
        <p:txBody>
          <a:bodyPr>
            <a:noAutofit/>
          </a:bodyPr>
          <a:lstStyle/>
          <a:p>
            <a:pPr>
              <a:buFont typeface="Wingdings" panose="05000000000000000000" pitchFamily="2" charset="2"/>
              <a:buChar char="v"/>
            </a:pPr>
            <a:r>
              <a:rPr lang="en-IN" sz="2000" b="1" dirty="0" smtClean="0">
                <a:cs typeface="Arial" panose="020B0604020202020204" pitchFamily="34" charset="0"/>
              </a:rPr>
              <a:t>Computational anatomy</a:t>
            </a:r>
          </a:p>
          <a:p>
            <a:pPr lvl="1">
              <a:buFont typeface="Wingdings" panose="05000000000000000000" pitchFamily="2" charset="2"/>
              <a:buChar char="v"/>
            </a:pPr>
            <a:r>
              <a:rPr lang="en-IN" sz="2000" dirty="0" smtClean="0">
                <a:cs typeface="Arial" panose="020B0604020202020204" pitchFamily="34" charset="0"/>
              </a:rPr>
              <a:t>A </a:t>
            </a:r>
            <a:r>
              <a:rPr lang="en-IN" sz="2000" dirty="0">
                <a:cs typeface="Arial" panose="020B0604020202020204" pitchFamily="34" charset="0"/>
              </a:rPr>
              <a:t>subfield of medical imaging </a:t>
            </a:r>
            <a:r>
              <a:rPr lang="en-IN" sz="2000" dirty="0" smtClean="0">
                <a:cs typeface="Arial" panose="020B0604020202020204" pitchFamily="34" charset="0"/>
              </a:rPr>
              <a:t>(such as </a:t>
            </a:r>
            <a:r>
              <a:rPr lang="en-IN" sz="2000" b="1" dirty="0" smtClean="0">
                <a:cs typeface="Arial" panose="020B0604020202020204" pitchFamily="34" charset="0"/>
              </a:rPr>
              <a:t>MRI</a:t>
            </a:r>
            <a:r>
              <a:rPr lang="en-IN" sz="2000" dirty="0" smtClean="0">
                <a:cs typeface="Arial" panose="020B0604020202020204" pitchFamily="34" charset="0"/>
              </a:rPr>
              <a:t>) and </a:t>
            </a:r>
            <a:r>
              <a:rPr lang="en-IN" sz="2000" dirty="0">
                <a:cs typeface="Arial" panose="020B0604020202020204" pitchFamily="34" charset="0"/>
              </a:rPr>
              <a:t>bioengineering </a:t>
            </a:r>
            <a:endParaRPr lang="en-IN" sz="2000" dirty="0" smtClean="0">
              <a:cs typeface="Arial" panose="020B0604020202020204" pitchFamily="34" charset="0"/>
            </a:endParaRPr>
          </a:p>
          <a:p>
            <a:pPr>
              <a:buFont typeface="Wingdings" panose="05000000000000000000" pitchFamily="2" charset="2"/>
              <a:buChar char="v"/>
            </a:pPr>
            <a:r>
              <a:rPr lang="en-IN" sz="2000" b="1" dirty="0" smtClean="0">
                <a:cs typeface="Arial" panose="020B0604020202020204" pitchFamily="34" charset="0"/>
              </a:rPr>
              <a:t>Computational </a:t>
            </a:r>
            <a:r>
              <a:rPr lang="en-IN" sz="2000" b="1" dirty="0" err="1" smtClean="0">
                <a:cs typeface="Arial" panose="020B0604020202020204" pitchFamily="34" charset="0"/>
              </a:rPr>
              <a:t>biomodeling</a:t>
            </a:r>
            <a:endParaRPr lang="en-IN" sz="2000" b="1" dirty="0" smtClean="0">
              <a:cs typeface="Arial" panose="020B0604020202020204" pitchFamily="34" charset="0"/>
            </a:endParaRPr>
          </a:p>
          <a:p>
            <a:pPr lvl="1">
              <a:buFont typeface="Wingdings" panose="05000000000000000000" pitchFamily="2" charset="2"/>
              <a:buChar char="v"/>
            </a:pPr>
            <a:r>
              <a:rPr lang="en-IN" sz="2000" dirty="0" smtClean="0">
                <a:cs typeface="Arial" panose="020B0604020202020204" pitchFamily="34" charset="0"/>
              </a:rPr>
              <a:t>Field </a:t>
            </a:r>
            <a:r>
              <a:rPr lang="en-IN" sz="2000" dirty="0">
                <a:cs typeface="Arial" panose="020B0604020202020204" pitchFamily="34" charset="0"/>
              </a:rPr>
              <a:t>concerned with </a:t>
            </a:r>
            <a:r>
              <a:rPr lang="en-IN" sz="2000" b="1" dirty="0">
                <a:cs typeface="Arial" panose="020B0604020202020204" pitchFamily="34" charset="0"/>
              </a:rPr>
              <a:t>building computer models of biological systems.</a:t>
            </a:r>
          </a:p>
          <a:p>
            <a:pPr lvl="1">
              <a:buFont typeface="Wingdings" panose="05000000000000000000" pitchFamily="2" charset="2"/>
              <a:buChar char="v"/>
            </a:pPr>
            <a:r>
              <a:rPr lang="en-IN" sz="2000" dirty="0" smtClean="0">
                <a:cs typeface="Arial" panose="020B0604020202020204" pitchFamily="34" charset="0"/>
              </a:rPr>
              <a:t>Develop </a:t>
            </a:r>
            <a:r>
              <a:rPr lang="en-IN" sz="2000" dirty="0">
                <a:cs typeface="Arial" panose="020B0604020202020204" pitchFamily="34" charset="0"/>
              </a:rPr>
              <a:t>and use </a:t>
            </a:r>
            <a:r>
              <a:rPr lang="en-IN" sz="2000" b="1" dirty="0">
                <a:cs typeface="Arial" panose="020B0604020202020204" pitchFamily="34" charset="0"/>
              </a:rPr>
              <a:t>visual simulations </a:t>
            </a:r>
            <a:r>
              <a:rPr lang="en-IN" sz="2000" dirty="0">
                <a:cs typeface="Arial" panose="020B0604020202020204" pitchFamily="34" charset="0"/>
              </a:rPr>
              <a:t>in order to assess the complexity of biological systems.</a:t>
            </a:r>
          </a:p>
          <a:p>
            <a:pPr lvl="1">
              <a:buFont typeface="Wingdings" panose="05000000000000000000" pitchFamily="2" charset="2"/>
              <a:buChar char="v"/>
            </a:pPr>
            <a:r>
              <a:rPr lang="en-IN" sz="2000" dirty="0">
                <a:cs typeface="Arial" panose="020B0604020202020204" pitchFamily="34" charset="0"/>
              </a:rPr>
              <a:t>These models </a:t>
            </a:r>
            <a:r>
              <a:rPr lang="en-IN" sz="2000" b="1" dirty="0">
                <a:cs typeface="Arial" panose="020B0604020202020204" pitchFamily="34" charset="0"/>
              </a:rPr>
              <a:t>allow for prediction </a:t>
            </a:r>
            <a:r>
              <a:rPr lang="en-IN" sz="2000" dirty="0">
                <a:cs typeface="Arial" panose="020B0604020202020204" pitchFamily="34" charset="0"/>
              </a:rPr>
              <a:t>of how systems will react under different environments.</a:t>
            </a:r>
          </a:p>
          <a:p>
            <a:pPr>
              <a:buFont typeface="Wingdings" panose="05000000000000000000" pitchFamily="2" charset="2"/>
              <a:buChar char="v"/>
            </a:pPr>
            <a:r>
              <a:rPr lang="en-IN" sz="2000" b="1" dirty="0">
                <a:cs typeface="Arial" panose="020B0604020202020204" pitchFamily="34" charset="0"/>
              </a:rPr>
              <a:t>Computational genomics </a:t>
            </a:r>
            <a:r>
              <a:rPr lang="en-IN" sz="2000" dirty="0">
                <a:cs typeface="Arial" panose="020B0604020202020204" pitchFamily="34" charset="0"/>
              </a:rPr>
              <a:t>(</a:t>
            </a:r>
            <a:r>
              <a:rPr lang="en-IN" sz="2000" b="1" i="1" dirty="0">
                <a:cs typeface="Arial" panose="020B0604020202020204" pitchFamily="34" charset="0"/>
              </a:rPr>
              <a:t>Computational genetics</a:t>
            </a:r>
            <a:r>
              <a:rPr lang="en-IN" sz="2000" dirty="0" smtClean="0">
                <a:cs typeface="Arial" panose="020B0604020202020204" pitchFamily="34" charset="0"/>
              </a:rPr>
              <a:t>)</a:t>
            </a:r>
          </a:p>
          <a:p>
            <a:pPr lvl="1">
              <a:buFont typeface="Wingdings" panose="05000000000000000000" pitchFamily="2" charset="2"/>
              <a:buChar char="v"/>
            </a:pPr>
            <a:r>
              <a:rPr lang="en-IN" sz="2000" dirty="0">
                <a:cs typeface="Arial" panose="020B0604020202020204" pitchFamily="34" charset="0"/>
              </a:rPr>
              <a:t> </a:t>
            </a:r>
            <a:r>
              <a:rPr lang="en-IN" sz="2000" dirty="0" smtClean="0">
                <a:cs typeface="Arial" panose="020B0604020202020204" pitchFamily="34" charset="0"/>
              </a:rPr>
              <a:t>It </a:t>
            </a:r>
            <a:r>
              <a:rPr lang="en-IN" sz="2000" dirty="0">
                <a:cs typeface="Arial" panose="020B0604020202020204" pitchFamily="34" charset="0"/>
              </a:rPr>
              <a:t>is sometimes referred to as Computational and Statistical Genetics and encompasses much of Bioinformatics. </a:t>
            </a:r>
            <a:r>
              <a:rPr lang="en-IN" sz="2000" b="1" dirty="0">
                <a:cs typeface="Arial" panose="020B0604020202020204" pitchFamily="34" charset="0"/>
              </a:rPr>
              <a:t>The Human Genome Project is one example of computational genomics</a:t>
            </a:r>
            <a:r>
              <a:rPr lang="en-IN" sz="2000" b="1" dirty="0" smtClean="0">
                <a:cs typeface="Arial" panose="020B0604020202020204" pitchFamily="34" charset="0"/>
              </a:rPr>
              <a:t>.</a:t>
            </a:r>
            <a:endParaRPr lang="en-IN" sz="2000" b="1" dirty="0">
              <a:cs typeface="Arial" panose="020B0604020202020204" pitchFamily="34" charset="0"/>
            </a:endParaRPr>
          </a:p>
        </p:txBody>
      </p:sp>
      <p:sp>
        <p:nvSpPr>
          <p:cNvPr id="3" name="Content Placeholder 2"/>
          <p:cNvSpPr>
            <a:spLocks noGrp="1"/>
          </p:cNvSpPr>
          <p:nvPr>
            <p:ph sz="quarter" idx="10"/>
          </p:nvPr>
        </p:nvSpPr>
        <p:spPr>
          <a:xfrm>
            <a:off x="304800" y="152400"/>
            <a:ext cx="7239000" cy="1143000"/>
          </a:xfrm>
        </p:spPr>
        <p:txBody>
          <a:bodyPr>
            <a:normAutofit/>
          </a:bodyPr>
          <a:lstStyle/>
          <a:p>
            <a:r>
              <a:rPr lang="en-IN" sz="2800" dirty="0"/>
              <a:t>Computational biology </a:t>
            </a:r>
            <a:r>
              <a:rPr lang="en-IN" sz="2800" dirty="0" smtClean="0"/>
              <a:t>(Subfields)</a:t>
            </a:r>
            <a:endParaRPr lang="en-IN" sz="2800" dirty="0"/>
          </a:p>
        </p:txBody>
      </p:sp>
      <p:sp>
        <p:nvSpPr>
          <p:cNvPr id="4" name="TextBox 3"/>
          <p:cNvSpPr txBox="1"/>
          <p:nvPr/>
        </p:nvSpPr>
        <p:spPr>
          <a:xfrm>
            <a:off x="4114800" y="6488668"/>
            <a:ext cx="2667000" cy="338554"/>
          </a:xfrm>
          <a:prstGeom prst="rect">
            <a:avLst/>
          </a:prstGeom>
          <a:noFill/>
        </p:spPr>
        <p:txBody>
          <a:bodyPr wrap="square" rtlCol="0">
            <a:spAutoFit/>
          </a:bodyPr>
          <a:lstStyle/>
          <a:p>
            <a:r>
              <a:rPr lang="en-IN" sz="1600" i="1" dirty="0"/>
              <a:t>Source Wikipedia</a:t>
            </a:r>
          </a:p>
        </p:txBody>
      </p:sp>
    </p:spTree>
    <p:extLst>
      <p:ext uri="{BB962C8B-B14F-4D97-AF65-F5344CB8AC3E}">
        <p14:creationId xmlns:p14="http://schemas.microsoft.com/office/powerpoint/2010/main" val="192976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47800"/>
            <a:ext cx="8229600" cy="5181600"/>
          </a:xfrm>
        </p:spPr>
        <p:txBody>
          <a:bodyPr>
            <a:noAutofit/>
          </a:bodyPr>
          <a:lstStyle/>
          <a:p>
            <a:pPr>
              <a:buFont typeface="Wingdings" panose="05000000000000000000" pitchFamily="2" charset="2"/>
              <a:buChar char="v"/>
            </a:pPr>
            <a:r>
              <a:rPr lang="en-IN" sz="2000" b="1" dirty="0" smtClean="0"/>
              <a:t>Computational neuroscience</a:t>
            </a:r>
          </a:p>
          <a:p>
            <a:pPr lvl="1">
              <a:buFont typeface="Wingdings" panose="05000000000000000000" pitchFamily="2" charset="2"/>
              <a:buChar char="v"/>
            </a:pPr>
            <a:r>
              <a:rPr lang="en-IN" sz="2000" dirty="0"/>
              <a:t>Computational neuroscience is the </a:t>
            </a:r>
            <a:r>
              <a:rPr lang="en-IN" sz="2000" b="1" dirty="0"/>
              <a:t>study of brain function </a:t>
            </a:r>
            <a:r>
              <a:rPr lang="en-IN" sz="2000" dirty="0"/>
              <a:t>in terms of the </a:t>
            </a:r>
            <a:r>
              <a:rPr lang="en-IN" sz="2000" b="1" dirty="0"/>
              <a:t>information processing properties </a:t>
            </a: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Realistic Brain Models:</a:t>
            </a: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Simplifying Brain Models: </a:t>
            </a:r>
          </a:p>
          <a:p>
            <a:pPr>
              <a:buFont typeface="Wingdings" panose="05000000000000000000" pitchFamily="2" charset="2"/>
              <a:buChar char="v"/>
            </a:pPr>
            <a:r>
              <a:rPr lang="en-IN" sz="2000" b="1" dirty="0"/>
              <a:t>Computational </a:t>
            </a:r>
            <a:r>
              <a:rPr lang="en-IN" sz="2000" b="1" dirty="0" smtClean="0"/>
              <a:t>pharmacology</a:t>
            </a:r>
          </a:p>
          <a:p>
            <a:pPr lvl="1">
              <a:buFont typeface="Wingdings" panose="05000000000000000000" pitchFamily="2" charset="2"/>
              <a:buChar char="v"/>
            </a:pPr>
            <a:r>
              <a:rPr lang="en-IN" sz="2000" dirty="0"/>
              <a:t>the study of the effects of genomic data </a:t>
            </a:r>
            <a:r>
              <a:rPr lang="en-IN" sz="2000" b="1" dirty="0"/>
              <a:t>to find links between specific genotypes and diseases </a:t>
            </a:r>
            <a:r>
              <a:rPr lang="en-IN" sz="2000" dirty="0"/>
              <a:t>and then screening drug data</a:t>
            </a:r>
          </a:p>
          <a:p>
            <a:pPr>
              <a:buFont typeface="Wingdings" panose="05000000000000000000" pitchFamily="2" charset="2"/>
              <a:buChar char="v"/>
            </a:pPr>
            <a:r>
              <a:rPr lang="en-IN" sz="2000" b="1" dirty="0" smtClean="0"/>
              <a:t>Computational evolutionary biology</a:t>
            </a:r>
          </a:p>
          <a:p>
            <a:pPr lvl="1">
              <a:buFont typeface="Wingdings" panose="05000000000000000000" pitchFamily="2" charset="2"/>
              <a:buChar char="v"/>
            </a:pPr>
            <a:r>
              <a:rPr lang="en-IN" sz="2000" dirty="0" smtClean="0"/>
              <a:t>Using DNA data to reconstruct the tree of life with computational </a:t>
            </a:r>
            <a:r>
              <a:rPr lang="en-IN" sz="2000" dirty="0" err="1" smtClean="0"/>
              <a:t>phylogenetics</a:t>
            </a:r>
            <a:endParaRPr lang="en-IN" sz="2000" dirty="0" smtClean="0"/>
          </a:p>
          <a:p>
            <a:pPr lvl="1">
              <a:buFont typeface="Wingdings" panose="05000000000000000000" pitchFamily="2" charset="2"/>
              <a:buChar char="v"/>
            </a:pPr>
            <a:r>
              <a:rPr lang="en-IN" sz="2000" dirty="0" smtClean="0"/>
              <a:t>Fitting </a:t>
            </a:r>
            <a:r>
              <a:rPr lang="en-IN" sz="2000" dirty="0"/>
              <a:t>population genetics models (either forward </a:t>
            </a:r>
            <a:r>
              <a:rPr lang="en-IN" sz="2000" dirty="0" smtClean="0"/>
              <a:t>time or </a:t>
            </a:r>
            <a:r>
              <a:rPr lang="en-IN" sz="2000" dirty="0"/>
              <a:t>backward time) to DNA data to make inferences about demographic or selective </a:t>
            </a:r>
            <a:r>
              <a:rPr lang="en-IN" sz="2000" dirty="0" smtClean="0"/>
              <a:t>history.</a:t>
            </a:r>
            <a:endParaRPr lang="en-IN" sz="2000" dirty="0"/>
          </a:p>
        </p:txBody>
      </p:sp>
      <p:sp>
        <p:nvSpPr>
          <p:cNvPr id="3" name="Content Placeholder 2"/>
          <p:cNvSpPr>
            <a:spLocks noGrp="1"/>
          </p:cNvSpPr>
          <p:nvPr>
            <p:ph sz="quarter" idx="10"/>
          </p:nvPr>
        </p:nvSpPr>
        <p:spPr>
          <a:xfrm>
            <a:off x="304800" y="152400"/>
            <a:ext cx="7239000" cy="1143000"/>
          </a:xfrm>
        </p:spPr>
        <p:txBody>
          <a:bodyPr>
            <a:normAutofit/>
          </a:bodyPr>
          <a:lstStyle/>
          <a:p>
            <a:r>
              <a:rPr lang="en-IN" sz="2800" dirty="0"/>
              <a:t>Computational biology </a:t>
            </a:r>
            <a:r>
              <a:rPr lang="en-IN" sz="2800" dirty="0" smtClean="0"/>
              <a:t>(Subfields).…</a:t>
            </a:r>
            <a:endParaRPr lang="en-IN" sz="2800" dirty="0"/>
          </a:p>
        </p:txBody>
      </p:sp>
      <p:sp>
        <p:nvSpPr>
          <p:cNvPr id="4" name="TextBox 3"/>
          <p:cNvSpPr txBox="1"/>
          <p:nvPr/>
        </p:nvSpPr>
        <p:spPr>
          <a:xfrm>
            <a:off x="4114800" y="6488668"/>
            <a:ext cx="2667000" cy="338554"/>
          </a:xfrm>
          <a:prstGeom prst="rect">
            <a:avLst/>
          </a:prstGeom>
          <a:noFill/>
        </p:spPr>
        <p:txBody>
          <a:bodyPr wrap="square" rtlCol="0">
            <a:spAutoFit/>
          </a:bodyPr>
          <a:lstStyle/>
          <a:p>
            <a:r>
              <a:rPr lang="en-IN" sz="1600" i="1" dirty="0"/>
              <a:t>Source Wikipedia</a:t>
            </a:r>
          </a:p>
        </p:txBody>
      </p:sp>
    </p:spTree>
    <p:extLst>
      <p:ext uri="{BB962C8B-B14F-4D97-AF65-F5344CB8AC3E}">
        <p14:creationId xmlns:p14="http://schemas.microsoft.com/office/powerpoint/2010/main" val="51290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47800"/>
            <a:ext cx="8229600" cy="4525963"/>
          </a:xfrm>
        </p:spPr>
        <p:txBody>
          <a:bodyPr>
            <a:noAutofit/>
          </a:bodyPr>
          <a:lstStyle/>
          <a:p>
            <a:pPr>
              <a:buFont typeface="Wingdings" panose="05000000000000000000" pitchFamily="2" charset="2"/>
              <a:buChar char="v"/>
            </a:pPr>
            <a:r>
              <a:rPr lang="en-IN" sz="2000" b="1" dirty="0" smtClean="0"/>
              <a:t>Cancer </a:t>
            </a:r>
            <a:r>
              <a:rPr lang="en-IN" sz="2000" b="1" dirty="0"/>
              <a:t>computational </a:t>
            </a:r>
            <a:r>
              <a:rPr lang="en-IN" sz="2000" b="1" dirty="0" smtClean="0"/>
              <a:t>biology</a:t>
            </a:r>
          </a:p>
          <a:p>
            <a:pPr lvl="1">
              <a:buFont typeface="Wingdings" panose="05000000000000000000" pitchFamily="2" charset="2"/>
              <a:buChar char="v"/>
            </a:pPr>
            <a:r>
              <a:rPr lang="en-IN" sz="2000" dirty="0"/>
              <a:t>A</a:t>
            </a:r>
            <a:r>
              <a:rPr lang="en-IN" sz="2000" dirty="0" smtClean="0"/>
              <a:t>ims </a:t>
            </a:r>
            <a:r>
              <a:rPr lang="en-IN" sz="2000" dirty="0"/>
              <a:t>to determine the </a:t>
            </a:r>
            <a:r>
              <a:rPr lang="en-IN" sz="2000" b="1" dirty="0"/>
              <a:t>future mutations in cancer </a:t>
            </a:r>
            <a:r>
              <a:rPr lang="en-IN" sz="2000" dirty="0"/>
              <a:t>through an algorithmic approach to </a:t>
            </a:r>
            <a:r>
              <a:rPr lang="en-IN" sz="2000" dirty="0" err="1"/>
              <a:t>analyzing</a:t>
            </a:r>
            <a:r>
              <a:rPr lang="en-IN" sz="2000" dirty="0"/>
              <a:t> data.</a:t>
            </a:r>
          </a:p>
          <a:p>
            <a:pPr>
              <a:buFont typeface="Wingdings" panose="05000000000000000000" pitchFamily="2" charset="2"/>
              <a:buChar char="v"/>
            </a:pPr>
            <a:r>
              <a:rPr lang="en-IN" sz="2000" b="1" dirty="0"/>
              <a:t>Computational </a:t>
            </a:r>
            <a:r>
              <a:rPr lang="en-IN" sz="2000" b="1" dirty="0" smtClean="0"/>
              <a:t>neuropsychiatry</a:t>
            </a:r>
          </a:p>
          <a:p>
            <a:pPr lvl="1">
              <a:buFont typeface="Wingdings" panose="05000000000000000000" pitchFamily="2" charset="2"/>
              <a:buChar char="v"/>
            </a:pPr>
            <a:r>
              <a:rPr lang="en-IN" sz="2000" dirty="0"/>
              <a:t>uses mathematical and computer-assisted </a:t>
            </a:r>
            <a:r>
              <a:rPr lang="en-IN" sz="2000" dirty="0" err="1"/>
              <a:t>modeling</a:t>
            </a:r>
            <a:r>
              <a:rPr lang="en-IN" sz="2000" dirty="0"/>
              <a:t> of brain mechanisms involved in </a:t>
            </a:r>
            <a:r>
              <a:rPr lang="en-IN" sz="2000" b="1" dirty="0"/>
              <a:t>mental disorders</a:t>
            </a:r>
            <a:r>
              <a:rPr lang="en-IN" sz="2000" dirty="0"/>
              <a:t>.</a:t>
            </a:r>
          </a:p>
        </p:txBody>
      </p:sp>
      <p:sp>
        <p:nvSpPr>
          <p:cNvPr id="3" name="Content Placeholder 2"/>
          <p:cNvSpPr>
            <a:spLocks noGrp="1"/>
          </p:cNvSpPr>
          <p:nvPr>
            <p:ph sz="quarter" idx="10"/>
          </p:nvPr>
        </p:nvSpPr>
        <p:spPr>
          <a:xfrm>
            <a:off x="304800" y="152400"/>
            <a:ext cx="7239000" cy="1143000"/>
          </a:xfrm>
        </p:spPr>
        <p:txBody>
          <a:bodyPr>
            <a:normAutofit/>
          </a:bodyPr>
          <a:lstStyle/>
          <a:p>
            <a:r>
              <a:rPr lang="en-IN" sz="2800" dirty="0"/>
              <a:t>Computational biology </a:t>
            </a:r>
            <a:r>
              <a:rPr lang="en-IN" sz="2800" dirty="0" smtClean="0"/>
              <a:t>(Subfields)….</a:t>
            </a:r>
            <a:endParaRPr lang="en-IN" sz="2800" dirty="0"/>
          </a:p>
        </p:txBody>
      </p:sp>
      <p:sp>
        <p:nvSpPr>
          <p:cNvPr id="4" name="TextBox 3"/>
          <p:cNvSpPr txBox="1"/>
          <p:nvPr/>
        </p:nvSpPr>
        <p:spPr>
          <a:xfrm>
            <a:off x="4114800" y="6488668"/>
            <a:ext cx="2667000" cy="338554"/>
          </a:xfrm>
          <a:prstGeom prst="rect">
            <a:avLst/>
          </a:prstGeom>
          <a:noFill/>
        </p:spPr>
        <p:txBody>
          <a:bodyPr wrap="square" rtlCol="0">
            <a:spAutoFit/>
          </a:bodyPr>
          <a:lstStyle/>
          <a:p>
            <a:r>
              <a:rPr lang="en-IN" sz="1600" i="1" dirty="0"/>
              <a:t>Source Wikipedia</a:t>
            </a:r>
          </a:p>
        </p:txBody>
      </p:sp>
    </p:spTree>
    <p:extLst>
      <p:ext uri="{BB962C8B-B14F-4D97-AF65-F5344CB8AC3E}">
        <p14:creationId xmlns:p14="http://schemas.microsoft.com/office/powerpoint/2010/main" val="196321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smtClean="0"/>
              <a:t>Chemical data </a:t>
            </a:r>
            <a:r>
              <a:rPr lang="en-IN" sz="2000" b="1" dirty="0"/>
              <a:t>analysis </a:t>
            </a:r>
            <a:r>
              <a:rPr lang="en-IN" sz="2000" b="1" i="1" dirty="0" smtClean="0"/>
              <a:t>(</a:t>
            </a:r>
            <a:r>
              <a:rPr lang="en-IN" sz="2000" b="1" i="1" dirty="0"/>
              <a:t>S</a:t>
            </a:r>
            <a:r>
              <a:rPr lang="en-IN" sz="2000" b="1" i="1" dirty="0" smtClean="0"/>
              <a:t>tructure </a:t>
            </a:r>
            <a:r>
              <a:rPr lang="en-IN" sz="2000" b="1" i="1" dirty="0"/>
              <a:t>A</a:t>
            </a:r>
            <a:r>
              <a:rPr lang="en-IN" sz="2000" b="1" i="1" dirty="0" smtClean="0"/>
              <a:t>ctivity Relationship </a:t>
            </a:r>
            <a:r>
              <a:rPr lang="en-IN" sz="2000" b="1" i="1" dirty="0"/>
              <a:t>(</a:t>
            </a:r>
            <a:r>
              <a:rPr lang="en-IN" sz="2000" b="1" i="1" u="sng" dirty="0"/>
              <a:t>SAR</a:t>
            </a:r>
            <a:r>
              <a:rPr lang="en-IN" sz="2000" b="1" i="1" dirty="0"/>
              <a:t>) </a:t>
            </a:r>
            <a:r>
              <a:rPr lang="en-IN" sz="2000" b="1" i="1" dirty="0" smtClean="0"/>
              <a:t>principle)</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Behaviour of chemical compound,</a:t>
            </a: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Property of any compound is based on its structural composition.</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Drug Discovery</a:t>
            </a:r>
          </a:p>
          <a:p>
            <a:pPr lvl="3">
              <a:buFont typeface="Wingdings" panose="05000000000000000000" pitchFamily="2" charset="2"/>
              <a:buChar char="v"/>
            </a:pPr>
            <a:r>
              <a:rPr lang="en-IN" dirty="0">
                <a:latin typeface="Arial" panose="020B0604020202020204" pitchFamily="34" charset="0"/>
                <a:cs typeface="Arial" panose="020B0604020202020204" pitchFamily="34" charset="0"/>
              </a:rPr>
              <a:t>Thus, graph mining may help reveal chemical and biology </a:t>
            </a:r>
            <a:r>
              <a:rPr lang="en-IN" dirty="0" smtClean="0">
                <a:latin typeface="Arial" panose="020B0604020202020204" pitchFamily="34" charset="0"/>
                <a:cs typeface="Arial" panose="020B0604020202020204" pitchFamily="34" charset="0"/>
              </a:rPr>
              <a:t>characteristics to </a:t>
            </a:r>
            <a:r>
              <a:rPr lang="en-IN" dirty="0">
                <a:latin typeface="Arial" panose="020B0604020202020204" pitchFamily="34" charset="0"/>
                <a:cs typeface="Arial" panose="020B0604020202020204" pitchFamily="34" charset="0"/>
              </a:rPr>
              <a:t>facilitate the process of drug design</a:t>
            </a:r>
            <a:r>
              <a:rPr lang="en-IN" dirty="0" smtClean="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such </a:t>
            </a:r>
            <a:r>
              <a:rPr lang="en-IN" dirty="0" smtClean="0">
                <a:latin typeface="Arial" panose="020B0604020202020204" pitchFamily="34" charset="0"/>
                <a:cs typeface="Arial" panose="020B0604020202020204" pitchFamily="34" charset="0"/>
              </a:rPr>
              <a:t>as: </a:t>
            </a:r>
          </a:p>
          <a:p>
            <a:pPr lvl="4">
              <a:buFont typeface="Wingdings" panose="05000000000000000000" pitchFamily="2" charset="2"/>
              <a:buChar char="v"/>
            </a:pPr>
            <a:r>
              <a:rPr lang="en-IN" dirty="0" smtClean="0">
                <a:latin typeface="Arial" panose="020B0604020202020204" pitchFamily="34" charset="0"/>
                <a:cs typeface="Arial" panose="020B0604020202020204" pitchFamily="34" charset="0"/>
              </a:rPr>
              <a:t>activity</a:t>
            </a:r>
            <a:r>
              <a:rPr lang="en-IN" dirty="0">
                <a:latin typeface="Arial" panose="020B0604020202020204" pitchFamily="34" charset="0"/>
                <a:cs typeface="Arial" panose="020B0604020202020204" pitchFamily="34" charset="0"/>
              </a:rPr>
              <a:t>, </a:t>
            </a:r>
            <a:r>
              <a:rPr lang="en-IN" dirty="0" smtClean="0">
                <a:latin typeface="Arial" panose="020B0604020202020204" pitchFamily="34" charset="0"/>
                <a:cs typeface="Arial" panose="020B0604020202020204" pitchFamily="34" charset="0"/>
              </a:rPr>
              <a:t>toxicity</a:t>
            </a:r>
            <a:r>
              <a:rPr lang="en-IN" dirty="0">
                <a:latin typeface="Arial" panose="020B0604020202020204" pitchFamily="34" charset="0"/>
                <a:cs typeface="Arial" panose="020B0604020202020204" pitchFamily="34" charset="0"/>
              </a:rPr>
              <a:t>, </a:t>
            </a:r>
            <a:r>
              <a:rPr lang="en-IN" dirty="0" smtClean="0">
                <a:latin typeface="Arial" panose="020B0604020202020204" pitchFamily="34" charset="0"/>
                <a:cs typeface="Arial" panose="020B0604020202020204" pitchFamily="34" charset="0"/>
              </a:rPr>
              <a:t>absorption</a:t>
            </a:r>
            <a:r>
              <a:rPr lang="en-IN" dirty="0">
                <a:latin typeface="Arial" panose="020B0604020202020204" pitchFamily="34" charset="0"/>
                <a:cs typeface="Arial" panose="020B0604020202020204" pitchFamily="34" charset="0"/>
              </a:rPr>
              <a:t>, </a:t>
            </a:r>
            <a:r>
              <a:rPr lang="en-IN" dirty="0" smtClean="0">
                <a:latin typeface="Arial" panose="020B0604020202020204" pitchFamily="34" charset="0"/>
                <a:cs typeface="Arial" panose="020B0604020202020204" pitchFamily="34" charset="0"/>
              </a:rPr>
              <a:t>metabolism</a:t>
            </a:r>
            <a:r>
              <a:rPr lang="en-IN" dirty="0">
                <a:latin typeface="Arial" panose="020B0604020202020204" pitchFamily="34" charset="0"/>
                <a:cs typeface="Arial" panose="020B0604020202020204" pitchFamily="34" charset="0"/>
              </a:rPr>
              <a:t>, etc. </a:t>
            </a:r>
            <a:r>
              <a:rPr lang="en-IN" dirty="0" smtClean="0">
                <a:latin typeface="Arial" panose="020B0604020202020204" pitchFamily="34" charset="0"/>
                <a:cs typeface="Arial" panose="020B0604020202020204" pitchFamily="34" charset="0"/>
              </a:rPr>
              <a:t>[1],</a:t>
            </a:r>
          </a:p>
        </p:txBody>
      </p:sp>
      <p:sp>
        <p:nvSpPr>
          <p:cNvPr id="4" name="TextBox 3"/>
          <p:cNvSpPr txBox="1"/>
          <p:nvPr/>
        </p:nvSpPr>
        <p:spPr>
          <a:xfrm>
            <a:off x="685800" y="6276201"/>
            <a:ext cx="7848600" cy="276999"/>
          </a:xfrm>
          <a:prstGeom prst="rect">
            <a:avLst/>
          </a:prstGeom>
          <a:noFill/>
        </p:spPr>
        <p:txBody>
          <a:bodyPr wrap="square" rtlCol="0">
            <a:spAutoFit/>
          </a:bodyPr>
          <a:lstStyle/>
          <a:p>
            <a:r>
              <a:rPr lang="en-IN" sz="1100" dirty="0" smtClean="0"/>
              <a:t>[1] H.J</a:t>
            </a:r>
            <a:r>
              <a:rPr lang="en-IN" sz="1100" dirty="0"/>
              <a:t>. Bohm, G. </a:t>
            </a:r>
            <a:r>
              <a:rPr lang="en-IN" sz="1200" b="1" dirty="0"/>
              <a:t>Schneider. </a:t>
            </a:r>
            <a:r>
              <a:rPr lang="en-IN" sz="1200" b="1" i="1" dirty="0"/>
              <a:t>Virtual Screening for Bioactive Molecules</a:t>
            </a:r>
            <a:r>
              <a:rPr lang="en-IN" sz="1100" dirty="0" smtClean="0"/>
              <a:t>. Wiley-VCH</a:t>
            </a:r>
            <a:r>
              <a:rPr lang="en-IN" sz="1100" dirty="0"/>
              <a:t>, 2000.</a:t>
            </a:r>
          </a:p>
        </p:txBody>
      </p:sp>
      <p:sp>
        <p:nvSpPr>
          <p:cNvPr id="6" name="Content Placeholder 2"/>
          <p:cNvSpPr>
            <a:spLocks noGrp="1"/>
          </p:cNvSpPr>
          <p:nvPr>
            <p:ph sz="quarter" idx="10"/>
          </p:nvPr>
        </p:nvSpPr>
        <p:spPr/>
        <p:txBody>
          <a:bodyPr/>
          <a:lstStyle/>
          <a:p>
            <a:r>
              <a:rPr lang="en-IN" dirty="0"/>
              <a:t>Application Of Graph </a:t>
            </a:r>
            <a:r>
              <a:rPr lang="en-IN" dirty="0" smtClean="0"/>
              <a:t>Mining</a:t>
            </a:r>
            <a:endParaRPr lang="en-IN" dirty="0"/>
          </a:p>
        </p:txBody>
      </p:sp>
    </p:spTree>
    <p:extLst>
      <p:ext uri="{BB962C8B-B14F-4D97-AF65-F5344CB8AC3E}">
        <p14:creationId xmlns:p14="http://schemas.microsoft.com/office/powerpoint/2010/main" val="201560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a:t>Chemical data analysis </a:t>
            </a:r>
            <a:r>
              <a:rPr lang="en-IN" sz="2000" b="1" i="1" dirty="0"/>
              <a:t>(Structure Activity Relationship (</a:t>
            </a:r>
            <a:r>
              <a:rPr lang="en-IN" sz="2000" b="1" i="1" u="sng" dirty="0"/>
              <a:t>SAR</a:t>
            </a:r>
            <a:r>
              <a:rPr lang="en-IN" sz="2000" b="1" i="1" dirty="0"/>
              <a:t>) principle)</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Fundamental </a:t>
            </a:r>
            <a:r>
              <a:rPr lang="en-IN" sz="2000" dirty="0">
                <a:latin typeface="Arial" panose="020B0604020202020204" pitchFamily="34" charset="0"/>
                <a:cs typeface="Arial" panose="020B0604020202020204" pitchFamily="34" charset="0"/>
              </a:rPr>
              <a:t>operations </a:t>
            </a:r>
            <a:r>
              <a:rPr lang="en-IN" sz="2000" dirty="0" smtClean="0">
                <a:latin typeface="Arial" panose="020B0604020202020204" pitchFamily="34" charset="0"/>
                <a:cs typeface="Arial" panose="020B0604020202020204" pitchFamily="34" charset="0"/>
              </a:rPr>
              <a:t>is similarity search for </a:t>
            </a:r>
          </a:p>
          <a:p>
            <a:pPr marL="1714500" lvl="3" indent="-400050">
              <a:buFont typeface="+mj-lt"/>
              <a:buAutoNum type="romanLcPeriod"/>
            </a:pPr>
            <a:r>
              <a:rPr lang="en-IN" b="1" dirty="0" err="1" smtClean="0">
                <a:latin typeface="Arial" panose="020B0604020202020204" pitchFamily="34" charset="0"/>
                <a:cs typeface="Arial" panose="020B0604020202020204" pitchFamily="34" charset="0"/>
              </a:rPr>
              <a:t>Rankretrieval</a:t>
            </a:r>
            <a:r>
              <a:rPr lang="en-IN" b="1" dirty="0" smtClean="0">
                <a:latin typeface="Arial" panose="020B0604020202020204" pitchFamily="34" charset="0"/>
                <a:cs typeface="Arial" panose="020B0604020202020204" pitchFamily="34" charset="0"/>
              </a:rPr>
              <a:t>:</a:t>
            </a:r>
            <a:r>
              <a:rPr lang="en-IN" dirty="0" smtClean="0">
                <a:latin typeface="Arial" panose="020B0604020202020204" pitchFamily="34" charset="0"/>
                <a:cs typeface="Arial" panose="020B0604020202020204" pitchFamily="34" charset="0"/>
              </a:rPr>
              <a:t> searching </a:t>
            </a:r>
            <a:r>
              <a:rPr lang="en-IN" dirty="0">
                <a:latin typeface="Arial" panose="020B0604020202020204" pitchFamily="34" charset="0"/>
                <a:cs typeface="Arial" panose="020B0604020202020204" pitchFamily="34" charset="0"/>
              </a:rPr>
              <a:t>a large database to find chemical compounds that share the same bioactivity as a query compound</a:t>
            </a:r>
            <a:r>
              <a:rPr lang="en-IN" dirty="0" smtClean="0">
                <a:latin typeface="Arial" panose="020B0604020202020204" pitchFamily="34" charset="0"/>
                <a:cs typeface="Arial" panose="020B0604020202020204" pitchFamily="34" charset="0"/>
              </a:rPr>
              <a:t>;</a:t>
            </a:r>
          </a:p>
          <a:p>
            <a:pPr marL="1714500" lvl="3" indent="-400050">
              <a:buFont typeface="+mj-lt"/>
              <a:buAutoNum type="romanLcPeriod"/>
            </a:pPr>
            <a:r>
              <a:rPr lang="en-IN" b="1" dirty="0" smtClean="0">
                <a:latin typeface="Arial" panose="020B0604020202020204" pitchFamily="34" charset="0"/>
                <a:cs typeface="Arial" panose="020B0604020202020204" pitchFamily="34" charset="0"/>
              </a:rPr>
              <a:t>scaffold-hopping:</a:t>
            </a:r>
            <a:r>
              <a:rPr lang="en-IN" dirty="0" smtClean="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finding compounds that have similar bioactivity but different structure from the query compound. </a:t>
            </a:r>
            <a:endParaRPr lang="en-IN"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3382381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447800"/>
            <a:ext cx="8229600" cy="4525963"/>
          </a:xfrm>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a:t>Chemical data analysis </a:t>
            </a:r>
            <a:r>
              <a:rPr lang="en-IN" sz="2000" b="1" i="1" dirty="0"/>
              <a:t>(Structure Activity Relationship (</a:t>
            </a:r>
            <a:r>
              <a:rPr lang="en-IN" sz="2000" b="1" i="1" u="sng" dirty="0"/>
              <a:t>SAR</a:t>
            </a:r>
            <a:r>
              <a:rPr lang="en-IN" sz="2000" b="1" i="1" dirty="0"/>
              <a:t>) principle)</a:t>
            </a:r>
          </a:p>
          <a:p>
            <a:pPr lvl="2">
              <a:buFont typeface="Wingdings" panose="05000000000000000000" pitchFamily="2" charset="2"/>
              <a:buChar char="v"/>
            </a:pPr>
            <a:r>
              <a:rPr lang="en-IN" sz="2000" i="1" dirty="0" smtClean="0">
                <a:latin typeface="Arial" panose="020B0604020202020204" pitchFamily="34" charset="0"/>
                <a:cs typeface="Arial" panose="020B0604020202020204" pitchFamily="34" charset="0"/>
              </a:rPr>
              <a:t>Fundamental </a:t>
            </a:r>
            <a:r>
              <a:rPr lang="en-IN" sz="2000" i="1" dirty="0">
                <a:latin typeface="Arial" panose="020B0604020202020204" pitchFamily="34" charset="0"/>
                <a:cs typeface="Arial" panose="020B0604020202020204" pitchFamily="34" charset="0"/>
              </a:rPr>
              <a:t>operations </a:t>
            </a:r>
            <a:r>
              <a:rPr lang="en-IN" sz="2000" i="1" dirty="0" smtClean="0">
                <a:latin typeface="Arial" panose="020B0604020202020204" pitchFamily="34" charset="0"/>
                <a:cs typeface="Arial" panose="020B0604020202020204" pitchFamily="34" charset="0"/>
              </a:rPr>
              <a:t>is similarity search </a:t>
            </a:r>
          </a:p>
          <a:p>
            <a:pPr marL="514350">
              <a:buFont typeface="Wingdings" panose="05000000000000000000" pitchFamily="2" charset="2"/>
              <a:buChar char="v"/>
            </a:pPr>
            <a:r>
              <a:rPr lang="en-IN" sz="2000" dirty="0" smtClean="0"/>
              <a:t>Identify </a:t>
            </a:r>
            <a:r>
              <a:rPr lang="en-IN" sz="2000" dirty="0"/>
              <a:t>compounds that are good </a:t>
            </a:r>
            <a:r>
              <a:rPr lang="en-IN" sz="2000" dirty="0" smtClean="0"/>
              <a:t>“</a:t>
            </a:r>
            <a:r>
              <a:rPr lang="en-IN" sz="2000" b="1" i="1" dirty="0" smtClean="0"/>
              <a:t>replacement</a:t>
            </a:r>
            <a:r>
              <a:rPr lang="en-IN" sz="2000" dirty="0" smtClean="0"/>
              <a:t>” </a:t>
            </a:r>
            <a:r>
              <a:rPr lang="en-IN" sz="2000" dirty="0"/>
              <a:t>for the query compound, which either has some </a:t>
            </a:r>
            <a:r>
              <a:rPr lang="en-IN" sz="2000" dirty="0" smtClean="0"/>
              <a:t>undesirable </a:t>
            </a:r>
            <a:r>
              <a:rPr lang="en-IN" sz="2000" dirty="0"/>
              <a:t>properties (e.g., </a:t>
            </a:r>
            <a:r>
              <a:rPr lang="en-IN" sz="2000" i="1" dirty="0"/>
              <a:t>toxicity</a:t>
            </a:r>
            <a:r>
              <a:rPr lang="en-IN" sz="2000" dirty="0"/>
              <a:t>), or is from the existing patented chemical space. </a:t>
            </a:r>
            <a:endParaRPr lang="en-IN" sz="2000" dirty="0" smtClean="0"/>
          </a:p>
          <a:p>
            <a:pPr marL="914400" lvl="1">
              <a:buFont typeface="Wingdings" panose="05000000000000000000" pitchFamily="2" charset="2"/>
              <a:buChar char="v"/>
            </a:pPr>
            <a:r>
              <a:rPr lang="en-IN" sz="2000" dirty="0" smtClean="0"/>
              <a:t>Since </a:t>
            </a:r>
            <a:r>
              <a:rPr lang="en-IN" sz="2000" dirty="0"/>
              <a:t>chemical structure determines bioactivity (the SAR principle), scaffold- hopping is challenging, as the identified compounds must be structurally </a:t>
            </a:r>
            <a:r>
              <a:rPr lang="en-IN" sz="2000" dirty="0" smtClean="0"/>
              <a:t>similar </a:t>
            </a:r>
            <a:r>
              <a:rPr lang="en-IN" sz="2000" dirty="0"/>
              <a:t>enough to demonstrate similar bioactivity, but different enough to be a novel </a:t>
            </a:r>
            <a:r>
              <a:rPr lang="en-IN" sz="2000" dirty="0" err="1"/>
              <a:t>chemotype</a:t>
            </a:r>
            <a:r>
              <a:rPr lang="en-IN" sz="2000" dirty="0" smtClean="0"/>
              <a:t>.</a:t>
            </a:r>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301090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447800"/>
            <a:ext cx="8229600" cy="4525963"/>
          </a:xfrm>
        </p:spPr>
        <p:txBody>
          <a:bodyPr>
            <a:noAutofit/>
          </a:bodyPr>
          <a:lstStyle/>
          <a:p>
            <a:pPr>
              <a:buFont typeface="Wingdings" panose="05000000000000000000" pitchFamily="2" charset="2"/>
              <a:buChar char="v"/>
            </a:pPr>
            <a:r>
              <a:rPr lang="en-IN" sz="2000" dirty="0" smtClean="0"/>
              <a:t>The field of graph mining has seen a rapid explosion in recent years because of new applications in</a:t>
            </a:r>
          </a:p>
          <a:p>
            <a:pPr lvl="1">
              <a:buFont typeface="Wingdings" panose="05000000000000000000" pitchFamily="2" charset="2"/>
              <a:buChar char="v"/>
            </a:pPr>
            <a:r>
              <a:rPr lang="en-IN" sz="2000" b="1" dirty="0"/>
              <a:t>Chemical data analysis </a:t>
            </a:r>
            <a:r>
              <a:rPr lang="en-IN" sz="2000" b="1" i="1" dirty="0"/>
              <a:t>(Structure Activity Relationship (</a:t>
            </a:r>
            <a:r>
              <a:rPr lang="en-IN" sz="2000" b="1" i="1" u="sng" dirty="0"/>
              <a:t>SAR</a:t>
            </a:r>
            <a:r>
              <a:rPr lang="en-IN" sz="2000" b="1" i="1" dirty="0"/>
              <a:t>) principle)</a:t>
            </a:r>
          </a:p>
          <a:p>
            <a:pPr marL="514350">
              <a:buFont typeface="Wingdings" panose="05000000000000000000" pitchFamily="2" charset="2"/>
              <a:buChar char="v"/>
            </a:pPr>
            <a:r>
              <a:rPr lang="en-IN" sz="2000" b="1" dirty="0" smtClean="0"/>
              <a:t>Structure-driven prediction:</a:t>
            </a:r>
            <a:r>
              <a:rPr lang="en-IN" sz="2000" dirty="0" smtClean="0"/>
              <a:t> to predict about any chemical based on its structure, i.e. active or inactive, toxic or nontoxic, etc. </a:t>
            </a:r>
          </a:p>
          <a:p>
            <a:pPr marL="914400" lvl="1">
              <a:buFont typeface="Wingdings" panose="05000000000000000000" pitchFamily="2" charset="2"/>
              <a:buChar char="v"/>
            </a:pPr>
            <a:r>
              <a:rPr lang="en-IN" sz="2000" b="1" dirty="0" smtClean="0"/>
              <a:t>SVM</a:t>
            </a:r>
            <a:r>
              <a:rPr lang="en-IN" sz="2000" dirty="0" smtClean="0"/>
              <a:t> (</a:t>
            </a:r>
            <a:r>
              <a:rPr lang="en-IN" sz="2000" i="1" dirty="0" smtClean="0"/>
              <a:t>Support Vector Machines</a:t>
            </a:r>
            <a:r>
              <a:rPr lang="en-IN" sz="2000" dirty="0" smtClean="0"/>
              <a:t>) based methods have proved effective for this task.</a:t>
            </a:r>
          </a:p>
          <a:p>
            <a:pPr marL="514350">
              <a:buFont typeface="Wingdings" panose="05000000000000000000" pitchFamily="2" charset="2"/>
              <a:buChar char="v"/>
            </a:pPr>
            <a:r>
              <a:rPr lang="en-IN" sz="2000" b="1" dirty="0" smtClean="0"/>
              <a:t>Target-based </a:t>
            </a:r>
            <a:r>
              <a:rPr lang="en-IN" sz="2000" b="1" dirty="0"/>
              <a:t>drug </a:t>
            </a:r>
            <a:r>
              <a:rPr lang="en-IN" sz="2000" b="1" dirty="0" smtClean="0"/>
              <a:t>discovery: </a:t>
            </a:r>
            <a:r>
              <a:rPr lang="en-IN" sz="2000" dirty="0" smtClean="0"/>
              <a:t>starts in </a:t>
            </a:r>
            <a:r>
              <a:rPr lang="en-IN" sz="2000" dirty="0"/>
              <a:t>late 1980's, </a:t>
            </a:r>
            <a:r>
              <a:rPr lang="en-IN" sz="2000" dirty="0" smtClean="0"/>
              <a:t>Its </a:t>
            </a:r>
            <a:r>
              <a:rPr lang="en-IN" sz="2000" dirty="0"/>
              <a:t>goal is to develop a drug that selectively </a:t>
            </a:r>
            <a:r>
              <a:rPr lang="en-IN" sz="2000" dirty="0" smtClean="0"/>
              <a:t>modulates </a:t>
            </a:r>
            <a:r>
              <a:rPr lang="en-IN" sz="2000" dirty="0"/>
              <a:t>the effects of the disease-associated gene or gene product without affecting other genes or molecular mechanisms in the organism. This is made possible by the </a:t>
            </a:r>
            <a:r>
              <a:rPr lang="en-IN" sz="2000" b="1" i="1" dirty="0"/>
              <a:t>High Throughput Screening</a:t>
            </a:r>
            <a:r>
              <a:rPr lang="en-IN" sz="2000" dirty="0"/>
              <a:t> (</a:t>
            </a:r>
            <a:r>
              <a:rPr lang="en-IN" sz="2000" i="1" dirty="0"/>
              <a:t>HTS</a:t>
            </a:r>
            <a:r>
              <a:rPr lang="en-IN" sz="2000" dirty="0"/>
              <a:t>) technique, which is able to rapidly testing a large number of compounds based on their binding activity against a given target. </a:t>
            </a:r>
            <a:endParaRPr lang="en-IN" sz="2000" dirty="0" smtClean="0"/>
          </a:p>
        </p:txBody>
      </p:sp>
      <p:sp>
        <p:nvSpPr>
          <p:cNvPr id="3" name="Content Placeholder 2"/>
          <p:cNvSpPr>
            <a:spLocks noGrp="1"/>
          </p:cNvSpPr>
          <p:nvPr>
            <p:ph sz="quarter" idx="10"/>
          </p:nvPr>
        </p:nvSpPr>
        <p:spPr/>
        <p:txBody>
          <a:bodyPr/>
          <a:lstStyle/>
          <a:p>
            <a:r>
              <a:rPr lang="en-IN" dirty="0"/>
              <a:t>Application Of Graph Mining</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8505000" y="5121360"/>
              <a:ext cx="21960" cy="23400"/>
            </p14:xfrm>
          </p:contentPart>
        </mc:Choice>
        <mc:Fallback>
          <p:pic>
            <p:nvPicPr>
              <p:cNvPr id="4" name="Ink 3"/>
              <p:cNvPicPr/>
              <p:nvPr/>
            </p:nvPicPr>
            <p:blipFill>
              <a:blip r:embed="rId3"/>
              <a:stretch>
                <a:fillRect/>
              </a:stretch>
            </p:blipFill>
            <p:spPr>
              <a:xfrm>
                <a:off x="8495280" y="5114880"/>
                <a:ext cx="41400" cy="39600"/>
              </a:xfrm>
              <a:prstGeom prst="rect">
                <a:avLst/>
              </a:prstGeom>
            </p:spPr>
          </p:pic>
        </mc:Fallback>
      </mc:AlternateContent>
    </p:spTree>
    <p:extLst>
      <p:ext uri="{BB962C8B-B14F-4D97-AF65-F5344CB8AC3E}">
        <p14:creationId xmlns:p14="http://schemas.microsoft.com/office/powerpoint/2010/main" val="26634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smtClean="0"/>
              <a:t>Software </a:t>
            </a:r>
            <a:r>
              <a:rPr lang="en-IN" sz="2000" b="1" dirty="0"/>
              <a:t>bug </a:t>
            </a:r>
            <a:r>
              <a:rPr lang="en-IN" sz="2000" b="1" dirty="0" smtClean="0"/>
              <a:t>localization</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is </a:t>
            </a:r>
            <a:r>
              <a:rPr lang="en-IN" sz="2000" dirty="0">
                <a:latin typeface="Arial" panose="020B0604020202020204" pitchFamily="34" charset="0"/>
                <a:cs typeface="Arial" panose="020B0604020202020204" pitchFamily="34" charset="0"/>
              </a:rPr>
              <a:t>an important application from the perspective of software reliability and testing.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control flow of programs can be </a:t>
            </a:r>
            <a:r>
              <a:rPr lang="en-IN" sz="2000" dirty="0" smtClean="0">
                <a:latin typeface="Arial" panose="020B0604020202020204" pitchFamily="34" charset="0"/>
                <a:cs typeface="Arial" panose="020B0604020202020204" pitchFamily="34" charset="0"/>
              </a:rPr>
              <a:t>modelled </a:t>
            </a:r>
            <a:r>
              <a:rPr lang="en-IN" sz="2000" dirty="0">
                <a:latin typeface="Arial" panose="020B0604020202020204" pitchFamily="34" charset="0"/>
                <a:cs typeface="Arial" panose="020B0604020202020204" pitchFamily="34" charset="0"/>
              </a:rPr>
              <a:t>in the form of </a:t>
            </a:r>
            <a:r>
              <a:rPr lang="en-IN" sz="2000" dirty="0" smtClean="0">
                <a:latin typeface="Arial" panose="020B0604020202020204" pitchFamily="34" charset="0"/>
                <a:cs typeface="Arial" panose="020B0604020202020204" pitchFamily="34" charset="0"/>
              </a:rPr>
              <a:t>call-graphs (</a:t>
            </a:r>
            <a:r>
              <a:rPr lang="en-IN" sz="2000" b="1" i="1" dirty="0" smtClean="0">
                <a:latin typeface="Arial" panose="020B0604020202020204" pitchFamily="34" charset="0"/>
                <a:cs typeface="Arial" panose="020B0604020202020204" pitchFamily="34" charset="0"/>
              </a:rPr>
              <a:t>CFD &amp; DFD</a:t>
            </a:r>
            <a:r>
              <a:rPr lang="en-IN" sz="2000" dirty="0" smtClean="0">
                <a:latin typeface="Arial" panose="020B0604020202020204" pitchFamily="34" charset="0"/>
                <a:cs typeface="Arial" panose="020B0604020202020204" pitchFamily="34" charset="0"/>
              </a:rPr>
              <a:t>). </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goal of software bug localization techniques is to mine such call graphs in order to determine the bugs in the underlying programs.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Call </a:t>
            </a:r>
            <a:r>
              <a:rPr lang="en-IN" sz="2000" dirty="0">
                <a:latin typeface="Arial" panose="020B0604020202020204" pitchFamily="34" charset="0"/>
                <a:cs typeface="Arial" panose="020B0604020202020204" pitchFamily="34" charset="0"/>
              </a:rPr>
              <a:t>graphs are of two types:</a:t>
            </a:r>
          </a:p>
          <a:p>
            <a:pPr lvl="3">
              <a:buFont typeface="Wingdings" panose="05000000000000000000" pitchFamily="2" charset="2"/>
              <a:buChar char="v"/>
            </a:pPr>
            <a:r>
              <a:rPr lang="en-IN" dirty="0">
                <a:latin typeface="Arial" panose="020B0604020202020204" pitchFamily="34" charset="0"/>
                <a:cs typeface="Arial" panose="020B0604020202020204" pitchFamily="34" charset="0"/>
              </a:rPr>
              <a:t>Static call graphs </a:t>
            </a:r>
            <a:endParaRPr lang="en-IN" dirty="0" smtClean="0">
              <a:latin typeface="Arial" panose="020B0604020202020204" pitchFamily="34" charset="0"/>
              <a:cs typeface="Arial" panose="020B0604020202020204" pitchFamily="34" charset="0"/>
            </a:endParaRPr>
          </a:p>
          <a:p>
            <a:pPr lvl="3">
              <a:buFont typeface="Wingdings" panose="05000000000000000000" pitchFamily="2" charset="2"/>
              <a:buChar char="v"/>
            </a:pPr>
            <a:r>
              <a:rPr lang="en-IN" dirty="0">
                <a:latin typeface="Arial" panose="020B0604020202020204" pitchFamily="34" charset="0"/>
                <a:cs typeface="Arial" panose="020B0604020202020204" pitchFamily="34" charset="0"/>
              </a:rPr>
              <a:t>Dynamic call </a:t>
            </a:r>
            <a:r>
              <a:rPr lang="en-IN" dirty="0" smtClean="0">
                <a:latin typeface="Arial" panose="020B0604020202020204" pitchFamily="34" charset="0"/>
                <a:cs typeface="Arial" panose="020B0604020202020204" pitchFamily="34" charset="0"/>
              </a:rPr>
              <a:t>graphs</a:t>
            </a:r>
          </a:p>
        </p:txBody>
      </p:sp>
      <p:sp>
        <p:nvSpPr>
          <p:cNvPr id="3" name="Content Placeholder 2"/>
          <p:cNvSpPr>
            <a:spLocks noGrp="1"/>
          </p:cNvSpPr>
          <p:nvPr>
            <p:ph sz="quarter" idx="10"/>
          </p:nvPr>
        </p:nvSpPr>
        <p:spPr/>
        <p:txBody>
          <a:bodyPr/>
          <a:lstStyle/>
          <a:p>
            <a:r>
              <a:rPr lang="en-IN" dirty="0"/>
              <a:t>Application Of Graph </a:t>
            </a:r>
            <a:r>
              <a:rPr lang="en-IN" dirty="0" smtClean="0"/>
              <a:t>Mining</a:t>
            </a:r>
            <a:endParaRPr lang="en-IN" dirty="0"/>
          </a:p>
        </p:txBody>
      </p:sp>
    </p:spTree>
    <p:extLst>
      <p:ext uri="{BB962C8B-B14F-4D97-AF65-F5344CB8AC3E}">
        <p14:creationId xmlns:p14="http://schemas.microsoft.com/office/powerpoint/2010/main" val="1281456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1800" dirty="0"/>
              <a:t>The field of graph mining has seen a rapid explosion in recent years because of new applications in</a:t>
            </a:r>
          </a:p>
          <a:p>
            <a:pPr lvl="1">
              <a:buFont typeface="Wingdings" panose="05000000000000000000" pitchFamily="2" charset="2"/>
              <a:buChar char="v"/>
            </a:pPr>
            <a:r>
              <a:rPr lang="en-IN" sz="1800" b="1" dirty="0"/>
              <a:t>Software bug localization</a:t>
            </a:r>
          </a:p>
          <a:p>
            <a:pPr lvl="2">
              <a:buFont typeface="Wingdings" panose="05000000000000000000" pitchFamily="2" charset="2"/>
              <a:buChar char="v"/>
            </a:pPr>
            <a:r>
              <a:rPr lang="en-IN" sz="1800" b="1" dirty="0" smtClean="0">
                <a:latin typeface="Arial" panose="020B0604020202020204" pitchFamily="34" charset="0"/>
                <a:cs typeface="Arial" panose="020B0604020202020204" pitchFamily="34" charset="0"/>
              </a:rPr>
              <a:t>Static </a:t>
            </a:r>
            <a:r>
              <a:rPr lang="en-IN" sz="1800" b="1" dirty="0">
                <a:latin typeface="Arial" panose="020B0604020202020204" pitchFamily="34" charset="0"/>
                <a:cs typeface="Arial" panose="020B0604020202020204" pitchFamily="34" charset="0"/>
              </a:rPr>
              <a:t>call graphs </a:t>
            </a:r>
            <a:r>
              <a:rPr lang="en-IN" sz="1800" dirty="0" smtClean="0">
                <a:latin typeface="Arial" panose="020B0604020202020204" pitchFamily="34" charset="0"/>
                <a:cs typeface="Arial" panose="020B0604020202020204" pitchFamily="34" charset="0"/>
              </a:rPr>
              <a:t>can </a:t>
            </a:r>
            <a:r>
              <a:rPr lang="en-IN" sz="1800" dirty="0">
                <a:latin typeface="Arial" panose="020B0604020202020204" pitchFamily="34" charset="0"/>
                <a:cs typeface="Arial" panose="020B0604020202020204" pitchFamily="34" charset="0"/>
              </a:rPr>
              <a:t>be inferred from the source code of a given program. All the methods, procedures and functions in the program are nodes, and the relationships between the different methods are defined as edges.</a:t>
            </a:r>
          </a:p>
          <a:p>
            <a:pPr lvl="2">
              <a:buFont typeface="Wingdings" panose="05000000000000000000" pitchFamily="2" charset="2"/>
              <a:buChar char="v"/>
            </a:pPr>
            <a:r>
              <a:rPr lang="en-IN" sz="1800" b="1" dirty="0">
                <a:latin typeface="Arial" panose="020B0604020202020204" pitchFamily="34" charset="0"/>
                <a:cs typeface="Arial" panose="020B0604020202020204" pitchFamily="34" charset="0"/>
              </a:rPr>
              <a:t>Dynamic call graphs </a:t>
            </a:r>
            <a:r>
              <a:rPr lang="en-IN" sz="1800" dirty="0">
                <a:latin typeface="Arial" panose="020B0604020202020204" pitchFamily="34" charset="0"/>
                <a:cs typeface="Arial" panose="020B0604020202020204" pitchFamily="34" charset="0"/>
              </a:rPr>
              <a:t>are created during program execution, and they represent the invocation structure.</a:t>
            </a:r>
          </a:p>
          <a:p>
            <a:pPr lvl="2">
              <a:buFont typeface="Wingdings" panose="05000000000000000000" pitchFamily="2" charset="2"/>
              <a:buChar char="v"/>
            </a:pPr>
            <a:r>
              <a:rPr lang="en-IN" sz="1800" dirty="0">
                <a:latin typeface="Arial" panose="020B0604020202020204" pitchFamily="34" charset="0"/>
                <a:cs typeface="Arial" panose="020B0604020202020204" pitchFamily="34" charset="0"/>
              </a:rPr>
              <a:t>Such call graphs can be </a:t>
            </a:r>
            <a:r>
              <a:rPr lang="en-IN" sz="1800" b="1" dirty="0">
                <a:latin typeface="Arial" panose="020B0604020202020204" pitchFamily="34" charset="0"/>
                <a:cs typeface="Arial" panose="020B0604020202020204" pitchFamily="34" charset="0"/>
              </a:rPr>
              <a:t>extremely large</a:t>
            </a:r>
            <a:r>
              <a:rPr lang="en-IN" sz="1800" dirty="0">
                <a:latin typeface="Arial" panose="020B0604020202020204" pitchFamily="34" charset="0"/>
                <a:cs typeface="Arial" panose="020B0604020202020204" pitchFamily="34" charset="0"/>
              </a:rPr>
              <a:t> in massive software programs, </a:t>
            </a:r>
            <a:r>
              <a:rPr lang="en-IN" sz="1800" dirty="0" smtClean="0">
                <a:latin typeface="Arial" panose="020B0604020202020204" pitchFamily="34" charset="0"/>
                <a:cs typeface="Arial" panose="020B0604020202020204" pitchFamily="34" charset="0"/>
              </a:rPr>
              <a:t>because of thousands </a:t>
            </a:r>
            <a:r>
              <a:rPr lang="en-IN" sz="1800" dirty="0">
                <a:latin typeface="Arial" panose="020B0604020202020204" pitchFamily="34" charset="0"/>
                <a:cs typeface="Arial" panose="020B0604020202020204" pitchFamily="34" charset="0"/>
              </a:rPr>
              <a:t>of invocations between </a:t>
            </a:r>
            <a:r>
              <a:rPr lang="en-IN" sz="1800" dirty="0" smtClean="0">
                <a:latin typeface="Arial" panose="020B0604020202020204" pitchFamily="34" charset="0"/>
                <a:cs typeface="Arial" panose="020B0604020202020204" pitchFamily="34" charset="0"/>
              </a:rPr>
              <a:t>different </a:t>
            </a:r>
            <a:r>
              <a:rPr lang="en-IN" sz="1800" dirty="0">
                <a:latin typeface="Arial" panose="020B0604020202020204" pitchFamily="34" charset="0"/>
                <a:cs typeface="Arial" panose="020B0604020202020204" pitchFamily="34" charset="0"/>
              </a:rPr>
              <a:t>procedures. In such cases, the difference in structural, frequency or sequence </a:t>
            </a:r>
            <a:r>
              <a:rPr lang="en-IN" sz="1800" dirty="0" smtClean="0">
                <a:latin typeface="Arial" panose="020B0604020202020204" pitchFamily="34" charset="0"/>
                <a:cs typeface="Arial" panose="020B0604020202020204" pitchFamily="34" charset="0"/>
              </a:rPr>
              <a:t>behaviour </a:t>
            </a:r>
            <a:r>
              <a:rPr lang="en-IN" sz="1800" dirty="0">
                <a:latin typeface="Arial" panose="020B0604020202020204" pitchFamily="34" charset="0"/>
                <a:cs typeface="Arial" panose="020B0604020202020204" pitchFamily="34" charset="0"/>
              </a:rPr>
              <a:t>of successful and failing invocations can be used to localize software bugs. </a:t>
            </a:r>
            <a:endParaRPr lang="en-IN" sz="18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1800" dirty="0" smtClean="0">
                <a:latin typeface="Arial" panose="020B0604020202020204" pitchFamily="34" charset="0"/>
                <a:cs typeface="Arial" panose="020B0604020202020204" pitchFamily="34" charset="0"/>
              </a:rPr>
              <a:t>Such </a:t>
            </a:r>
            <a:r>
              <a:rPr lang="en-IN" sz="1800" dirty="0">
                <a:latin typeface="Arial" panose="020B0604020202020204" pitchFamily="34" charset="0"/>
                <a:cs typeface="Arial" panose="020B0604020202020204" pitchFamily="34" charset="0"/>
              </a:rPr>
              <a:t>call graphs can be particularly useful in localizing bugs which are occasional in nature and may occur in some invocations and not others. </a:t>
            </a:r>
            <a:endParaRPr lang="en-IN" sz="1800" dirty="0"/>
          </a:p>
        </p:txBody>
      </p:sp>
      <p:sp>
        <p:nvSpPr>
          <p:cNvPr id="3" name="Content Placeholder 2"/>
          <p:cNvSpPr>
            <a:spLocks noGrp="1"/>
          </p:cNvSpPr>
          <p:nvPr>
            <p:ph sz="quarter" idx="10"/>
          </p:nvPr>
        </p:nvSpPr>
        <p:spPr/>
        <p:txBody>
          <a:bodyPr/>
          <a:lstStyle/>
          <a:p>
            <a:r>
              <a:rPr lang="en-IN" dirty="0"/>
              <a:t>Application Of Graph Mining</a:t>
            </a:r>
          </a:p>
        </p:txBody>
      </p:sp>
      <mc:AlternateContent xmlns:mc="http://schemas.openxmlformats.org/markup-compatibility/2006">
        <mc:Choice xmlns:p14="http://schemas.microsoft.com/office/powerpoint/2010/main" Requires="p14">
          <p:contentPart p14:bwMode="auto" r:id="rId3">
            <p14:nvContentPartPr>
              <p14:cNvPr id="4" name="Ink 3"/>
              <p14:cNvContentPartPr/>
              <p14:nvPr/>
            </p14:nvContentPartPr>
            <p14:xfrm>
              <a:off x="2115720" y="2093760"/>
              <a:ext cx="1975320" cy="456120"/>
            </p14:xfrm>
          </p:contentPart>
        </mc:Choice>
        <mc:Fallback>
          <p:pic>
            <p:nvPicPr>
              <p:cNvPr id="4" name="Ink 3"/>
              <p:cNvPicPr/>
              <p:nvPr/>
            </p:nvPicPr>
            <p:blipFill>
              <a:blip r:embed="rId4"/>
              <a:stretch>
                <a:fillRect/>
              </a:stretch>
            </p:blipFill>
            <p:spPr>
              <a:xfrm>
                <a:off x="2106000" y="2083680"/>
                <a:ext cx="1995840" cy="477000"/>
              </a:xfrm>
              <a:prstGeom prst="rect">
                <a:avLst/>
              </a:prstGeom>
            </p:spPr>
          </p:pic>
        </mc:Fallback>
      </mc:AlternateContent>
    </p:spTree>
    <p:extLst>
      <p:ext uri="{BB962C8B-B14F-4D97-AF65-F5344CB8AC3E}">
        <p14:creationId xmlns:p14="http://schemas.microsoft.com/office/powerpoint/2010/main" val="307144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a:t>The field of graph mining has seen a rapid explosion in recent years because of new applications in</a:t>
            </a:r>
          </a:p>
          <a:p>
            <a:pPr lvl="1">
              <a:buFont typeface="Wingdings" panose="05000000000000000000" pitchFamily="2" charset="2"/>
              <a:buChar char="v"/>
            </a:pPr>
            <a:r>
              <a:rPr lang="en-IN" sz="2400" b="1" dirty="0"/>
              <a:t>Software bug </a:t>
            </a:r>
            <a:r>
              <a:rPr lang="en-IN" sz="2400" b="1" dirty="0" smtClean="0"/>
              <a:t>localization</a:t>
            </a:r>
          </a:p>
          <a:p>
            <a:pPr lvl="2">
              <a:buFont typeface="Wingdings" panose="05000000000000000000" pitchFamily="2" charset="2"/>
              <a:buChar char="v"/>
            </a:pPr>
            <a:r>
              <a:rPr lang="en-IN" b="1" i="1" dirty="0" smtClean="0">
                <a:latin typeface="Arial" panose="020B0604020202020204" pitchFamily="34" charset="0"/>
                <a:cs typeface="Arial" panose="020B0604020202020204" pitchFamily="34" charset="0"/>
              </a:rPr>
              <a:t>Logical </a:t>
            </a:r>
            <a:r>
              <a:rPr lang="en-IN" b="1" i="1" dirty="0">
                <a:latin typeface="Arial" panose="020B0604020202020204" pitchFamily="34" charset="0"/>
                <a:cs typeface="Arial" panose="020B0604020202020204" pitchFamily="34" charset="0"/>
              </a:rPr>
              <a:t>errors</a:t>
            </a:r>
            <a:r>
              <a:rPr lang="en-IN" i="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in a program which are not a result of the program structure, and which do not affect the sequence or structure of execution of the different methods </a:t>
            </a:r>
            <a:r>
              <a:rPr lang="en-IN" b="1" dirty="0">
                <a:latin typeface="Arial" panose="020B0604020202020204" pitchFamily="34" charset="0"/>
                <a:cs typeface="Arial" panose="020B0604020202020204" pitchFamily="34" charset="0"/>
              </a:rPr>
              <a:t>cannot be localized</a:t>
            </a:r>
            <a:r>
              <a:rPr lang="en-IN" dirty="0">
                <a:latin typeface="Arial" panose="020B0604020202020204" pitchFamily="34" charset="0"/>
                <a:cs typeface="Arial" panose="020B0604020202020204" pitchFamily="34" charset="0"/>
              </a:rPr>
              <a:t> with such techniques. </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software </a:t>
            </a:r>
            <a:r>
              <a:rPr lang="en-IN" dirty="0">
                <a:latin typeface="Arial" panose="020B0604020202020204" pitchFamily="34" charset="0"/>
                <a:cs typeface="Arial" panose="020B0604020202020204" pitchFamily="34" charset="0"/>
              </a:rPr>
              <a:t>bug localization </a:t>
            </a:r>
            <a:r>
              <a:rPr lang="en-IN" b="1" i="1" dirty="0">
                <a:latin typeface="Arial" panose="020B0604020202020204" pitchFamily="34" charset="0"/>
                <a:cs typeface="Arial" panose="020B0604020202020204" pitchFamily="34" charset="0"/>
              </a:rPr>
              <a:t>is not an exact science</a:t>
            </a:r>
            <a:r>
              <a:rPr lang="en-IN" dirty="0">
                <a:latin typeface="Arial" panose="020B0604020202020204" pitchFamily="34" charset="0"/>
                <a:cs typeface="Arial" panose="020B0604020202020204" pitchFamily="34" charset="0"/>
              </a:rPr>
              <a:t>. Rather, it can be used in order to provide software testing experts with </a:t>
            </a:r>
            <a:r>
              <a:rPr lang="en-IN" b="1" dirty="0">
                <a:latin typeface="Arial" panose="020B0604020202020204" pitchFamily="34" charset="0"/>
                <a:cs typeface="Arial" panose="020B0604020202020204" pitchFamily="34" charset="0"/>
              </a:rPr>
              <a:t>possible bugs</a:t>
            </a:r>
            <a:r>
              <a:rPr lang="en-IN" dirty="0">
                <a:latin typeface="Arial" panose="020B0604020202020204" pitchFamily="34" charset="0"/>
                <a:cs typeface="Arial" panose="020B0604020202020204" pitchFamily="34" charset="0"/>
              </a:rPr>
              <a:t>, and they can use this in order to make relevant corrections.</a:t>
            </a:r>
          </a:p>
        </p:txBody>
      </p:sp>
      <p:sp>
        <p:nvSpPr>
          <p:cNvPr id="3" name="Content Placeholder 2"/>
          <p:cNvSpPr>
            <a:spLocks noGrp="1"/>
          </p:cNvSpPr>
          <p:nvPr>
            <p:ph sz="quarter" idx="10"/>
          </p:nvPr>
        </p:nvSpPr>
        <p:spPr/>
        <p:txBody>
          <a:bodyPr/>
          <a:lstStyle/>
          <a:p>
            <a:r>
              <a:rPr lang="en-IN" dirty="0"/>
              <a:t>Application Of Graph Mining</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769680" y="3518640"/>
              <a:ext cx="4722840" cy="2358360"/>
            </p14:xfrm>
          </p:contentPart>
        </mc:Choice>
        <mc:Fallback>
          <p:pic>
            <p:nvPicPr>
              <p:cNvPr id="4" name="Ink 3"/>
              <p:cNvPicPr/>
              <p:nvPr/>
            </p:nvPicPr>
            <p:blipFill>
              <a:blip r:embed="rId3"/>
              <a:stretch>
                <a:fillRect/>
              </a:stretch>
            </p:blipFill>
            <p:spPr>
              <a:xfrm>
                <a:off x="759600" y="3510360"/>
                <a:ext cx="4739400" cy="2373480"/>
              </a:xfrm>
              <a:prstGeom prst="rect">
                <a:avLst/>
              </a:prstGeom>
            </p:spPr>
          </p:pic>
        </mc:Fallback>
      </mc:AlternateContent>
    </p:spTree>
    <p:extLst>
      <p:ext uri="{BB962C8B-B14F-4D97-AF65-F5344CB8AC3E}">
        <p14:creationId xmlns:p14="http://schemas.microsoft.com/office/powerpoint/2010/main" val="341756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dirty="0" smtClean="0"/>
              <a:t>Social and </a:t>
            </a:r>
            <a:r>
              <a:rPr lang="en-IN" sz="2000" b="1" dirty="0" smtClean="0"/>
              <a:t>Communication networking</a:t>
            </a:r>
          </a:p>
          <a:p>
            <a:pPr lvl="2" algn="just">
              <a:buFont typeface="Wingdings" panose="05000000000000000000" pitchFamily="2" charset="2"/>
              <a:buChar char="v"/>
            </a:pPr>
            <a:r>
              <a:rPr lang="en-IN" sz="2000" dirty="0">
                <a:latin typeface="Arial" panose="020B0604020202020204" pitchFamily="34" charset="0"/>
                <a:cs typeface="Arial" panose="020B0604020202020204" pitchFamily="34" charset="0"/>
              </a:rPr>
              <a:t>The </a:t>
            </a:r>
            <a:r>
              <a:rPr lang="en-IN" sz="2000" b="1" dirty="0" smtClean="0">
                <a:latin typeface="Arial" panose="020B0604020202020204" pitchFamily="34" charset="0"/>
                <a:cs typeface="Arial" panose="020B0604020202020204" pitchFamily="34" charset="0"/>
              </a:rPr>
              <a:t>World Wide Web</a:t>
            </a:r>
            <a:r>
              <a:rPr lang="en-IN" sz="2000" dirty="0" smtClean="0">
                <a:latin typeface="Arial" panose="020B0604020202020204" pitchFamily="34" charset="0"/>
                <a:cs typeface="Arial" panose="020B0604020202020204" pitchFamily="34" charset="0"/>
              </a:rPr>
              <a:t> (</a:t>
            </a:r>
            <a:r>
              <a:rPr lang="en-IN" sz="2000" i="1" dirty="0" smtClean="0">
                <a:latin typeface="Arial" panose="020B0604020202020204" pitchFamily="34" charset="0"/>
                <a:cs typeface="Arial" panose="020B0604020202020204" pitchFamily="34" charset="0"/>
              </a:rPr>
              <a:t>WWW</a:t>
            </a:r>
            <a:r>
              <a:rPr lang="en-IN" sz="2000" dirty="0" smtClean="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is naturally structured in the form of a graph </a:t>
            </a:r>
            <a:r>
              <a:rPr lang="en-IN" sz="2000" dirty="0" smtClean="0">
                <a:latin typeface="Arial" panose="020B0604020202020204" pitchFamily="34" charset="0"/>
                <a:cs typeface="Arial" panose="020B0604020202020204" pitchFamily="34" charset="0"/>
              </a:rPr>
              <a:t>with </a:t>
            </a:r>
            <a:r>
              <a:rPr lang="en-IN" sz="2000" b="1" dirty="0" smtClean="0">
                <a:latin typeface="Arial" panose="020B0604020202020204" pitchFamily="34" charset="0"/>
                <a:cs typeface="Arial" panose="020B0604020202020204" pitchFamily="34" charset="0"/>
              </a:rPr>
              <a:t>nodes</a:t>
            </a:r>
            <a:r>
              <a:rPr lang="en-IN" sz="2000" dirty="0" smtClean="0">
                <a:latin typeface="Arial" panose="020B0604020202020204" pitchFamily="34" charset="0"/>
                <a:cs typeface="Arial" panose="020B0604020202020204" pitchFamily="34" charset="0"/>
              </a:rPr>
              <a:t> as web pages </a:t>
            </a:r>
            <a:r>
              <a:rPr lang="en-IN" sz="2000" dirty="0">
                <a:latin typeface="Arial" panose="020B0604020202020204" pitchFamily="34" charset="0"/>
                <a:cs typeface="Arial" panose="020B0604020202020204" pitchFamily="34" charset="0"/>
              </a:rPr>
              <a:t>and the links are the </a:t>
            </a:r>
            <a:r>
              <a:rPr lang="en-IN" sz="2000" b="1" dirty="0">
                <a:latin typeface="Arial" panose="020B0604020202020204" pitchFamily="34" charset="0"/>
                <a:cs typeface="Arial" panose="020B0604020202020204" pitchFamily="34" charset="0"/>
              </a:rPr>
              <a:t>edges</a:t>
            </a:r>
            <a:r>
              <a:rPr lang="en-IN" sz="2000" dirty="0">
                <a:latin typeface="Arial" panose="020B0604020202020204" pitchFamily="34" charset="0"/>
                <a:cs typeface="Arial" panose="020B0604020202020204" pitchFamily="34" charset="0"/>
              </a:rPr>
              <a:t>. </a:t>
            </a:r>
            <a:endParaRPr lang="en-IN" sz="2000" dirty="0" smtClean="0">
              <a:latin typeface="Arial" panose="020B0604020202020204" pitchFamily="34" charset="0"/>
              <a:cs typeface="Arial" panose="020B0604020202020204" pitchFamily="34" charset="0"/>
            </a:endParaRPr>
          </a:p>
          <a:p>
            <a:pPr lvl="2" algn="just">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linkage structure of the web holds a wealth of information which can be exploited for a variety of data mining purposes. </a:t>
            </a:r>
            <a:endParaRPr lang="en-IN" sz="2000" dirty="0" smtClean="0">
              <a:latin typeface="Arial" panose="020B0604020202020204" pitchFamily="34" charset="0"/>
              <a:cs typeface="Arial" panose="020B0604020202020204" pitchFamily="34" charset="0"/>
            </a:endParaRPr>
          </a:p>
          <a:p>
            <a:pPr lvl="2" algn="just">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most famous application which exploits the </a:t>
            </a:r>
            <a:r>
              <a:rPr lang="en-IN" sz="2000" dirty="0" smtClean="0">
                <a:latin typeface="Arial" panose="020B0604020202020204" pitchFamily="34" charset="0"/>
                <a:cs typeface="Arial" panose="020B0604020202020204" pitchFamily="34" charset="0"/>
              </a:rPr>
              <a:t>linkage </a:t>
            </a:r>
            <a:r>
              <a:rPr lang="en-IN" sz="2000" dirty="0">
                <a:latin typeface="Arial" panose="020B0604020202020204" pitchFamily="34" charset="0"/>
                <a:cs typeface="Arial" panose="020B0604020202020204" pitchFamily="34" charset="0"/>
              </a:rPr>
              <a:t>structure of the web is the </a:t>
            </a:r>
            <a:r>
              <a:rPr lang="en-IN" sz="2000" b="1" dirty="0">
                <a:latin typeface="Arial" panose="020B0604020202020204" pitchFamily="34" charset="0"/>
                <a:cs typeface="Arial" panose="020B0604020202020204" pitchFamily="34" charset="0"/>
              </a:rPr>
              <a:t>PageRank </a:t>
            </a:r>
            <a:r>
              <a:rPr lang="en-IN" sz="2000" b="1" dirty="0" smtClean="0">
                <a:latin typeface="Arial" panose="020B0604020202020204" pitchFamily="34" charset="0"/>
                <a:cs typeface="Arial" panose="020B0604020202020204" pitchFamily="34" charset="0"/>
              </a:rPr>
              <a:t>algorithm</a:t>
            </a:r>
            <a:r>
              <a:rPr lang="en-IN" sz="2000" dirty="0" smtClean="0">
                <a:latin typeface="Arial" panose="020B0604020202020204" pitchFamily="34" charset="0"/>
                <a:cs typeface="Arial" panose="020B0604020202020204" pitchFamily="34" charset="0"/>
              </a:rPr>
              <a:t>. </a:t>
            </a:r>
          </a:p>
          <a:p>
            <a:pPr lvl="2" algn="just">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This </a:t>
            </a:r>
            <a:r>
              <a:rPr lang="en-IN" sz="2000" dirty="0">
                <a:latin typeface="Arial" panose="020B0604020202020204" pitchFamily="34" charset="0"/>
                <a:cs typeface="Arial" panose="020B0604020202020204" pitchFamily="34" charset="0"/>
              </a:rPr>
              <a:t>algorithm has been one of the key secrets to the success of the well known Google search engine. </a:t>
            </a:r>
            <a:endParaRPr lang="en-IN" sz="20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6980040" y="4920480"/>
              <a:ext cx="300600" cy="370440"/>
            </p14:xfrm>
          </p:contentPart>
        </mc:Choice>
        <mc:Fallback>
          <p:pic>
            <p:nvPicPr>
              <p:cNvPr id="4" name="Ink 3"/>
              <p:cNvPicPr/>
              <p:nvPr/>
            </p:nvPicPr>
            <p:blipFill>
              <a:blip r:embed="rId3"/>
              <a:stretch>
                <a:fillRect/>
              </a:stretch>
            </p:blipFill>
            <p:spPr>
              <a:xfrm>
                <a:off x="6969960" y="4909680"/>
                <a:ext cx="317160" cy="392040"/>
              </a:xfrm>
              <a:prstGeom prst="rect">
                <a:avLst/>
              </a:prstGeom>
            </p:spPr>
          </p:pic>
        </mc:Fallback>
      </mc:AlternateContent>
    </p:spTree>
    <p:extLst>
      <p:ext uri="{BB962C8B-B14F-4D97-AF65-F5344CB8AC3E}">
        <p14:creationId xmlns:p14="http://schemas.microsoft.com/office/powerpoint/2010/main" val="2452164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686800" cy="4525963"/>
          </a:xfrm>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dirty="0" smtClean="0"/>
              <a:t>Social </a:t>
            </a:r>
            <a:r>
              <a:rPr lang="en-IN" sz="2000" dirty="0"/>
              <a:t>and </a:t>
            </a:r>
            <a:r>
              <a:rPr lang="en-IN" sz="2000" b="1" dirty="0" smtClean="0"/>
              <a:t>Communication networking</a:t>
            </a:r>
          </a:p>
          <a:p>
            <a:pPr lvl="2" algn="just">
              <a:buFont typeface="Wingdings" panose="05000000000000000000" pitchFamily="2" charset="2"/>
              <a:buChar char="v"/>
            </a:pPr>
            <a:r>
              <a:rPr lang="en-IN" sz="2000" b="1" dirty="0" smtClean="0">
                <a:latin typeface="Arial" panose="020B0604020202020204" pitchFamily="34" charset="0"/>
                <a:cs typeface="Arial" panose="020B0604020202020204" pitchFamily="34" charset="0"/>
              </a:rPr>
              <a:t>PageRank algorithm</a:t>
            </a:r>
            <a:r>
              <a:rPr lang="en-IN" sz="2000" dirty="0" smtClean="0">
                <a:latin typeface="Arial" panose="020B0604020202020204" pitchFamily="34" charset="0"/>
                <a:cs typeface="Arial" panose="020B0604020202020204" pitchFamily="34" charset="0"/>
              </a:rPr>
              <a:t>. </a:t>
            </a:r>
          </a:p>
          <a:p>
            <a:pPr lvl="3" algn="just">
              <a:buFont typeface="Wingdings" panose="05000000000000000000" pitchFamily="2" charset="2"/>
              <a:buChar char="v"/>
            </a:pPr>
            <a:r>
              <a:rPr lang="en-IN" dirty="0" smtClean="0">
                <a:latin typeface="Arial" panose="020B0604020202020204" pitchFamily="34" charset="0"/>
                <a:cs typeface="Arial" panose="020B0604020202020204" pitchFamily="34" charset="0"/>
              </a:rPr>
              <a:t>The </a:t>
            </a:r>
            <a:r>
              <a:rPr lang="en-IN" dirty="0">
                <a:latin typeface="Arial" panose="020B0604020202020204" pitchFamily="34" charset="0"/>
                <a:cs typeface="Arial" panose="020B0604020202020204" pitchFamily="34" charset="0"/>
              </a:rPr>
              <a:t>basic idea </a:t>
            </a:r>
            <a:r>
              <a:rPr lang="en-IN" dirty="0" smtClean="0">
                <a:latin typeface="Arial" panose="020B0604020202020204" pitchFamily="34" charset="0"/>
                <a:cs typeface="Arial" panose="020B0604020202020204" pitchFamily="34" charset="0"/>
              </a:rPr>
              <a:t>is </a:t>
            </a:r>
            <a:r>
              <a:rPr lang="en-IN" dirty="0">
                <a:latin typeface="Arial" panose="020B0604020202020204" pitchFamily="34" charset="0"/>
                <a:cs typeface="Arial" panose="020B0604020202020204" pitchFamily="34" charset="0"/>
              </a:rPr>
              <a:t>that the importance of a page on the web can be gauged from the number and importance of the hyperlinks pointing to it</a:t>
            </a:r>
            <a:r>
              <a:rPr lang="en-IN" dirty="0" smtClean="0">
                <a:latin typeface="Arial" panose="020B0604020202020204" pitchFamily="34" charset="0"/>
                <a:cs typeface="Arial" panose="020B0604020202020204" pitchFamily="34" charset="0"/>
              </a:rPr>
              <a:t>.</a:t>
            </a:r>
          </a:p>
          <a:p>
            <a:pPr lvl="3" algn="just">
              <a:buFont typeface="Wingdings" panose="05000000000000000000" pitchFamily="2" charset="2"/>
              <a:buChar char="v"/>
            </a:pPr>
            <a:r>
              <a:rPr lang="en-IN" dirty="0">
                <a:latin typeface="Arial" panose="020B0604020202020204" pitchFamily="34" charset="0"/>
                <a:cs typeface="Arial" panose="020B0604020202020204" pitchFamily="34" charset="0"/>
              </a:rPr>
              <a:t>The intuitive interpretation of page rank is the probability that a random surfer arrives at a given web page during a random walk</a:t>
            </a:r>
            <a:r>
              <a:rPr lang="en-IN" dirty="0" smtClean="0">
                <a:latin typeface="Arial" panose="020B0604020202020204" pitchFamily="34" charset="0"/>
                <a:cs typeface="Arial" panose="020B0604020202020204" pitchFamily="34" charset="0"/>
              </a:rPr>
              <a:t>.</a:t>
            </a:r>
          </a:p>
          <a:p>
            <a:pPr lvl="3" algn="just">
              <a:buFont typeface="Wingdings" panose="05000000000000000000" pitchFamily="2" charset="2"/>
              <a:buChar char="v"/>
            </a:pPr>
            <a:r>
              <a:rPr lang="en-IN" dirty="0">
                <a:latin typeface="Arial" panose="020B0604020202020204" pitchFamily="34" charset="0"/>
                <a:cs typeface="Arial" panose="020B0604020202020204" pitchFamily="34" charset="0"/>
              </a:rPr>
              <a:t>Thus, </a:t>
            </a:r>
            <a:r>
              <a:rPr lang="en-IN" dirty="0" smtClean="0">
                <a:latin typeface="Arial" panose="020B0604020202020204" pitchFamily="34" charset="0"/>
                <a:cs typeface="Arial" panose="020B0604020202020204" pitchFamily="34" charset="0"/>
              </a:rPr>
              <a:t>it forms </a:t>
            </a:r>
            <a:r>
              <a:rPr lang="en-IN" dirty="0">
                <a:latin typeface="Arial" panose="020B0604020202020204" pitchFamily="34" charset="0"/>
                <a:cs typeface="Arial" panose="020B0604020202020204" pitchFamily="34" charset="0"/>
              </a:rPr>
              <a:t>a </a:t>
            </a:r>
            <a:r>
              <a:rPr lang="en-IN" b="1" dirty="0">
                <a:latin typeface="Arial" panose="020B0604020202020204" pitchFamily="34" charset="0"/>
                <a:cs typeface="Arial" panose="020B0604020202020204" pitchFamily="34" charset="0"/>
              </a:rPr>
              <a:t>probability distribution</a:t>
            </a:r>
            <a:r>
              <a:rPr lang="en-IN" dirty="0">
                <a:latin typeface="Arial" panose="020B0604020202020204" pitchFamily="34" charset="0"/>
                <a:cs typeface="Arial" panose="020B0604020202020204" pitchFamily="34" charset="0"/>
              </a:rPr>
              <a:t> over web pages, so that the </a:t>
            </a:r>
            <a:r>
              <a:rPr lang="en-IN" b="1" dirty="0">
                <a:latin typeface="Arial" panose="020B0604020202020204" pitchFamily="34" charset="0"/>
                <a:cs typeface="Arial" panose="020B0604020202020204" pitchFamily="34" charset="0"/>
              </a:rPr>
              <a:t>sum</a:t>
            </a:r>
            <a:r>
              <a:rPr lang="en-IN" dirty="0">
                <a:latin typeface="Arial" panose="020B0604020202020204" pitchFamily="34" charset="0"/>
                <a:cs typeface="Arial" panose="020B0604020202020204" pitchFamily="34" charset="0"/>
              </a:rPr>
              <a:t> of the page rank over all the web pages sums to </a:t>
            </a:r>
            <a:r>
              <a:rPr lang="en-IN" b="1" dirty="0" smtClean="0">
                <a:latin typeface="Arial" panose="020B0604020202020204" pitchFamily="34" charset="0"/>
                <a:cs typeface="Arial" panose="020B0604020202020204" pitchFamily="34" charset="0"/>
              </a:rPr>
              <a:t>1</a:t>
            </a:r>
            <a:r>
              <a:rPr lang="en-IN" dirty="0" smtClean="0">
                <a:latin typeface="Arial" panose="020B0604020202020204" pitchFamily="34" charset="0"/>
                <a:cs typeface="Arial" panose="020B0604020202020204" pitchFamily="34" charset="0"/>
              </a:rPr>
              <a:t>, with </a:t>
            </a:r>
            <a:r>
              <a:rPr lang="en-IN" b="1" dirty="0" smtClean="0">
                <a:latin typeface="Arial" panose="020B0604020202020204" pitchFamily="34" charset="0"/>
                <a:cs typeface="Arial" panose="020B0604020202020204" pitchFamily="34" charset="0"/>
              </a:rPr>
              <a:t>teleportation</a:t>
            </a:r>
            <a:r>
              <a:rPr lang="en-IN" dirty="0">
                <a:latin typeface="Arial" panose="020B0604020202020204" pitchFamily="34" charset="0"/>
                <a:cs typeface="Arial" panose="020B0604020202020204" pitchFamily="34" charset="0"/>
              </a:rPr>
              <a:t>, in which we can transition any web page in the collection uniformly at random.</a:t>
            </a:r>
            <a:endParaRPr lang="en-IN"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370080" y="3009960"/>
              <a:ext cx="4421160" cy="3311280"/>
            </p14:xfrm>
          </p:contentPart>
        </mc:Choice>
        <mc:Fallback>
          <p:pic>
            <p:nvPicPr>
              <p:cNvPr id="4" name="Ink 3"/>
              <p:cNvPicPr/>
              <p:nvPr/>
            </p:nvPicPr>
            <p:blipFill>
              <a:blip r:embed="rId3"/>
              <a:stretch>
                <a:fillRect/>
              </a:stretch>
            </p:blipFill>
            <p:spPr>
              <a:xfrm>
                <a:off x="360720" y="3004920"/>
                <a:ext cx="4440960" cy="3326400"/>
              </a:xfrm>
              <a:prstGeom prst="rect">
                <a:avLst/>
              </a:prstGeom>
            </p:spPr>
          </p:pic>
        </mc:Fallback>
      </mc:AlternateContent>
    </p:spTree>
    <p:extLst>
      <p:ext uri="{BB962C8B-B14F-4D97-AF65-F5344CB8AC3E}">
        <p14:creationId xmlns:p14="http://schemas.microsoft.com/office/powerpoint/2010/main" val="895758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686800" cy="4525963"/>
          </a:xfrm>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dirty="0" smtClean="0"/>
              <a:t>Social </a:t>
            </a:r>
            <a:r>
              <a:rPr lang="en-IN" sz="2000" dirty="0"/>
              <a:t>and </a:t>
            </a:r>
            <a:r>
              <a:rPr lang="en-IN" sz="2000" b="1" dirty="0" smtClean="0"/>
              <a:t>Communication networking</a:t>
            </a:r>
          </a:p>
          <a:p>
            <a:pPr lvl="2" algn="just">
              <a:buFont typeface="Wingdings" panose="05000000000000000000" pitchFamily="2" charset="2"/>
              <a:buChar char="v"/>
            </a:pPr>
            <a:r>
              <a:rPr lang="en-IN" sz="2000" b="1" dirty="0" smtClean="0">
                <a:latin typeface="Arial" panose="020B0604020202020204" pitchFamily="34" charset="0"/>
                <a:cs typeface="Arial" panose="020B0604020202020204" pitchFamily="34" charset="0"/>
              </a:rPr>
              <a:t>PageRank algorithm</a:t>
            </a:r>
            <a:r>
              <a:rPr lang="en-IN" sz="2000" dirty="0" smtClean="0">
                <a:latin typeface="Arial" panose="020B0604020202020204" pitchFamily="34" charset="0"/>
                <a:cs typeface="Arial" panose="020B0604020202020204" pitchFamily="34" charset="0"/>
              </a:rPr>
              <a:t>. </a:t>
            </a:r>
          </a:p>
          <a:p>
            <a:pPr lvl="3" algn="just">
              <a:buFont typeface="Wingdings" panose="05000000000000000000" pitchFamily="2" charset="2"/>
              <a:buChar char="v"/>
            </a:pPr>
            <a:r>
              <a:rPr lang="en-IN" dirty="0" smtClean="0">
                <a:latin typeface="Arial" panose="020B0604020202020204" pitchFamily="34" charset="0"/>
                <a:cs typeface="Arial" panose="020B0604020202020204" pitchFamily="34" charset="0"/>
              </a:rPr>
              <a:t>The </a:t>
            </a:r>
            <a:r>
              <a:rPr lang="en-IN" dirty="0">
                <a:latin typeface="Arial" panose="020B0604020202020204" pitchFamily="34" charset="0"/>
                <a:cs typeface="Arial" panose="020B0604020202020204" pitchFamily="34" charset="0"/>
              </a:rPr>
              <a:t>page-rank algorithm </a:t>
            </a:r>
            <a:r>
              <a:rPr lang="en-IN" b="1" dirty="0">
                <a:latin typeface="Arial" panose="020B0604020202020204" pitchFamily="34" charset="0"/>
                <a:cs typeface="Arial" panose="020B0604020202020204" pitchFamily="34" charset="0"/>
              </a:rPr>
              <a:t>only looks at the link structure </a:t>
            </a:r>
            <a:r>
              <a:rPr lang="en-IN" dirty="0">
                <a:latin typeface="Arial" panose="020B0604020202020204" pitchFamily="34" charset="0"/>
                <a:cs typeface="Arial" panose="020B0604020202020204" pitchFamily="34" charset="0"/>
              </a:rPr>
              <a:t>during the ranking process, and </a:t>
            </a:r>
            <a:r>
              <a:rPr lang="en-IN" b="1" dirty="0">
                <a:latin typeface="Arial" panose="020B0604020202020204" pitchFamily="34" charset="0"/>
                <a:cs typeface="Arial" panose="020B0604020202020204" pitchFamily="34" charset="0"/>
              </a:rPr>
              <a:t>does not include any information about the content </a:t>
            </a:r>
            <a:r>
              <a:rPr lang="en-IN" dirty="0">
                <a:latin typeface="Arial" panose="020B0604020202020204" pitchFamily="34" charset="0"/>
                <a:cs typeface="Arial" panose="020B0604020202020204" pitchFamily="34" charset="0"/>
              </a:rPr>
              <a:t>of the underlying web pages. </a:t>
            </a:r>
            <a:endParaRPr lang="en-IN" dirty="0" smtClean="0">
              <a:latin typeface="Arial" panose="020B0604020202020204" pitchFamily="34" charset="0"/>
              <a:cs typeface="Arial" panose="020B0604020202020204" pitchFamily="34" charset="0"/>
            </a:endParaRPr>
          </a:p>
          <a:p>
            <a:pPr lvl="3" algn="just">
              <a:buFont typeface="Wingdings" panose="05000000000000000000" pitchFamily="2" charset="2"/>
              <a:buChar char="v"/>
            </a:pPr>
            <a:r>
              <a:rPr lang="en-IN" dirty="0" smtClean="0">
                <a:latin typeface="Arial" panose="020B0604020202020204" pitchFamily="34" charset="0"/>
                <a:cs typeface="Arial" panose="020B0604020202020204" pitchFamily="34" charset="0"/>
              </a:rPr>
              <a:t>A </a:t>
            </a:r>
            <a:r>
              <a:rPr lang="en-IN" dirty="0">
                <a:latin typeface="Arial" panose="020B0604020202020204" pitchFamily="34" charset="0"/>
                <a:cs typeface="Arial" panose="020B0604020202020204" pitchFamily="34" charset="0"/>
              </a:rPr>
              <a:t>closely related concept is that of topic-sensitive page rank </a:t>
            </a:r>
            <a:r>
              <a:rPr lang="en-IN" dirty="0" smtClean="0">
                <a:latin typeface="Arial" panose="020B0604020202020204" pitchFamily="34" charset="0"/>
                <a:cs typeface="Arial" panose="020B0604020202020204" pitchFamily="34" charset="0"/>
              </a:rPr>
              <a:t>[</a:t>
            </a:r>
            <a:r>
              <a:rPr lang="en-IN" dirty="0">
                <a:latin typeface="Arial" panose="020B0604020202020204" pitchFamily="34" charset="0"/>
                <a:cs typeface="Arial" panose="020B0604020202020204" pitchFamily="34" charset="0"/>
              </a:rPr>
              <a:t>2</a:t>
            </a:r>
            <a:r>
              <a:rPr lang="en-IN" dirty="0" smtClean="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in which we use the topics of the web pages during the ranking process</a:t>
            </a:r>
            <a:r>
              <a:rPr lang="en-IN" dirty="0" smtClean="0">
                <a:latin typeface="Arial" panose="020B0604020202020204" pitchFamily="34" charset="0"/>
                <a:cs typeface="Arial" panose="020B0604020202020204" pitchFamily="34" charset="0"/>
              </a:rPr>
              <a:t>.</a:t>
            </a:r>
          </a:p>
          <a:p>
            <a:pPr lvl="3" algn="just">
              <a:buFont typeface="Wingdings" panose="05000000000000000000" pitchFamily="2" charset="2"/>
              <a:buChar char="v"/>
            </a:pPr>
            <a:r>
              <a:rPr lang="en-IN" b="1" i="1" dirty="0" smtClean="0">
                <a:latin typeface="Arial" panose="020B0604020202020204" pitchFamily="34" charset="0"/>
                <a:cs typeface="Arial" panose="020B0604020202020204" pitchFamily="34" charset="0"/>
              </a:rPr>
              <a:t>Page rank is inherently a dynamic problem.</a:t>
            </a:r>
          </a:p>
        </p:txBody>
      </p:sp>
      <p:sp>
        <p:nvSpPr>
          <p:cNvPr id="3" name="Content Placeholder 2"/>
          <p:cNvSpPr>
            <a:spLocks noGrp="1"/>
          </p:cNvSpPr>
          <p:nvPr>
            <p:ph sz="quarter" idx="10"/>
          </p:nvPr>
        </p:nvSpPr>
        <p:spPr/>
        <p:txBody>
          <a:bodyPr/>
          <a:lstStyle/>
          <a:p>
            <a:r>
              <a:rPr lang="en-IN" dirty="0"/>
              <a:t>Application Of Graph Mining</a:t>
            </a:r>
          </a:p>
        </p:txBody>
      </p:sp>
      <p:sp>
        <p:nvSpPr>
          <p:cNvPr id="4" name="TextBox 3"/>
          <p:cNvSpPr txBox="1"/>
          <p:nvPr/>
        </p:nvSpPr>
        <p:spPr>
          <a:xfrm>
            <a:off x="304800" y="6550223"/>
            <a:ext cx="6324600" cy="307777"/>
          </a:xfrm>
          <a:prstGeom prst="rect">
            <a:avLst/>
          </a:prstGeom>
          <a:noFill/>
        </p:spPr>
        <p:txBody>
          <a:bodyPr wrap="square" rtlCol="0">
            <a:spAutoFit/>
          </a:bodyPr>
          <a:lstStyle/>
          <a:p>
            <a:r>
              <a:rPr lang="en-IN" sz="1400" dirty="0" smtClean="0"/>
              <a:t>[2] </a:t>
            </a:r>
            <a:r>
              <a:rPr lang="en-IN" sz="1400" i="1" dirty="0" smtClean="0"/>
              <a:t>T</a:t>
            </a:r>
            <a:r>
              <a:rPr lang="en-IN" sz="1400" i="1" dirty="0"/>
              <a:t>. </a:t>
            </a:r>
            <a:r>
              <a:rPr lang="en-IN" sz="1400" i="1" dirty="0" err="1"/>
              <a:t>Haveliwala</a:t>
            </a:r>
            <a:r>
              <a:rPr lang="en-IN" sz="1400" i="1" dirty="0"/>
              <a:t>. Topic-Sensitive Page Rank, World Wide Web Conference, 2002.</a:t>
            </a:r>
          </a:p>
        </p:txBody>
      </p:sp>
      <mc:AlternateContent xmlns:mc="http://schemas.openxmlformats.org/markup-compatibility/2006">
        <mc:Choice xmlns:p14="http://schemas.microsoft.com/office/powerpoint/2010/main" Requires="p14">
          <p:contentPart p14:bwMode="auto" r:id="rId2">
            <p14:nvContentPartPr>
              <p14:cNvPr id="5" name="Ink 4"/>
              <p14:cNvContentPartPr/>
              <p14:nvPr/>
            </p14:nvContentPartPr>
            <p14:xfrm>
              <a:off x="4162680" y="2767680"/>
              <a:ext cx="137880" cy="101520"/>
            </p14:xfrm>
          </p:contentPart>
        </mc:Choice>
        <mc:Fallback>
          <p:pic>
            <p:nvPicPr>
              <p:cNvPr id="5" name="Ink 4"/>
              <p:cNvPicPr/>
              <p:nvPr/>
            </p:nvPicPr>
            <p:blipFill>
              <a:blip r:embed="rId3"/>
              <a:stretch>
                <a:fillRect/>
              </a:stretch>
            </p:blipFill>
            <p:spPr>
              <a:xfrm>
                <a:off x="4152960" y="2761560"/>
                <a:ext cx="153360" cy="117000"/>
              </a:xfrm>
              <a:prstGeom prst="rect">
                <a:avLst/>
              </a:prstGeom>
            </p:spPr>
          </p:pic>
        </mc:Fallback>
      </mc:AlternateContent>
    </p:spTree>
    <p:extLst>
      <p:ext uri="{BB962C8B-B14F-4D97-AF65-F5344CB8AC3E}">
        <p14:creationId xmlns:p14="http://schemas.microsoft.com/office/powerpoint/2010/main" val="157145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smtClean="0"/>
              <a:t>Social</a:t>
            </a:r>
            <a:r>
              <a:rPr lang="en-IN" sz="2000" dirty="0" smtClean="0"/>
              <a:t> </a:t>
            </a:r>
            <a:r>
              <a:rPr lang="en-IN" sz="2000" dirty="0"/>
              <a:t>and </a:t>
            </a:r>
            <a:r>
              <a:rPr lang="en-IN" sz="2000" dirty="0" smtClean="0"/>
              <a:t>Communication </a:t>
            </a:r>
            <a:r>
              <a:rPr lang="en-IN" sz="2000" b="1" dirty="0" smtClean="0"/>
              <a:t>networking</a:t>
            </a:r>
          </a:p>
          <a:p>
            <a:pPr lvl="1">
              <a:buFont typeface="Wingdings" panose="05000000000000000000" pitchFamily="2" charset="2"/>
              <a:buChar char="v"/>
            </a:pPr>
            <a:r>
              <a:rPr lang="en-IN" sz="2000" b="1" dirty="0"/>
              <a:t>Social networks </a:t>
            </a:r>
            <a:r>
              <a:rPr lang="en-IN" sz="2000" dirty="0"/>
              <a:t>are very large graphs which are defined by people who appear as nodes, and links which correspond to communications or relationships between these different people. The links in the social network can be used to </a:t>
            </a:r>
            <a:endParaRPr lang="en-IN" sz="2000" dirty="0" smtClean="0"/>
          </a:p>
          <a:p>
            <a:pPr lvl="2">
              <a:buFont typeface="Wingdings" panose="05000000000000000000" pitchFamily="2" charset="2"/>
              <a:buChar char="v"/>
            </a:pPr>
            <a:r>
              <a:rPr lang="en-IN" sz="2000" b="1" dirty="0">
                <a:latin typeface="Arial" panose="020B0604020202020204" pitchFamily="34" charset="0"/>
                <a:cs typeface="Arial" panose="020B0604020202020204" pitchFamily="34" charset="0"/>
              </a:rPr>
              <a:t>D</a:t>
            </a:r>
            <a:r>
              <a:rPr lang="en-IN" sz="2000" b="1" dirty="0" smtClean="0">
                <a:latin typeface="Arial" panose="020B0604020202020204" pitchFamily="34" charset="0"/>
                <a:cs typeface="Arial" panose="020B0604020202020204" pitchFamily="34" charset="0"/>
              </a:rPr>
              <a:t>etermine </a:t>
            </a:r>
            <a:r>
              <a:rPr lang="en-IN" sz="2000" b="1" dirty="0">
                <a:latin typeface="Arial" panose="020B0604020202020204" pitchFamily="34" charset="0"/>
                <a:cs typeface="Arial" panose="020B0604020202020204" pitchFamily="34" charset="0"/>
              </a:rPr>
              <a:t>relevant </a:t>
            </a:r>
            <a:r>
              <a:rPr lang="en-IN" sz="2000" b="1" dirty="0" smtClean="0">
                <a:latin typeface="Arial" panose="020B0604020202020204" pitchFamily="34" charset="0"/>
                <a:cs typeface="Arial" panose="020B0604020202020204" pitchFamily="34" charset="0"/>
              </a:rPr>
              <a:t>communities</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Members </a:t>
            </a:r>
            <a:r>
              <a:rPr lang="en-IN" sz="2000" dirty="0">
                <a:latin typeface="Arial" panose="020B0604020202020204" pitchFamily="34" charset="0"/>
                <a:cs typeface="Arial" panose="020B0604020202020204" pitchFamily="34" charset="0"/>
              </a:rPr>
              <a:t>with particular expertise sets, and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T</a:t>
            </a:r>
            <a:r>
              <a:rPr lang="en-IN" sz="2000" dirty="0" smtClean="0">
                <a:latin typeface="Arial" panose="020B0604020202020204" pitchFamily="34" charset="0"/>
                <a:cs typeface="Arial" panose="020B0604020202020204" pitchFamily="34" charset="0"/>
              </a:rPr>
              <a:t>he </a:t>
            </a:r>
            <a:r>
              <a:rPr lang="en-IN" sz="2000" dirty="0">
                <a:latin typeface="Arial" panose="020B0604020202020204" pitchFamily="34" charset="0"/>
                <a:cs typeface="Arial" panose="020B0604020202020204" pitchFamily="34" charset="0"/>
              </a:rPr>
              <a:t>flow of information in the social network.</a:t>
            </a:r>
            <a:endParaRPr lang="en-IN" sz="20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3807720" y="3961080"/>
              <a:ext cx="1796040" cy="390960"/>
            </p14:xfrm>
          </p:contentPart>
        </mc:Choice>
        <mc:Fallback>
          <p:pic>
            <p:nvPicPr>
              <p:cNvPr id="4" name="Ink 3"/>
              <p:cNvPicPr/>
              <p:nvPr/>
            </p:nvPicPr>
            <p:blipFill>
              <a:blip r:embed="rId3"/>
              <a:stretch>
                <a:fillRect/>
              </a:stretch>
            </p:blipFill>
            <p:spPr>
              <a:xfrm>
                <a:off x="3798360" y="3954240"/>
                <a:ext cx="1814760" cy="402120"/>
              </a:xfrm>
              <a:prstGeom prst="rect">
                <a:avLst/>
              </a:prstGeom>
            </p:spPr>
          </p:pic>
        </mc:Fallback>
      </mc:AlternateContent>
    </p:spTree>
    <p:extLst>
      <p:ext uri="{BB962C8B-B14F-4D97-AF65-F5344CB8AC3E}">
        <p14:creationId xmlns:p14="http://schemas.microsoft.com/office/powerpoint/2010/main" val="3503025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smtClean="0"/>
              <a:t>Social</a:t>
            </a:r>
            <a:r>
              <a:rPr lang="en-IN" sz="2000" dirty="0" smtClean="0"/>
              <a:t> </a:t>
            </a:r>
            <a:r>
              <a:rPr lang="en-IN" sz="2000" dirty="0"/>
              <a:t>and </a:t>
            </a:r>
            <a:r>
              <a:rPr lang="en-IN" sz="2000" dirty="0" smtClean="0"/>
              <a:t>Communication </a:t>
            </a:r>
            <a:r>
              <a:rPr lang="en-IN" sz="2000" b="1" dirty="0" smtClean="0"/>
              <a:t>networking</a:t>
            </a:r>
          </a:p>
          <a:p>
            <a:pPr lvl="1">
              <a:buFont typeface="Wingdings" panose="05000000000000000000" pitchFamily="2" charset="2"/>
              <a:buChar char="v"/>
            </a:pPr>
            <a:r>
              <a:rPr lang="en-IN" sz="2000" b="1" dirty="0"/>
              <a:t>Social networks </a:t>
            </a:r>
            <a:r>
              <a:rPr lang="en-IN" sz="2000" dirty="0"/>
              <a:t>are very large graphs which are defined by people who appear as nodes, and links which correspond to communications or relationships between these different people. The links in the social network can be used to </a:t>
            </a:r>
            <a:endParaRPr lang="en-IN" sz="2000" dirty="0" smtClean="0"/>
          </a:p>
          <a:p>
            <a:pPr lvl="2">
              <a:buFont typeface="Wingdings" panose="05000000000000000000" pitchFamily="2" charset="2"/>
              <a:buChar char="v"/>
            </a:pPr>
            <a:r>
              <a:rPr lang="en-IN" sz="2000" b="1" dirty="0">
                <a:latin typeface="Arial" panose="020B0604020202020204" pitchFamily="34" charset="0"/>
                <a:cs typeface="Arial" panose="020B0604020202020204" pitchFamily="34" charset="0"/>
              </a:rPr>
              <a:t>D</a:t>
            </a:r>
            <a:r>
              <a:rPr lang="en-IN" sz="2000" b="1" dirty="0" smtClean="0">
                <a:latin typeface="Arial" panose="020B0604020202020204" pitchFamily="34" charset="0"/>
                <a:cs typeface="Arial" panose="020B0604020202020204" pitchFamily="34" charset="0"/>
              </a:rPr>
              <a:t>etermine </a:t>
            </a:r>
            <a:r>
              <a:rPr lang="en-IN" sz="2000" b="1" dirty="0">
                <a:latin typeface="Arial" panose="020B0604020202020204" pitchFamily="34" charset="0"/>
                <a:cs typeface="Arial" panose="020B0604020202020204" pitchFamily="34" charset="0"/>
              </a:rPr>
              <a:t>relevant </a:t>
            </a:r>
            <a:r>
              <a:rPr lang="en-IN" sz="2000" b="1" dirty="0" smtClean="0">
                <a:latin typeface="Arial" panose="020B0604020202020204" pitchFamily="34" charset="0"/>
                <a:cs typeface="Arial" panose="020B0604020202020204" pitchFamily="34" charset="0"/>
              </a:rPr>
              <a:t>communities</a:t>
            </a: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It is </a:t>
            </a:r>
            <a:r>
              <a:rPr lang="en-IN" dirty="0">
                <a:latin typeface="Arial" panose="020B0604020202020204" pitchFamily="34" charset="0"/>
                <a:cs typeface="Arial" panose="020B0604020202020204" pitchFamily="34" charset="0"/>
              </a:rPr>
              <a:t>related to the problem of node clustering of very large graphs</a:t>
            </a:r>
            <a:r>
              <a:rPr lang="en-IN" dirty="0" smtClean="0">
                <a:latin typeface="Arial" panose="020B0604020202020204" pitchFamily="34" charset="0"/>
                <a:cs typeface="Arial" panose="020B0604020202020204" pitchFamily="34" charset="0"/>
              </a:rPr>
              <a:t>.</a:t>
            </a: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It is </a:t>
            </a:r>
            <a:r>
              <a:rPr lang="en-IN" dirty="0">
                <a:latin typeface="Arial" panose="020B0604020202020204" pitchFamily="34" charset="0"/>
                <a:cs typeface="Arial" panose="020B0604020202020204" pitchFamily="34" charset="0"/>
              </a:rPr>
              <a:t>particularly interesting in the context </a:t>
            </a:r>
            <a:r>
              <a:rPr lang="en-IN" i="1" dirty="0">
                <a:latin typeface="Arial" panose="020B0604020202020204" pitchFamily="34" charset="0"/>
                <a:cs typeface="Arial" panose="020B0604020202020204" pitchFamily="34" charset="0"/>
              </a:rPr>
              <a:t>of dynamic analysis of evolving networks</a:t>
            </a:r>
            <a:r>
              <a:rPr lang="en-IN" dirty="0">
                <a:latin typeface="Arial" panose="020B0604020202020204" pitchFamily="34" charset="0"/>
                <a:cs typeface="Arial" panose="020B0604020202020204" pitchFamily="34" charset="0"/>
              </a:rPr>
              <a:t> in which we try to determine </a:t>
            </a:r>
            <a:r>
              <a:rPr lang="en-IN" i="1" dirty="0">
                <a:latin typeface="Arial" panose="020B0604020202020204" pitchFamily="34" charset="0"/>
                <a:cs typeface="Arial" panose="020B0604020202020204" pitchFamily="34" charset="0"/>
              </a:rPr>
              <a:t>how the communities in the graph may change over time</a:t>
            </a:r>
            <a:r>
              <a:rPr lang="en-IN" dirty="0" smtClean="0">
                <a:latin typeface="Arial" panose="020B0604020202020204" pitchFamily="34" charset="0"/>
                <a:cs typeface="Arial" panose="020B0604020202020204" pitchFamily="34" charset="0"/>
              </a:rPr>
              <a:t>.</a:t>
            </a:r>
          </a:p>
          <a:p>
            <a:pPr lvl="3">
              <a:buFont typeface="Wingdings" panose="05000000000000000000" pitchFamily="2" charset="2"/>
              <a:buChar char="v"/>
            </a:pPr>
            <a:r>
              <a:rPr lang="en-IN" i="1" dirty="0">
                <a:latin typeface="Arial" panose="020B0604020202020204" pitchFamily="34" charset="0"/>
                <a:cs typeface="Arial" panose="020B0604020202020204" pitchFamily="34" charset="0"/>
              </a:rPr>
              <a:t>newly forming communities, decaying communities, or evolving communities</a:t>
            </a:r>
            <a:r>
              <a:rPr lang="en-IN" dirty="0" smtClean="0">
                <a:latin typeface="Arial" panose="020B0604020202020204" pitchFamily="34" charset="0"/>
                <a:cs typeface="Arial" panose="020B0604020202020204" pitchFamily="34" charset="0"/>
              </a:rPr>
              <a:t>.</a:t>
            </a:r>
            <a:endParaRPr lang="en-IN" sz="20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292260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Autofit/>
          </a:bodyPr>
          <a:lstStyle/>
          <a:p>
            <a:pPr>
              <a:buFont typeface="Wingdings" panose="05000000000000000000" pitchFamily="2" charset="2"/>
              <a:buChar char="v"/>
            </a:pPr>
            <a:r>
              <a:rPr lang="en-IN" b="1" dirty="0" smtClean="0"/>
              <a:t>Members </a:t>
            </a:r>
            <a:r>
              <a:rPr lang="en-IN" b="1" dirty="0"/>
              <a:t>with particular expertise sets, &amp;The flow of information in the social </a:t>
            </a:r>
            <a:r>
              <a:rPr lang="en-IN" b="1" dirty="0" smtClean="0"/>
              <a:t>network</a:t>
            </a:r>
          </a:p>
          <a:p>
            <a:pPr lvl="1">
              <a:buFont typeface="Wingdings" panose="05000000000000000000" pitchFamily="2" charset="2"/>
              <a:buChar char="v"/>
            </a:pPr>
            <a:r>
              <a:rPr lang="en-IN" sz="2400" b="1" dirty="0" smtClean="0"/>
              <a:t>Centrality </a:t>
            </a:r>
            <a:r>
              <a:rPr lang="en-IN" sz="2400" b="1" dirty="0"/>
              <a:t>analysis </a:t>
            </a:r>
            <a:r>
              <a:rPr lang="en-IN" sz="2400" dirty="0"/>
              <a:t>in </a:t>
            </a:r>
            <a:r>
              <a:rPr lang="en-IN" sz="2400" dirty="0" smtClean="0"/>
              <a:t>networks</a:t>
            </a:r>
            <a:r>
              <a:rPr lang="en-IN" sz="2400" dirty="0"/>
              <a:t> </a:t>
            </a:r>
            <a:r>
              <a:rPr lang="en-IN" sz="2400" dirty="0" smtClean="0"/>
              <a:t>is closely </a:t>
            </a:r>
            <a:r>
              <a:rPr lang="en-IN" sz="2400" dirty="0"/>
              <a:t>related to the problem of information flow spread in social networks.</a:t>
            </a:r>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T</a:t>
            </a:r>
            <a:r>
              <a:rPr lang="en-IN" dirty="0" smtClean="0">
                <a:latin typeface="Arial" panose="020B0604020202020204" pitchFamily="34" charset="0"/>
                <a:cs typeface="Arial" panose="020B0604020202020204" pitchFamily="34" charset="0"/>
              </a:rPr>
              <a:t>o </a:t>
            </a:r>
            <a:r>
              <a:rPr lang="en-IN" dirty="0">
                <a:latin typeface="Arial" panose="020B0604020202020204" pitchFamily="34" charset="0"/>
                <a:cs typeface="Arial" panose="020B0604020202020204" pitchFamily="34" charset="0"/>
              </a:rPr>
              <a:t>determine the most influential members of the social network;</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Information </a:t>
            </a:r>
            <a:r>
              <a:rPr lang="en-IN" dirty="0">
                <a:latin typeface="Arial" panose="020B0604020202020204" pitchFamily="34" charset="0"/>
                <a:cs typeface="Arial" panose="020B0604020202020204" pitchFamily="34" charset="0"/>
              </a:rPr>
              <a:t>in the social </a:t>
            </a:r>
            <a:r>
              <a:rPr lang="en-IN" dirty="0" smtClean="0">
                <a:latin typeface="Arial" panose="020B0604020202020204" pitchFamily="34" charset="0"/>
                <a:cs typeface="Arial" panose="020B0604020202020204" pitchFamily="34" charset="0"/>
              </a:rPr>
              <a:t>behaviour </a:t>
            </a:r>
            <a:r>
              <a:rPr lang="en-IN" dirty="0">
                <a:latin typeface="Arial" panose="020B0604020202020204" pitchFamily="34" charset="0"/>
                <a:cs typeface="Arial" panose="020B0604020202020204" pitchFamily="34" charset="0"/>
              </a:rPr>
              <a:t>often cascades through it in the same way as an epidemic. We would like to </a:t>
            </a:r>
            <a:r>
              <a:rPr lang="en-IN" dirty="0" smtClean="0">
                <a:latin typeface="Arial" panose="020B0604020202020204" pitchFamily="34" charset="0"/>
                <a:cs typeface="Arial" panose="020B0604020202020204" pitchFamily="34" charset="0"/>
              </a:rPr>
              <a:t>measure </a:t>
            </a:r>
            <a:r>
              <a:rPr lang="en-IN" dirty="0">
                <a:latin typeface="Arial" panose="020B0604020202020204" pitchFamily="34" charset="0"/>
                <a:cs typeface="Arial" panose="020B0604020202020204" pitchFamily="34" charset="0"/>
              </a:rPr>
              <a:t>the </a:t>
            </a:r>
            <a:r>
              <a:rPr lang="en-IN" b="1" dirty="0">
                <a:latin typeface="Arial" panose="020B0604020202020204" pitchFamily="34" charset="0"/>
                <a:cs typeface="Arial" panose="020B0604020202020204" pitchFamily="34" charset="0"/>
              </a:rPr>
              <a:t>information cascade rate </a:t>
            </a:r>
            <a:r>
              <a:rPr lang="en-IN" dirty="0">
                <a:latin typeface="Arial" panose="020B0604020202020204" pitchFamily="34" charset="0"/>
                <a:cs typeface="Arial" panose="020B0604020202020204" pitchFamily="34" charset="0"/>
              </a:rPr>
              <a:t>through the social network, and determine the effect of different sources of information</a:t>
            </a:r>
            <a:r>
              <a:rPr lang="en-IN" dirty="0" smtClean="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394200" y="695880"/>
              <a:ext cx="8535960" cy="4545360"/>
            </p14:xfrm>
          </p:contentPart>
        </mc:Choice>
        <mc:Fallback>
          <p:pic>
            <p:nvPicPr>
              <p:cNvPr id="4" name="Ink 3"/>
              <p:cNvPicPr/>
              <p:nvPr/>
            </p:nvPicPr>
            <p:blipFill>
              <a:blip r:embed="rId3"/>
              <a:stretch>
                <a:fillRect/>
              </a:stretch>
            </p:blipFill>
            <p:spPr>
              <a:xfrm>
                <a:off x="383040" y="685440"/>
                <a:ext cx="8557920" cy="4565160"/>
              </a:xfrm>
              <a:prstGeom prst="rect">
                <a:avLst/>
              </a:prstGeom>
            </p:spPr>
          </p:pic>
        </mc:Fallback>
      </mc:AlternateContent>
    </p:spTree>
    <p:extLst>
      <p:ext uri="{BB962C8B-B14F-4D97-AF65-F5344CB8AC3E}">
        <p14:creationId xmlns:p14="http://schemas.microsoft.com/office/powerpoint/2010/main" val="2213891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457200" y="3429000"/>
            <a:ext cx="8077200" cy="1143000"/>
          </a:xfrm>
        </p:spPr>
        <p:txBody>
          <a:bodyPr/>
          <a:lstStyle/>
          <a:p>
            <a:r>
              <a:rPr lang="en-IN" dirty="0"/>
              <a:t>Overview of Graph mining </a:t>
            </a:r>
            <a:r>
              <a:rPr lang="en-IN" dirty="0" smtClean="0"/>
              <a:t>Algorithms</a:t>
            </a:r>
            <a:endParaRPr lang="en-IN" dirty="0"/>
          </a:p>
        </p:txBody>
      </p:sp>
      <mc:AlternateContent xmlns:mc="http://schemas.openxmlformats.org/markup-compatibility/2006">
        <mc:Choice xmlns:p14="http://schemas.microsoft.com/office/powerpoint/2010/main" Requires="p14">
          <p:contentPart p14:bwMode="auto" r:id="rId2">
            <p14:nvContentPartPr>
              <p14:cNvPr id="2" name="Ink 1"/>
              <p14:cNvContentPartPr/>
              <p14:nvPr/>
            </p14:nvContentPartPr>
            <p14:xfrm>
              <a:off x="7572960" y="3552840"/>
              <a:ext cx="122040" cy="141480"/>
            </p14:xfrm>
          </p:contentPart>
        </mc:Choice>
        <mc:Fallback>
          <p:pic>
            <p:nvPicPr>
              <p:cNvPr id="2" name="Ink 1"/>
              <p:cNvPicPr/>
              <p:nvPr/>
            </p:nvPicPr>
            <p:blipFill>
              <a:blip r:embed="rId3"/>
              <a:stretch>
                <a:fillRect/>
              </a:stretch>
            </p:blipFill>
            <p:spPr>
              <a:xfrm>
                <a:off x="7564680" y="3542760"/>
                <a:ext cx="137160" cy="159840"/>
              </a:xfrm>
              <a:prstGeom prst="rect">
                <a:avLst/>
              </a:prstGeom>
            </p:spPr>
          </p:pic>
        </mc:Fallback>
      </mc:AlternateContent>
    </p:spTree>
    <p:extLst>
      <p:ext uri="{BB962C8B-B14F-4D97-AF65-F5344CB8AC3E}">
        <p14:creationId xmlns:p14="http://schemas.microsoft.com/office/powerpoint/2010/main" val="187531759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smtClean="0"/>
              <a:t>Graph </a:t>
            </a:r>
            <a:r>
              <a:rPr lang="en-IN" dirty="0"/>
              <a:t>mining has been studied by the theoretical community extensively in the context of numerous problems such as </a:t>
            </a:r>
            <a:endParaRPr lang="en-IN" dirty="0" smtClean="0"/>
          </a:p>
          <a:p>
            <a:pPr lvl="1">
              <a:buFont typeface="Wingdings" panose="05000000000000000000" pitchFamily="2" charset="2"/>
              <a:buChar char="v"/>
            </a:pPr>
            <a:r>
              <a:rPr lang="en-IN" sz="2400" dirty="0" smtClean="0"/>
              <a:t>Graph Partitioning</a:t>
            </a:r>
            <a:r>
              <a:rPr lang="en-IN" sz="2400" dirty="0"/>
              <a:t>, </a:t>
            </a:r>
            <a:endParaRPr lang="en-IN" sz="2400" dirty="0" smtClean="0"/>
          </a:p>
          <a:p>
            <a:pPr lvl="1">
              <a:buFont typeface="Wingdings" panose="05000000000000000000" pitchFamily="2" charset="2"/>
              <a:buChar char="v"/>
            </a:pPr>
            <a:r>
              <a:rPr lang="en-IN" sz="2400" dirty="0" smtClean="0"/>
              <a:t>Node Clustering</a:t>
            </a:r>
            <a:r>
              <a:rPr lang="en-IN" sz="2400" dirty="0"/>
              <a:t>, </a:t>
            </a:r>
            <a:endParaRPr lang="en-IN" sz="2400" dirty="0" smtClean="0"/>
          </a:p>
          <a:p>
            <a:pPr lvl="1">
              <a:buFont typeface="Wingdings" panose="05000000000000000000" pitchFamily="2" charset="2"/>
              <a:buChar char="v"/>
            </a:pPr>
            <a:r>
              <a:rPr lang="en-IN" sz="2400" dirty="0" smtClean="0"/>
              <a:t>Graph Matching</a:t>
            </a:r>
            <a:r>
              <a:rPr lang="en-IN" sz="2400" dirty="0"/>
              <a:t>, and </a:t>
            </a:r>
            <a:endParaRPr lang="en-IN" sz="2400" dirty="0" smtClean="0"/>
          </a:p>
          <a:p>
            <a:pPr lvl="1">
              <a:buFont typeface="Wingdings" panose="05000000000000000000" pitchFamily="2" charset="2"/>
              <a:buChar char="v"/>
            </a:pPr>
            <a:r>
              <a:rPr lang="en-IN" sz="2400" dirty="0" smtClean="0"/>
              <a:t>Connectivity Analysis</a:t>
            </a:r>
            <a:r>
              <a:rPr lang="en-IN" sz="2400" dirty="0"/>
              <a:t>. </a:t>
            </a:r>
          </a:p>
          <a:p>
            <a:endParaRPr lang="en-IN" dirty="0"/>
          </a:p>
        </p:txBody>
      </p:sp>
      <p:sp>
        <p:nvSpPr>
          <p:cNvPr id="3" name="Content Placeholder 2"/>
          <p:cNvSpPr>
            <a:spLocks noGrp="1"/>
          </p:cNvSpPr>
          <p:nvPr>
            <p:ph sz="quarter" idx="10"/>
          </p:nvPr>
        </p:nvSpPr>
        <p:spPr>
          <a:xfrm>
            <a:off x="304800" y="152400"/>
            <a:ext cx="8077200" cy="1143000"/>
          </a:xfrm>
        </p:spPr>
        <p:txBody>
          <a:bodyPr/>
          <a:lstStyle/>
          <a:p>
            <a:r>
              <a:rPr lang="en-IN" dirty="0"/>
              <a:t>Overview of Graph mining </a:t>
            </a:r>
            <a:r>
              <a:rPr lang="en-IN" dirty="0" smtClean="0"/>
              <a:t>Algorithms</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414720" y="2990880"/>
              <a:ext cx="107280" cy="127080"/>
            </p14:xfrm>
          </p:contentPart>
        </mc:Choice>
        <mc:Fallback>
          <p:pic>
            <p:nvPicPr>
              <p:cNvPr id="4" name="Ink 3"/>
              <p:cNvPicPr/>
              <p:nvPr/>
            </p:nvPicPr>
            <p:blipFill>
              <a:blip r:embed="rId3"/>
              <a:stretch>
                <a:fillRect/>
              </a:stretch>
            </p:blipFill>
            <p:spPr>
              <a:xfrm>
                <a:off x="405720" y="2981880"/>
                <a:ext cx="127080" cy="145440"/>
              </a:xfrm>
              <a:prstGeom prst="rect">
                <a:avLst/>
              </a:prstGeom>
            </p:spPr>
          </p:pic>
        </mc:Fallback>
      </mc:AlternateContent>
    </p:spTree>
    <p:extLst>
      <p:ext uri="{BB962C8B-B14F-4D97-AF65-F5344CB8AC3E}">
        <p14:creationId xmlns:p14="http://schemas.microsoft.com/office/powerpoint/2010/main" val="4110674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610600" cy="4525963"/>
          </a:xfrm>
        </p:spPr>
        <p:txBody>
          <a:bodyPr>
            <a:noAutofit/>
          </a:bodyPr>
          <a:lstStyle/>
          <a:p>
            <a:pPr>
              <a:buFont typeface="Wingdings" panose="05000000000000000000" pitchFamily="2" charset="2"/>
              <a:buChar char="v"/>
            </a:pPr>
            <a:r>
              <a:rPr lang="en-IN" sz="2000" dirty="0" smtClean="0"/>
              <a:t>It cannot </a:t>
            </a:r>
            <a:r>
              <a:rPr lang="en-IN" sz="2000" dirty="0"/>
              <a:t>be directly used in practical </a:t>
            </a:r>
            <a:r>
              <a:rPr lang="en-IN" sz="2000" dirty="0" smtClean="0"/>
              <a:t>applications because:</a:t>
            </a:r>
            <a:endParaRPr lang="en-IN" sz="2000" dirty="0"/>
          </a:p>
          <a:p>
            <a:pPr lvl="1">
              <a:buFont typeface="Wingdings" panose="05000000000000000000" pitchFamily="2" charset="2"/>
              <a:buChar char="v"/>
            </a:pPr>
            <a:r>
              <a:rPr lang="en-IN" sz="2000" dirty="0"/>
              <a:t>The definitions of </a:t>
            </a:r>
            <a:r>
              <a:rPr lang="en-IN" sz="2000" dirty="0" smtClean="0"/>
              <a:t>problems are </a:t>
            </a:r>
            <a:r>
              <a:rPr lang="en-IN" sz="2000" b="1" i="1" u="sng" dirty="0"/>
              <a:t>too “clean” to be used with real </a:t>
            </a:r>
            <a:r>
              <a:rPr lang="en-IN" sz="2000" b="1" i="1" u="sng" dirty="0" smtClean="0"/>
              <a:t>applications</a:t>
            </a:r>
            <a:r>
              <a:rPr lang="en-IN" sz="2000" b="1" i="1" dirty="0" smtClean="0"/>
              <a:t> </a:t>
            </a:r>
            <a:r>
              <a:rPr lang="en-IN" sz="2000" dirty="0" smtClean="0"/>
              <a:t>in </a:t>
            </a:r>
            <a:r>
              <a:rPr lang="en-IN" sz="2000" i="1" dirty="0" smtClean="0"/>
              <a:t>graph </a:t>
            </a:r>
            <a:r>
              <a:rPr lang="en-IN" sz="2000" i="1" dirty="0"/>
              <a:t>partitioning, matching and dimensionality </a:t>
            </a:r>
            <a:r>
              <a:rPr lang="en-IN" sz="2000" i="1" dirty="0" smtClean="0"/>
              <a:t>reduction.</a:t>
            </a:r>
          </a:p>
          <a:p>
            <a:pPr lvl="1">
              <a:buFont typeface="Wingdings" panose="05000000000000000000" pitchFamily="2" charset="2"/>
              <a:buChar char="v"/>
            </a:pPr>
            <a:r>
              <a:rPr lang="en-IN" sz="2000" dirty="0" smtClean="0"/>
              <a:t>In </a:t>
            </a:r>
            <a:r>
              <a:rPr lang="en-IN" sz="2000" dirty="0"/>
              <a:t>real applications, the problem may have different variations such as a </a:t>
            </a:r>
            <a:endParaRPr lang="en-IN" sz="2000" dirty="0" smtClean="0"/>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D</a:t>
            </a:r>
            <a:r>
              <a:rPr lang="en-IN" sz="2000" dirty="0" smtClean="0">
                <a:latin typeface="Arial" panose="020B0604020202020204" pitchFamily="34" charset="0"/>
                <a:cs typeface="Arial" panose="020B0604020202020204" pitchFamily="34" charset="0"/>
              </a:rPr>
              <a:t>isk-resident </a:t>
            </a:r>
            <a:r>
              <a:rPr lang="en-IN" sz="2000" dirty="0">
                <a:latin typeface="Arial" panose="020B0604020202020204" pitchFamily="34" charset="0"/>
                <a:cs typeface="Arial" panose="020B0604020202020204" pitchFamily="34" charset="0"/>
              </a:rPr>
              <a:t>case,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A Multi-Graph </a:t>
            </a:r>
            <a:r>
              <a:rPr lang="en-IN" sz="2000" dirty="0">
                <a:latin typeface="Arial" panose="020B0604020202020204" pitchFamily="34" charset="0"/>
                <a:cs typeface="Arial" panose="020B0604020202020204" pitchFamily="34" charset="0"/>
              </a:rPr>
              <a:t>case, or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O</a:t>
            </a:r>
            <a:r>
              <a:rPr lang="en-IN" sz="2000" dirty="0" smtClean="0">
                <a:latin typeface="Arial" panose="020B0604020202020204" pitchFamily="34" charset="0"/>
                <a:cs typeface="Arial" panose="020B0604020202020204" pitchFamily="34" charset="0"/>
              </a:rPr>
              <a:t>ther </a:t>
            </a:r>
            <a:r>
              <a:rPr lang="en-IN" sz="2000" dirty="0">
                <a:latin typeface="Arial" panose="020B0604020202020204" pitchFamily="34" charset="0"/>
                <a:cs typeface="Arial" panose="020B0604020202020204" pitchFamily="34" charset="0"/>
              </a:rPr>
              <a:t>constraints associated with the graphs. </a:t>
            </a:r>
            <a:endParaRPr lang="en-IN" sz="2000" dirty="0" smtClean="0">
              <a:latin typeface="Arial" panose="020B0604020202020204" pitchFamily="34" charset="0"/>
              <a:cs typeface="Arial" panose="020B0604020202020204" pitchFamily="34" charset="0"/>
            </a:endParaRPr>
          </a:p>
          <a:p>
            <a:pPr lvl="1">
              <a:buFont typeface="Wingdings" panose="05000000000000000000" pitchFamily="2" charset="2"/>
              <a:buChar char="v"/>
            </a:pPr>
            <a:r>
              <a:rPr lang="en-IN" sz="2000" dirty="0" smtClean="0"/>
              <a:t>In many problems, it may </a:t>
            </a:r>
            <a:r>
              <a:rPr lang="en-IN" sz="2000" dirty="0"/>
              <a:t>have a variety of different flavours for different </a:t>
            </a:r>
            <a:r>
              <a:rPr lang="en-IN" sz="2000" dirty="0" smtClean="0"/>
              <a:t>scenarios, </a:t>
            </a:r>
            <a:r>
              <a:rPr lang="en-IN" sz="2000" dirty="0"/>
              <a:t>such as </a:t>
            </a:r>
            <a:endParaRPr lang="en-IN" sz="2000" dirty="0" smtClean="0"/>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Frequent </a:t>
            </a:r>
            <a:r>
              <a:rPr lang="en-IN" sz="2000" dirty="0">
                <a:latin typeface="Arial" panose="020B0604020202020204" pitchFamily="34" charset="0"/>
                <a:cs typeface="Arial" panose="020B0604020202020204" pitchFamily="34" charset="0"/>
              </a:rPr>
              <a:t>sub-graph mining and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D</a:t>
            </a:r>
            <a:r>
              <a:rPr lang="en-IN" sz="2000" dirty="0" smtClean="0">
                <a:latin typeface="Arial" panose="020B0604020202020204" pitchFamily="34" charset="0"/>
                <a:cs typeface="Arial" panose="020B0604020202020204" pitchFamily="34" charset="0"/>
              </a:rPr>
              <a:t>ense </a:t>
            </a:r>
            <a:r>
              <a:rPr lang="en-IN" sz="2000" dirty="0">
                <a:latin typeface="Arial" panose="020B0604020202020204" pitchFamily="34" charset="0"/>
                <a:cs typeface="Arial" panose="020B0604020202020204" pitchFamily="34" charset="0"/>
              </a:rPr>
              <a:t>graph </a:t>
            </a:r>
            <a:r>
              <a:rPr lang="en-IN" sz="2000" dirty="0" smtClean="0">
                <a:latin typeface="Arial" panose="020B0604020202020204" pitchFamily="34" charset="0"/>
                <a:cs typeface="Arial" panose="020B0604020202020204" pitchFamily="34" charset="0"/>
              </a:rPr>
              <a:t>mining.</a:t>
            </a:r>
          </a:p>
        </p:txBody>
      </p:sp>
      <p:sp>
        <p:nvSpPr>
          <p:cNvPr id="3" name="Content Placeholder 2"/>
          <p:cNvSpPr>
            <a:spLocks noGrp="1"/>
          </p:cNvSpPr>
          <p:nvPr>
            <p:ph sz="quarter" idx="10"/>
          </p:nvPr>
        </p:nvSpPr>
        <p:spPr>
          <a:xfrm>
            <a:off x="304800" y="152400"/>
            <a:ext cx="8153400" cy="1143000"/>
          </a:xfrm>
        </p:spPr>
        <p:txBody>
          <a:bodyPr/>
          <a:lstStyle/>
          <a:p>
            <a:r>
              <a:rPr lang="en-IN" dirty="0" smtClean="0"/>
              <a:t>Real Time Scenarios with Graph Mining</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1911240" y="1478160"/>
              <a:ext cx="3339000" cy="4271400"/>
            </p14:xfrm>
          </p:contentPart>
        </mc:Choice>
        <mc:Fallback>
          <p:pic>
            <p:nvPicPr>
              <p:cNvPr id="4" name="Ink 3"/>
              <p:cNvPicPr/>
              <p:nvPr/>
            </p:nvPicPr>
            <p:blipFill>
              <a:blip r:embed="rId3"/>
              <a:stretch>
                <a:fillRect/>
              </a:stretch>
            </p:blipFill>
            <p:spPr>
              <a:xfrm>
                <a:off x="1900440" y="1469880"/>
                <a:ext cx="3358800" cy="4289040"/>
              </a:xfrm>
              <a:prstGeom prst="rect">
                <a:avLst/>
              </a:prstGeom>
            </p:spPr>
          </p:pic>
        </mc:Fallback>
      </mc:AlternateContent>
    </p:spTree>
    <p:extLst>
      <p:ext uri="{BB962C8B-B14F-4D97-AF65-F5344CB8AC3E}">
        <p14:creationId xmlns:p14="http://schemas.microsoft.com/office/powerpoint/2010/main" val="2640459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dirty="0"/>
              <a:t>It cannot be directly used in practical applications because:</a:t>
            </a:r>
          </a:p>
          <a:p>
            <a:pPr lvl="1">
              <a:buFont typeface="Wingdings" panose="05000000000000000000" pitchFamily="2" charset="2"/>
              <a:buChar char="v"/>
            </a:pPr>
            <a:r>
              <a:rPr lang="en-IN" sz="2000" dirty="0" smtClean="0"/>
              <a:t>The </a:t>
            </a:r>
            <a:r>
              <a:rPr lang="en-IN" sz="2000" b="1" dirty="0"/>
              <a:t>size of the applications </a:t>
            </a:r>
            <a:r>
              <a:rPr lang="en-IN" sz="2000" dirty="0"/>
              <a:t>in real scenarios </a:t>
            </a:r>
            <a:r>
              <a:rPr lang="en-IN" sz="2000" b="1" dirty="0"/>
              <a:t>are often very large</a:t>
            </a:r>
            <a:r>
              <a:rPr lang="en-IN" sz="2000" dirty="0"/>
              <a:t>. </a:t>
            </a:r>
            <a:endParaRPr lang="en-IN" sz="2000" dirty="0" smtClean="0"/>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In </a:t>
            </a:r>
            <a:r>
              <a:rPr lang="en-IN" sz="2000" dirty="0">
                <a:latin typeface="Arial" panose="020B0604020202020204" pitchFamily="34" charset="0"/>
                <a:cs typeface="Arial" panose="020B0604020202020204" pitchFamily="34" charset="0"/>
              </a:rPr>
              <a:t>such cases, the graphs may not be </a:t>
            </a:r>
            <a:r>
              <a:rPr lang="en-IN" sz="2000" b="1" dirty="0">
                <a:latin typeface="Arial" panose="020B0604020202020204" pitchFamily="34" charset="0"/>
                <a:cs typeface="Arial" panose="020B0604020202020204" pitchFamily="34" charset="0"/>
              </a:rPr>
              <a:t>stored</a:t>
            </a:r>
            <a:r>
              <a:rPr lang="en-IN" sz="2000" dirty="0">
                <a:latin typeface="Arial" panose="020B0604020202020204" pitchFamily="34" charset="0"/>
                <a:cs typeface="Arial" panose="020B0604020202020204" pitchFamily="34" charset="0"/>
              </a:rPr>
              <a:t> in main memory, but may be </a:t>
            </a:r>
            <a:r>
              <a:rPr lang="en-IN" sz="2000" b="1" dirty="0">
                <a:latin typeface="Arial" panose="020B0604020202020204" pitchFamily="34" charset="0"/>
                <a:cs typeface="Arial" panose="020B0604020202020204" pitchFamily="34" charset="0"/>
              </a:rPr>
              <a:t>available only on disk</a:t>
            </a:r>
            <a:r>
              <a:rPr lang="en-IN" sz="2000" dirty="0">
                <a:latin typeface="Arial" panose="020B0604020202020204" pitchFamily="34" charset="0"/>
                <a:cs typeface="Arial" panose="020B0604020202020204" pitchFamily="34" charset="0"/>
              </a:rPr>
              <a:t>. </a:t>
            </a:r>
            <a:endParaRPr lang="en-IN" sz="2000" dirty="0" smtClean="0">
              <a:latin typeface="Arial" panose="020B0604020202020204" pitchFamily="34" charset="0"/>
              <a:cs typeface="Arial" panose="020B0604020202020204" pitchFamily="34" charset="0"/>
            </a:endParaRP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A </a:t>
            </a:r>
            <a:r>
              <a:rPr lang="en-IN" dirty="0">
                <a:latin typeface="Arial" panose="020B0604020202020204" pitchFamily="34" charset="0"/>
                <a:cs typeface="Arial" panose="020B0604020202020204" pitchFamily="34" charset="0"/>
              </a:rPr>
              <a:t>classic example of this is the case of </a:t>
            </a:r>
            <a:r>
              <a:rPr lang="en-IN" b="1" dirty="0">
                <a:latin typeface="Arial" panose="020B0604020202020204" pitchFamily="34" charset="0"/>
                <a:cs typeface="Arial" panose="020B0604020202020204" pitchFamily="34" charset="0"/>
              </a:rPr>
              <a:t>web and social network graphs</a:t>
            </a:r>
            <a:r>
              <a:rPr lang="en-IN" dirty="0">
                <a:latin typeface="Arial" panose="020B0604020202020204" pitchFamily="34" charset="0"/>
                <a:cs typeface="Arial" panose="020B0604020202020204" pitchFamily="34" charset="0"/>
              </a:rPr>
              <a:t>, which may contain millions of nodes. As a result, it is often necessary to design specialized algorithms which are sensitive to disk access efficiency constraints. </a:t>
            </a:r>
            <a:endParaRPr lang="en-IN"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In </a:t>
            </a:r>
            <a:r>
              <a:rPr lang="en-IN" sz="2000" dirty="0">
                <a:latin typeface="Arial" panose="020B0604020202020204" pitchFamily="34" charset="0"/>
                <a:cs typeface="Arial" panose="020B0604020202020204" pitchFamily="34" charset="0"/>
              </a:rPr>
              <a:t>some cases, the entire graph may not be </a:t>
            </a:r>
            <a:r>
              <a:rPr lang="en-IN" sz="2000" b="1" dirty="0">
                <a:latin typeface="Arial" panose="020B0604020202020204" pitchFamily="34" charset="0"/>
                <a:cs typeface="Arial" panose="020B0604020202020204" pitchFamily="34" charset="0"/>
              </a:rPr>
              <a:t>available</a:t>
            </a:r>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at one time</a:t>
            </a:r>
            <a:r>
              <a:rPr lang="en-IN" sz="2000" dirty="0">
                <a:latin typeface="Arial" panose="020B0604020202020204" pitchFamily="34" charset="0"/>
                <a:cs typeface="Arial" panose="020B0604020202020204" pitchFamily="34" charset="0"/>
              </a:rPr>
              <a:t>, but may be available in the form of a continuous stream. This is the case in many applications such as social and telecommunication networks in which edges are received continuously</a:t>
            </a:r>
            <a:r>
              <a:rPr lang="en-IN" sz="2000" dirty="0" smtClean="0">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a:xfrm>
            <a:off x="304800" y="152400"/>
            <a:ext cx="8229600" cy="1143000"/>
          </a:xfrm>
        </p:spPr>
        <p:txBody>
          <a:bodyPr/>
          <a:lstStyle/>
          <a:p>
            <a:r>
              <a:rPr lang="en-IN" dirty="0"/>
              <a:t>Real Time Scenarios with Graph Mining</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7071480" y="5276880"/>
              <a:ext cx="381240" cy="18360"/>
            </p14:xfrm>
          </p:contentPart>
        </mc:Choice>
        <mc:Fallback>
          <p:pic>
            <p:nvPicPr>
              <p:cNvPr id="4" name="Ink 3"/>
              <p:cNvPicPr/>
              <p:nvPr/>
            </p:nvPicPr>
            <p:blipFill>
              <a:blip r:embed="rId3"/>
              <a:stretch>
                <a:fillRect/>
              </a:stretch>
            </p:blipFill>
            <p:spPr>
              <a:xfrm>
                <a:off x="7061760" y="5270760"/>
                <a:ext cx="396360" cy="34560"/>
              </a:xfrm>
              <a:prstGeom prst="rect">
                <a:avLst/>
              </a:prstGeom>
            </p:spPr>
          </p:pic>
        </mc:Fallback>
      </mc:AlternateContent>
    </p:spTree>
    <p:extLst>
      <p:ext uri="{BB962C8B-B14F-4D97-AF65-F5344CB8AC3E}">
        <p14:creationId xmlns:p14="http://schemas.microsoft.com/office/powerpoint/2010/main" val="77924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0" indent="-457200">
              <a:buFont typeface="+mj-lt"/>
              <a:buAutoNum type="arabicParenR"/>
            </a:pPr>
            <a:r>
              <a:rPr lang="en-IN" dirty="0"/>
              <a:t>It is assumed that the underlying graphs are massive and cannot be held in main memory</a:t>
            </a:r>
            <a:r>
              <a:rPr lang="en-IN" dirty="0" smtClean="0"/>
              <a:t>.</a:t>
            </a:r>
          </a:p>
          <a:p>
            <a:pPr marL="457200" indent="-457200">
              <a:buFont typeface="+mj-lt"/>
              <a:buAutoNum type="arabicParenR"/>
            </a:pPr>
            <a:r>
              <a:rPr lang="en-IN" dirty="0"/>
              <a:t>In many cases, the problem of graph management and mining has been studied from the perspective of structured and XML data.</a:t>
            </a:r>
          </a:p>
          <a:p>
            <a:pPr marL="457200" indent="-457200">
              <a:buFont typeface="+mj-lt"/>
              <a:buAutoNum type="arabicParenR"/>
            </a:pPr>
            <a:r>
              <a:rPr lang="en-IN" dirty="0"/>
              <a:t>Many of the graph algorithms are sensitive to the application scenario in which they are </a:t>
            </a:r>
            <a:r>
              <a:rPr lang="en-IN" dirty="0" smtClean="0"/>
              <a:t>encountered.</a:t>
            </a:r>
          </a:p>
          <a:p>
            <a:pPr marL="457200" indent="-457200">
              <a:buFont typeface="+mj-lt"/>
              <a:buAutoNum type="arabicParenR"/>
            </a:pPr>
            <a:r>
              <a:rPr lang="en-IN" dirty="0"/>
              <a:t>Different application result </a:t>
            </a:r>
            <a:r>
              <a:rPr lang="en-IN" dirty="0" smtClean="0"/>
              <a:t>in </a:t>
            </a:r>
            <a:r>
              <a:rPr lang="en-IN" dirty="0"/>
              <a:t>different kind of graphs and corresponding challenges are also quite different</a:t>
            </a:r>
            <a:r>
              <a:rPr lang="en-IN" dirty="0" smtClean="0"/>
              <a:t>.</a:t>
            </a:r>
          </a:p>
          <a:p>
            <a:pPr marL="457200" indent="-457200">
              <a:buFont typeface="+mj-lt"/>
              <a:buAutoNum type="arabicParenR"/>
            </a:pPr>
            <a:endParaRPr lang="en-IN" dirty="0"/>
          </a:p>
        </p:txBody>
      </p:sp>
      <p:sp>
        <p:nvSpPr>
          <p:cNvPr id="3" name="Content Placeholder 2"/>
          <p:cNvSpPr>
            <a:spLocks noGrp="1"/>
          </p:cNvSpPr>
          <p:nvPr>
            <p:ph sz="quarter" idx="10"/>
          </p:nvPr>
        </p:nvSpPr>
        <p:spPr>
          <a:xfrm>
            <a:off x="304800" y="152400"/>
            <a:ext cx="8229600" cy="1143000"/>
          </a:xfrm>
        </p:spPr>
        <p:txBody>
          <a:bodyPr/>
          <a:lstStyle/>
          <a:p>
            <a:r>
              <a:rPr lang="en-IN" dirty="0"/>
              <a:t>Real Time Scenarios with Graph Mining</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214920" y="3234240"/>
              <a:ext cx="8061840" cy="1863360"/>
            </p14:xfrm>
          </p:contentPart>
        </mc:Choice>
        <mc:Fallback>
          <p:pic>
            <p:nvPicPr>
              <p:cNvPr id="4" name="Ink 3"/>
              <p:cNvPicPr/>
              <p:nvPr/>
            </p:nvPicPr>
            <p:blipFill>
              <a:blip r:embed="rId3"/>
              <a:stretch>
                <a:fillRect/>
              </a:stretch>
            </p:blipFill>
            <p:spPr>
              <a:xfrm>
                <a:off x="204840" y="3223080"/>
                <a:ext cx="8080920" cy="1879200"/>
              </a:xfrm>
              <a:prstGeom prst="rect">
                <a:avLst/>
              </a:prstGeom>
            </p:spPr>
          </p:pic>
        </mc:Fallback>
      </mc:AlternateContent>
    </p:spTree>
    <p:extLst>
      <p:ext uri="{BB962C8B-B14F-4D97-AF65-F5344CB8AC3E}">
        <p14:creationId xmlns:p14="http://schemas.microsoft.com/office/powerpoint/2010/main" val="295951066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b="1" dirty="0"/>
              <a:t>Graph Management Algorithms:</a:t>
            </a:r>
            <a:r>
              <a:rPr lang="en-IN" sz="2000" dirty="0"/>
              <a:t> </a:t>
            </a:r>
            <a:endParaRPr lang="en-IN" sz="2000" dirty="0" smtClean="0"/>
          </a:p>
          <a:p>
            <a:pPr lvl="1">
              <a:buFont typeface="Wingdings" panose="05000000000000000000" pitchFamily="2" charset="2"/>
              <a:buChar char="v"/>
            </a:pPr>
            <a:r>
              <a:rPr lang="en-IN" sz="2000" dirty="0" smtClean="0"/>
              <a:t>Algorithms </a:t>
            </a:r>
            <a:r>
              <a:rPr lang="en-IN" sz="2000" dirty="0"/>
              <a:t>for managing and indexing large volumes of the graph data. </a:t>
            </a:r>
            <a:endParaRPr lang="en-IN" sz="2000" dirty="0" smtClean="0"/>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We </a:t>
            </a:r>
            <a:r>
              <a:rPr lang="en-IN" sz="2000" dirty="0">
                <a:latin typeface="Arial" panose="020B0604020202020204" pitchFamily="34" charset="0"/>
                <a:cs typeface="Arial" panose="020B0604020202020204" pitchFamily="34" charset="0"/>
              </a:rPr>
              <a:t>will </a:t>
            </a:r>
            <a:r>
              <a:rPr lang="en-IN" sz="2000" dirty="0" smtClean="0">
                <a:latin typeface="Arial" panose="020B0604020202020204" pitchFamily="34" charset="0"/>
                <a:cs typeface="Arial" panose="020B0604020202020204" pitchFamily="34" charset="0"/>
              </a:rPr>
              <a:t>study algorithms </a:t>
            </a:r>
            <a:r>
              <a:rPr lang="en-IN" sz="2000" dirty="0">
                <a:latin typeface="Arial" panose="020B0604020202020204" pitchFamily="34" charset="0"/>
                <a:cs typeface="Arial" panose="020B0604020202020204" pitchFamily="34" charset="0"/>
              </a:rPr>
              <a:t>for indexing of </a:t>
            </a:r>
            <a:r>
              <a:rPr lang="en-IN" sz="2000" dirty="0" smtClean="0">
                <a:latin typeface="Arial" panose="020B0604020202020204" pitchFamily="34" charset="0"/>
                <a:cs typeface="Arial" panose="020B0604020202020204" pitchFamily="34" charset="0"/>
              </a:rPr>
              <a:t>graphs and processing </a:t>
            </a:r>
            <a:r>
              <a:rPr lang="en-IN" sz="2000" dirty="0">
                <a:latin typeface="Arial" panose="020B0604020202020204" pitchFamily="34" charset="0"/>
                <a:cs typeface="Arial" panose="020B0604020202020204" pitchFamily="34" charset="0"/>
              </a:rPr>
              <a:t>of graph queries</a:t>
            </a:r>
            <a:r>
              <a:rPr lang="en-IN" sz="2000" dirty="0" smtClean="0">
                <a:latin typeface="Arial" panose="020B0604020202020204" pitchFamily="34" charset="0"/>
                <a:cs typeface="Arial" panose="020B0604020202020204" pitchFamily="34" charset="0"/>
              </a:rPr>
              <a:t>.</a:t>
            </a: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Algorithms for reachability queries</a:t>
            </a: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Algorithms </a:t>
            </a:r>
            <a:r>
              <a:rPr lang="en-IN" dirty="0">
                <a:latin typeface="Arial" panose="020B0604020202020204" pitchFamily="34" charset="0"/>
                <a:cs typeface="Arial" panose="020B0604020202020204" pitchFamily="34" charset="0"/>
              </a:rPr>
              <a:t>for matching graphs and their applications. </a:t>
            </a:r>
          </a:p>
          <a:p>
            <a:pPr>
              <a:buFont typeface="Wingdings" panose="05000000000000000000" pitchFamily="2" charset="2"/>
              <a:buChar char="v"/>
            </a:pPr>
            <a:r>
              <a:rPr lang="en-IN" sz="2000" b="1" dirty="0"/>
              <a:t>Graph Mining Algorithms: </a:t>
            </a:r>
            <a:endParaRPr lang="en-IN" sz="2000" b="1" dirty="0" smtClean="0"/>
          </a:p>
          <a:p>
            <a:pPr lvl="1">
              <a:buFont typeface="Wingdings" panose="05000000000000000000" pitchFamily="2" charset="2"/>
              <a:buChar char="v"/>
            </a:pPr>
            <a:r>
              <a:rPr lang="en-IN" sz="2000" dirty="0" smtClean="0"/>
              <a:t>Algorithms </a:t>
            </a:r>
            <a:r>
              <a:rPr lang="en-IN" sz="2000" dirty="0"/>
              <a:t>used to </a:t>
            </a:r>
            <a:r>
              <a:rPr lang="en-IN" sz="2000" dirty="0" smtClean="0"/>
              <a:t>extract_____ from Graphs.</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Patterns  </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Trends</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Classes </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Clusters</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Storage and access the large graphs on the disk</a:t>
            </a:r>
            <a:endParaRPr lang="en-IN" sz="2000"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a:xfrm>
            <a:off x="304800" y="152400"/>
            <a:ext cx="6629400" cy="1143000"/>
          </a:xfrm>
        </p:spPr>
        <p:txBody>
          <a:bodyPr/>
          <a:lstStyle/>
          <a:p>
            <a:r>
              <a:rPr lang="en-IN" dirty="0"/>
              <a:t>Overview of Graph mining </a:t>
            </a:r>
            <a:r>
              <a:rPr lang="en-IN" dirty="0" smtClean="0"/>
              <a:t>Algorithms</a:t>
            </a:r>
            <a:endParaRPr lang="en-IN" dirty="0"/>
          </a:p>
        </p:txBody>
      </p:sp>
    </p:spTree>
    <p:extLst>
      <p:ext uri="{BB962C8B-B14F-4D97-AF65-F5344CB8AC3E}">
        <p14:creationId xmlns:p14="http://schemas.microsoft.com/office/powerpoint/2010/main" val="55688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5105400"/>
          </a:xfrm>
        </p:spPr>
        <p:txBody>
          <a:bodyPr>
            <a:noAutofit/>
          </a:bodyPr>
          <a:lstStyle/>
          <a:p>
            <a:pPr>
              <a:buFont typeface="Wingdings" panose="05000000000000000000" pitchFamily="2" charset="2"/>
              <a:buChar char="v"/>
            </a:pPr>
            <a:r>
              <a:rPr lang="en-IN" sz="2000" b="1" dirty="0"/>
              <a:t>Graph Management Algorithms</a:t>
            </a:r>
            <a:r>
              <a:rPr lang="en-IN" sz="2000" b="1" dirty="0" smtClean="0"/>
              <a:t>:</a:t>
            </a:r>
          </a:p>
          <a:p>
            <a:pPr lvl="1">
              <a:buFont typeface="Wingdings" panose="05000000000000000000" pitchFamily="2" charset="2"/>
              <a:buChar char="v"/>
            </a:pPr>
            <a:r>
              <a:rPr lang="en-IN" sz="2000" dirty="0"/>
              <a:t>Data management of graphs </a:t>
            </a:r>
            <a:r>
              <a:rPr lang="en-IN" sz="2000" dirty="0" smtClean="0"/>
              <a:t>is much </a:t>
            </a:r>
            <a:r>
              <a:rPr lang="en-IN" sz="2000" dirty="0"/>
              <a:t>more challenging than </a:t>
            </a:r>
            <a:r>
              <a:rPr lang="en-IN" sz="2000" dirty="0" smtClean="0"/>
              <a:t>multi-dimensional </a:t>
            </a:r>
            <a:r>
              <a:rPr lang="en-IN" sz="2000" dirty="0"/>
              <a:t>data. </a:t>
            </a:r>
            <a:endParaRPr lang="en-IN" sz="2000" dirty="0" smtClean="0"/>
          </a:p>
          <a:p>
            <a:pPr lvl="1">
              <a:buFont typeface="Wingdings" panose="05000000000000000000" pitchFamily="2" charset="2"/>
              <a:buChar char="v"/>
            </a:pPr>
            <a:r>
              <a:rPr lang="en-IN" sz="2000" dirty="0" smtClean="0"/>
              <a:t>The </a:t>
            </a:r>
            <a:r>
              <a:rPr lang="en-IN" sz="2000" dirty="0"/>
              <a:t>structural representation of graphs has greater expressive power, but it comes at a </a:t>
            </a:r>
            <a:r>
              <a:rPr lang="en-IN" sz="2000" dirty="0" smtClean="0"/>
              <a:t>cost of: </a:t>
            </a: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C</a:t>
            </a:r>
            <a:r>
              <a:rPr lang="en-IN" sz="2000" dirty="0" smtClean="0">
                <a:latin typeface="Arial" panose="020B0604020202020204" pitchFamily="34" charset="0"/>
                <a:cs typeface="Arial" panose="020B0604020202020204" pitchFamily="34" charset="0"/>
              </a:rPr>
              <a:t>omplexity </a:t>
            </a:r>
            <a:r>
              <a:rPr lang="en-IN" sz="2000" dirty="0">
                <a:latin typeface="Arial" panose="020B0604020202020204" pitchFamily="34" charset="0"/>
                <a:cs typeface="Arial" panose="020B0604020202020204" pitchFamily="34" charset="0"/>
              </a:rPr>
              <a:t>of </a:t>
            </a:r>
            <a:r>
              <a:rPr lang="en-IN" sz="2000" dirty="0" smtClean="0">
                <a:latin typeface="Arial" panose="020B0604020202020204" pitchFamily="34" charset="0"/>
                <a:cs typeface="Arial" panose="020B0604020202020204" pitchFamily="34" charset="0"/>
              </a:rPr>
              <a:t>Data Representation</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Access </a:t>
            </a: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P</a:t>
            </a:r>
            <a:r>
              <a:rPr lang="en-IN" sz="2000" dirty="0" smtClean="0">
                <a:latin typeface="Arial" panose="020B0604020202020204" pitchFamily="34" charset="0"/>
                <a:cs typeface="Arial" panose="020B0604020202020204" pitchFamily="34" charset="0"/>
              </a:rPr>
              <a:t>rocessing</a:t>
            </a:r>
            <a:r>
              <a:rPr lang="en-IN" sz="2000" dirty="0">
                <a:latin typeface="Arial" panose="020B0604020202020204" pitchFamily="34" charset="0"/>
                <a:cs typeface="Arial" panose="020B0604020202020204" pitchFamily="34" charset="0"/>
              </a:rPr>
              <a:t>, </a:t>
            </a:r>
            <a:endParaRPr lang="en-IN" sz="2000" dirty="0" smtClean="0">
              <a:latin typeface="Arial" panose="020B0604020202020204" pitchFamily="34" charset="0"/>
              <a:cs typeface="Arial" panose="020B0604020202020204" pitchFamily="34" charset="0"/>
            </a:endParaRP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Because of intermediate </a:t>
            </a:r>
            <a:r>
              <a:rPr lang="en-IN" dirty="0">
                <a:latin typeface="Arial" panose="020B0604020202020204" pitchFamily="34" charset="0"/>
                <a:cs typeface="Arial" panose="020B0604020202020204" pitchFamily="34" charset="0"/>
              </a:rPr>
              <a:t>operations such as </a:t>
            </a:r>
            <a:endParaRPr lang="en-IN" dirty="0" smtClean="0">
              <a:latin typeface="Arial" panose="020B0604020202020204" pitchFamily="34" charset="0"/>
              <a:cs typeface="Arial" panose="020B0604020202020204" pitchFamily="34" charset="0"/>
            </a:endParaRPr>
          </a:p>
          <a:p>
            <a:pPr lvl="4">
              <a:buFont typeface="Wingdings" panose="05000000000000000000" pitchFamily="2" charset="2"/>
              <a:buChar char="v"/>
            </a:pPr>
            <a:r>
              <a:rPr lang="en-IN" dirty="0" smtClean="0">
                <a:latin typeface="Arial" panose="020B0604020202020204" pitchFamily="34" charset="0"/>
                <a:cs typeface="Arial" panose="020B0604020202020204" pitchFamily="34" charset="0"/>
              </a:rPr>
              <a:t>Similarity Computations</a:t>
            </a:r>
            <a:r>
              <a:rPr lang="en-IN" dirty="0">
                <a:latin typeface="Arial" panose="020B0604020202020204" pitchFamily="34" charset="0"/>
                <a:cs typeface="Arial" panose="020B0604020202020204" pitchFamily="34" charset="0"/>
              </a:rPr>
              <a:t>, </a:t>
            </a:r>
            <a:endParaRPr lang="en-IN" dirty="0" smtClean="0">
              <a:latin typeface="Arial" panose="020B0604020202020204" pitchFamily="34" charset="0"/>
              <a:cs typeface="Arial" panose="020B0604020202020204" pitchFamily="34" charset="0"/>
            </a:endParaRPr>
          </a:p>
          <a:p>
            <a:pPr lvl="4">
              <a:buFont typeface="Wingdings" panose="05000000000000000000" pitchFamily="2" charset="2"/>
              <a:buChar char="v"/>
            </a:pPr>
            <a:r>
              <a:rPr lang="en-IN" dirty="0" smtClean="0">
                <a:latin typeface="Arial" panose="020B0604020202020204" pitchFamily="34" charset="0"/>
                <a:cs typeface="Arial" panose="020B0604020202020204" pitchFamily="34" charset="0"/>
              </a:rPr>
              <a:t>Averaging </a:t>
            </a:r>
          </a:p>
          <a:p>
            <a:pPr lvl="4">
              <a:buFont typeface="Wingdings" panose="05000000000000000000" pitchFamily="2" charset="2"/>
              <a:buChar char="v"/>
            </a:pPr>
            <a:r>
              <a:rPr lang="en-IN" dirty="0">
                <a:latin typeface="Arial" panose="020B0604020202020204" pitchFamily="34" charset="0"/>
                <a:cs typeface="Arial" panose="020B0604020202020204" pitchFamily="34" charset="0"/>
              </a:rPr>
              <a:t>D</a:t>
            </a:r>
            <a:r>
              <a:rPr lang="en-IN" dirty="0" smtClean="0">
                <a:latin typeface="Arial" panose="020B0604020202020204" pitchFamily="34" charset="0"/>
                <a:cs typeface="Arial" panose="020B0604020202020204" pitchFamily="34" charset="0"/>
              </a:rPr>
              <a:t>istance Computations </a:t>
            </a: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These cannot </a:t>
            </a:r>
            <a:r>
              <a:rPr lang="en-IN" dirty="0">
                <a:latin typeface="Arial" panose="020B0604020202020204" pitchFamily="34" charset="0"/>
                <a:cs typeface="Arial" panose="020B0604020202020204" pitchFamily="34" charset="0"/>
              </a:rPr>
              <a:t>be naturally defined for structural data in as intuitive a way as is the case for multidimensional data. </a:t>
            </a:r>
            <a:endParaRPr lang="en-IN"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Tree>
    <p:extLst>
      <p:ext uri="{BB962C8B-B14F-4D97-AF65-F5344CB8AC3E}">
        <p14:creationId xmlns:p14="http://schemas.microsoft.com/office/powerpoint/2010/main" val="1825961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sz="2000" b="1" dirty="0"/>
              <a:t>Graph Management Algorithms</a:t>
            </a:r>
            <a:r>
              <a:rPr lang="en-IN" sz="2000" b="1" dirty="0" smtClean="0"/>
              <a:t>:</a:t>
            </a:r>
          </a:p>
          <a:p>
            <a:pPr>
              <a:buFont typeface="Wingdings" panose="05000000000000000000" pitchFamily="2" charset="2"/>
              <a:buChar char="v"/>
            </a:pPr>
            <a:r>
              <a:rPr lang="en-IN" sz="2000" b="1" dirty="0" smtClean="0"/>
              <a:t>Indexing &amp; Querying</a:t>
            </a:r>
          </a:p>
          <a:p>
            <a:pPr lvl="1">
              <a:buFont typeface="Wingdings" panose="05000000000000000000" pitchFamily="2" charset="2"/>
              <a:buChar char="v"/>
            </a:pPr>
            <a:r>
              <a:rPr lang="en-IN" sz="2000" dirty="0"/>
              <a:t> </a:t>
            </a:r>
            <a:r>
              <a:rPr lang="en-IN" sz="2000" dirty="0" smtClean="0"/>
              <a:t>The current traditional query languages (</a:t>
            </a:r>
            <a:r>
              <a:rPr lang="en-IN" sz="2000" dirty="0" err="1" smtClean="0"/>
              <a:t>eg</a:t>
            </a:r>
            <a:r>
              <a:rPr lang="en-IN" sz="2000" dirty="0" smtClean="0"/>
              <a:t>. SQL) lack the way to query Graphs and Trees. So some Graph Query Language (</a:t>
            </a:r>
            <a:r>
              <a:rPr lang="en-IN" sz="2000" b="1" dirty="0" smtClean="0"/>
              <a:t>Graph QL[3]</a:t>
            </a:r>
            <a:r>
              <a:rPr lang="en-IN" sz="2000" dirty="0" smtClean="0"/>
              <a:t>) have been proposed. </a:t>
            </a:r>
            <a:endParaRPr lang="en-IN" sz="2000" dirty="0"/>
          </a:p>
          <a:p>
            <a:pPr lvl="1">
              <a:buFont typeface="Wingdings" panose="05000000000000000000" pitchFamily="2" charset="2"/>
              <a:buChar char="v"/>
            </a:pPr>
            <a:r>
              <a:rPr lang="en-IN" sz="2000" dirty="0" smtClean="0"/>
              <a:t>For </a:t>
            </a:r>
            <a:r>
              <a:rPr lang="en-IN" sz="2000" dirty="0"/>
              <a:t>a query pattern (a tree or a graph), find graphs or trees in the database that contain or are similar to the query pattern. </a:t>
            </a:r>
            <a:endParaRPr lang="en-IN" sz="2000" dirty="0" smtClean="0"/>
          </a:p>
          <a:p>
            <a:pPr lvl="1">
              <a:buFont typeface="Wingdings" panose="05000000000000000000" pitchFamily="2" charset="2"/>
              <a:buChar char="v"/>
            </a:pPr>
            <a:r>
              <a:rPr lang="en-IN" sz="2000" dirty="0" smtClean="0"/>
              <a:t>To </a:t>
            </a:r>
            <a:r>
              <a:rPr lang="en-IN" sz="2000" dirty="0"/>
              <a:t>accomplish this task elegantly and efficiently, we need to address several important issues: </a:t>
            </a:r>
            <a:endParaRPr lang="en-IN" sz="2000" dirty="0" smtClean="0"/>
          </a:p>
          <a:p>
            <a:pPr marL="1428750" lvl="2" indent="-514350">
              <a:buFont typeface="+mj-lt"/>
              <a:buAutoNum type="romanLcPeriod"/>
            </a:pPr>
            <a:r>
              <a:rPr lang="en-IN" sz="2000" dirty="0" smtClean="0">
                <a:latin typeface="Arial" panose="020B0604020202020204" pitchFamily="34" charset="0"/>
                <a:cs typeface="Arial" panose="020B0604020202020204" pitchFamily="34" charset="0"/>
              </a:rPr>
              <a:t>How </a:t>
            </a:r>
            <a:r>
              <a:rPr lang="en-IN" sz="2000" dirty="0">
                <a:latin typeface="Arial" panose="020B0604020202020204" pitchFamily="34" charset="0"/>
                <a:cs typeface="Arial" panose="020B0604020202020204" pitchFamily="34" charset="0"/>
              </a:rPr>
              <a:t>to model the data and the query; </a:t>
            </a:r>
            <a:endParaRPr lang="en-IN" sz="2000" dirty="0" smtClean="0">
              <a:latin typeface="Arial" panose="020B0604020202020204" pitchFamily="34" charset="0"/>
              <a:cs typeface="Arial" panose="020B0604020202020204" pitchFamily="34" charset="0"/>
            </a:endParaRPr>
          </a:p>
          <a:p>
            <a:pPr marL="1428750" lvl="2" indent="-514350">
              <a:buFont typeface="+mj-lt"/>
              <a:buAutoNum type="romanLcPeriod"/>
            </a:pPr>
            <a:r>
              <a:rPr lang="en-IN" sz="2000" dirty="0" smtClean="0">
                <a:latin typeface="Arial" panose="020B0604020202020204" pitchFamily="34" charset="0"/>
                <a:cs typeface="Arial" panose="020B0604020202020204" pitchFamily="34" charset="0"/>
              </a:rPr>
              <a:t>How </a:t>
            </a:r>
            <a:r>
              <a:rPr lang="en-IN" sz="2000" dirty="0">
                <a:latin typeface="Arial" panose="020B0604020202020204" pitchFamily="34" charset="0"/>
                <a:cs typeface="Arial" panose="020B0604020202020204" pitchFamily="34" charset="0"/>
              </a:rPr>
              <a:t>to store the data; and </a:t>
            </a:r>
            <a:endParaRPr lang="en-IN" sz="2000" dirty="0" smtClean="0">
              <a:latin typeface="Arial" panose="020B0604020202020204" pitchFamily="34" charset="0"/>
              <a:cs typeface="Arial" panose="020B0604020202020204" pitchFamily="34" charset="0"/>
            </a:endParaRPr>
          </a:p>
          <a:p>
            <a:pPr marL="1428750" lvl="2" indent="-514350">
              <a:buFont typeface="+mj-lt"/>
              <a:buAutoNum type="romanLcPeriod"/>
            </a:pPr>
            <a:r>
              <a:rPr lang="en-IN" sz="2000" dirty="0" smtClean="0">
                <a:latin typeface="Arial" panose="020B0604020202020204" pitchFamily="34" charset="0"/>
                <a:cs typeface="Arial" panose="020B0604020202020204" pitchFamily="34" charset="0"/>
              </a:rPr>
              <a:t>How </a:t>
            </a:r>
            <a:r>
              <a:rPr lang="en-IN" sz="2000" dirty="0">
                <a:latin typeface="Arial" panose="020B0604020202020204" pitchFamily="34" charset="0"/>
                <a:cs typeface="Arial" panose="020B0604020202020204" pitchFamily="34" charset="0"/>
              </a:rPr>
              <a:t>to index the data for efficient query processing</a:t>
            </a:r>
            <a:r>
              <a:rPr lang="en-IN" sz="2000" dirty="0" smtClean="0">
                <a:latin typeface="Arial" panose="020B0604020202020204" pitchFamily="34" charset="0"/>
                <a:cs typeface="Arial" panose="020B0604020202020204" pitchFamily="34" charset="0"/>
              </a:rPr>
              <a:t>.</a:t>
            </a:r>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
        <p:nvSpPr>
          <p:cNvPr id="4" name="TextBox 3"/>
          <p:cNvSpPr txBox="1"/>
          <p:nvPr/>
        </p:nvSpPr>
        <p:spPr>
          <a:xfrm>
            <a:off x="381000" y="6477000"/>
            <a:ext cx="7086600" cy="307777"/>
          </a:xfrm>
          <a:prstGeom prst="rect">
            <a:avLst/>
          </a:prstGeom>
          <a:noFill/>
        </p:spPr>
        <p:txBody>
          <a:bodyPr wrap="square" rtlCol="0">
            <a:spAutoFit/>
          </a:bodyPr>
          <a:lstStyle/>
          <a:p>
            <a:r>
              <a:rPr lang="en-IN" sz="1400" i="1" dirty="0" smtClean="0"/>
              <a:t>[3] H</a:t>
            </a:r>
            <a:r>
              <a:rPr lang="en-IN" sz="1400" i="1" dirty="0"/>
              <a:t>. He, </a:t>
            </a:r>
            <a:r>
              <a:rPr lang="en-IN" sz="1400" i="1" dirty="0" smtClean="0"/>
              <a:t>“</a:t>
            </a:r>
            <a:r>
              <a:rPr lang="en-IN" sz="1400" b="1" i="1" dirty="0" smtClean="0"/>
              <a:t>Querying </a:t>
            </a:r>
            <a:r>
              <a:rPr lang="en-IN" sz="1400" b="1" i="1" dirty="0"/>
              <a:t>and mining graph </a:t>
            </a:r>
            <a:r>
              <a:rPr lang="en-IN" sz="1400" b="1" i="1" dirty="0" smtClean="0"/>
              <a:t>databases”</a:t>
            </a:r>
            <a:r>
              <a:rPr lang="en-IN" sz="1400" i="1" dirty="0" smtClean="0"/>
              <a:t>. </a:t>
            </a:r>
            <a:r>
              <a:rPr lang="en-IN" sz="1400" i="1" dirty="0"/>
              <a:t>Ph.D. Thesis, UCSB, 2007.</a:t>
            </a:r>
          </a:p>
        </p:txBody>
      </p:sp>
    </p:spTree>
    <p:extLst>
      <p:ext uri="{BB962C8B-B14F-4D97-AF65-F5344CB8AC3E}">
        <p14:creationId xmlns:p14="http://schemas.microsoft.com/office/powerpoint/2010/main" val="3290430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sz="2000" b="1" dirty="0"/>
              <a:t>Graph Management Algorithms</a:t>
            </a:r>
            <a:r>
              <a:rPr lang="en-IN" sz="2000" b="1" dirty="0" smtClean="0"/>
              <a:t>:</a:t>
            </a:r>
          </a:p>
          <a:p>
            <a:pPr>
              <a:buFont typeface="Wingdings" panose="05000000000000000000" pitchFamily="2" charset="2"/>
              <a:buChar char="v"/>
            </a:pPr>
            <a:r>
              <a:rPr lang="en-IN" sz="2000" b="1" dirty="0" smtClean="0"/>
              <a:t>Reachability</a:t>
            </a:r>
          </a:p>
          <a:p>
            <a:pPr lvl="1">
              <a:buFont typeface="Wingdings" panose="05000000000000000000" pitchFamily="2" charset="2"/>
              <a:buChar char="v"/>
            </a:pPr>
            <a:r>
              <a:rPr lang="en-IN" sz="2000" dirty="0"/>
              <a:t> </a:t>
            </a:r>
            <a:r>
              <a:rPr lang="en-IN" sz="2000" dirty="0" smtClean="0"/>
              <a:t>Whether </a:t>
            </a:r>
            <a:r>
              <a:rPr lang="en-IN" sz="2000" dirty="0"/>
              <a:t>there is a path from a node </a:t>
            </a:r>
            <a:r>
              <a:rPr lang="en-IN" sz="2000" b="1" i="1" dirty="0"/>
              <a:t>v</a:t>
            </a:r>
            <a:r>
              <a:rPr lang="en-IN" sz="2000" dirty="0"/>
              <a:t> to another node </a:t>
            </a:r>
            <a:r>
              <a:rPr lang="en-IN" sz="2000" b="1" i="1" dirty="0"/>
              <a:t>u</a:t>
            </a:r>
            <a:r>
              <a:rPr lang="en-IN" sz="2000" dirty="0"/>
              <a:t> in a large directed </a:t>
            </a:r>
            <a:r>
              <a:rPr lang="en-IN" sz="2000" dirty="0" smtClean="0"/>
              <a:t>graph and it is the basic operation for many queries.</a:t>
            </a:r>
            <a:endParaRPr lang="en-IN" sz="2000" dirty="0"/>
          </a:p>
          <a:p>
            <a:pPr marL="1428750" lvl="2" indent="-514350">
              <a:buFont typeface="+mj-lt"/>
              <a:buAutoNum type="romanLcPeriod"/>
            </a:pPr>
            <a:r>
              <a:rPr lang="en-IN" sz="2000" dirty="0" smtClean="0">
                <a:latin typeface="Arial" panose="020B0604020202020204" pitchFamily="34" charset="0"/>
                <a:cs typeface="Arial" panose="020B0604020202020204" pitchFamily="34" charset="0"/>
              </a:rPr>
              <a:t>we </a:t>
            </a:r>
            <a:r>
              <a:rPr lang="en-IN" sz="2000" dirty="0">
                <a:latin typeface="Arial" panose="020B0604020202020204" pitchFamily="34" charset="0"/>
                <a:cs typeface="Arial" panose="020B0604020202020204" pitchFamily="34" charset="0"/>
              </a:rPr>
              <a:t>traverse the graph starting from node </a:t>
            </a:r>
            <a:r>
              <a:rPr lang="en-IN" sz="2000" b="1" i="1" dirty="0">
                <a:latin typeface="Arial" panose="020B0604020202020204" pitchFamily="34" charset="0"/>
                <a:cs typeface="Arial" panose="020B0604020202020204" pitchFamily="34" charset="0"/>
              </a:rPr>
              <a:t>v</a:t>
            </a:r>
            <a:r>
              <a:rPr lang="en-IN" sz="2000" dirty="0">
                <a:latin typeface="Arial" panose="020B0604020202020204" pitchFamily="34" charset="0"/>
                <a:cs typeface="Arial" panose="020B0604020202020204" pitchFamily="34" charset="0"/>
              </a:rPr>
              <a:t> using </a:t>
            </a:r>
            <a:r>
              <a:rPr lang="en-IN" sz="2000" b="1" i="1" dirty="0" smtClean="0">
                <a:latin typeface="Arial" panose="020B0604020202020204" pitchFamily="34" charset="0"/>
                <a:cs typeface="Arial" panose="020B0604020202020204" pitchFamily="34" charset="0"/>
              </a:rPr>
              <a:t>BFS or DFS </a:t>
            </a:r>
            <a:r>
              <a:rPr lang="en-IN" sz="2000" dirty="0">
                <a:latin typeface="Arial" panose="020B0604020202020204" pitchFamily="34" charset="0"/>
                <a:cs typeface="Arial" panose="020B0604020202020204" pitchFamily="34" charset="0"/>
              </a:rPr>
              <a:t>to </a:t>
            </a:r>
            <a:r>
              <a:rPr lang="en-IN" sz="2000" dirty="0" smtClean="0">
                <a:latin typeface="Arial" panose="020B0604020202020204" pitchFamily="34" charset="0"/>
                <a:cs typeface="Arial" panose="020B0604020202020204" pitchFamily="34" charset="0"/>
              </a:rPr>
              <a:t>check we </a:t>
            </a:r>
            <a:r>
              <a:rPr lang="en-IN" sz="2000" dirty="0">
                <a:latin typeface="Arial" panose="020B0604020202020204" pitchFamily="34" charset="0"/>
                <a:cs typeface="Arial" panose="020B0604020202020204" pitchFamily="34" charset="0"/>
              </a:rPr>
              <a:t>can ever reach node </a:t>
            </a:r>
            <a:r>
              <a:rPr lang="en-IN" sz="2000" b="1" i="1" dirty="0" smtClean="0">
                <a:latin typeface="Arial" panose="020B0604020202020204" pitchFamily="34" charset="0"/>
                <a:cs typeface="Arial" panose="020B0604020202020204" pitchFamily="34" charset="0"/>
              </a:rPr>
              <a:t>u</a:t>
            </a:r>
            <a:r>
              <a:rPr lang="en-IN" sz="2000" dirty="0" smtClean="0">
                <a:latin typeface="Arial" panose="020B0604020202020204" pitchFamily="34" charset="0"/>
                <a:cs typeface="Arial" panose="020B0604020202020204" pitchFamily="34" charset="0"/>
              </a:rPr>
              <a:t>. O(n </a:t>
            </a:r>
            <a:r>
              <a:rPr lang="en-IN" sz="2000" dirty="0">
                <a:latin typeface="Arial" panose="020B0604020202020204" pitchFamily="34" charset="0"/>
                <a:cs typeface="Arial" panose="020B0604020202020204" pitchFamily="34" charset="0"/>
              </a:rPr>
              <a:t>+m</a:t>
            </a:r>
            <a:r>
              <a:rPr lang="en-IN" sz="2000" dirty="0" smtClean="0">
                <a:latin typeface="Arial" panose="020B0604020202020204" pitchFamily="34" charset="0"/>
                <a:cs typeface="Arial" panose="020B0604020202020204" pitchFamily="34" charset="0"/>
              </a:rPr>
              <a:t>), OR </a:t>
            </a:r>
          </a:p>
          <a:p>
            <a:pPr marL="1428750" lvl="2" indent="-514350">
              <a:buFont typeface="+mj-lt"/>
              <a:buAutoNum type="romanLcPeriod"/>
            </a:pPr>
            <a:r>
              <a:rPr lang="en-IN" sz="2000" dirty="0" smtClean="0">
                <a:latin typeface="Arial" panose="020B0604020202020204" pitchFamily="34" charset="0"/>
                <a:cs typeface="Arial" panose="020B0604020202020204" pitchFamily="34" charset="0"/>
              </a:rPr>
              <a:t>We </a:t>
            </a:r>
            <a:r>
              <a:rPr lang="en-IN" sz="2000" dirty="0">
                <a:latin typeface="Arial" panose="020B0604020202020204" pitchFamily="34" charset="0"/>
                <a:cs typeface="Arial" panose="020B0604020202020204" pitchFamily="34" charset="0"/>
              </a:rPr>
              <a:t>compute and store the </a:t>
            </a:r>
            <a:r>
              <a:rPr lang="en-IN" sz="2000" b="1" dirty="0">
                <a:latin typeface="Arial" panose="020B0604020202020204" pitchFamily="34" charset="0"/>
                <a:cs typeface="Arial" panose="020B0604020202020204" pitchFamily="34" charset="0"/>
              </a:rPr>
              <a:t>edge transitive closure </a:t>
            </a:r>
            <a:r>
              <a:rPr lang="en-IN" sz="2000" dirty="0">
                <a:latin typeface="Arial" panose="020B0604020202020204" pitchFamily="34" charset="0"/>
                <a:cs typeface="Arial" panose="020B0604020202020204" pitchFamily="34" charset="0"/>
              </a:rPr>
              <a:t>of the graph. </a:t>
            </a:r>
            <a:r>
              <a:rPr lang="en-IN" sz="2000" dirty="0" smtClean="0">
                <a:latin typeface="Arial" panose="020B0604020202020204" pitchFamily="34" charset="0"/>
                <a:cs typeface="Arial" panose="020B0604020202020204" pitchFamily="34" charset="0"/>
              </a:rPr>
              <a:t>which </a:t>
            </a:r>
            <a:r>
              <a:rPr lang="en-IN" sz="2000" dirty="0">
                <a:latin typeface="Arial" panose="020B0604020202020204" pitchFamily="34" charset="0"/>
                <a:cs typeface="Arial" panose="020B0604020202020204" pitchFamily="34" charset="0"/>
              </a:rPr>
              <a:t>requires </a:t>
            </a:r>
            <a:r>
              <a:rPr lang="en-IN" sz="2000" b="1" dirty="0">
                <a:latin typeface="Arial" panose="020B0604020202020204" pitchFamily="34" charset="0"/>
                <a:cs typeface="Arial" panose="020B0604020202020204" pitchFamily="34" charset="0"/>
              </a:rPr>
              <a:t>O(n</a:t>
            </a:r>
            <a:r>
              <a:rPr lang="en-IN" sz="2000" b="1" baseline="30000" dirty="0">
                <a:latin typeface="Arial" panose="020B0604020202020204" pitchFamily="34" charset="0"/>
                <a:cs typeface="Arial" panose="020B0604020202020204" pitchFamily="34" charset="0"/>
              </a:rPr>
              <a:t>2</a:t>
            </a:r>
            <a:r>
              <a:rPr lang="en-IN" sz="2000" b="1" dirty="0">
                <a:latin typeface="Arial" panose="020B0604020202020204" pitchFamily="34" charset="0"/>
                <a:cs typeface="Arial" panose="020B0604020202020204" pitchFamily="34" charset="0"/>
              </a:rPr>
              <a:t>)</a:t>
            </a:r>
            <a:r>
              <a:rPr lang="en-IN" sz="2000" dirty="0">
                <a:latin typeface="Arial" panose="020B0604020202020204" pitchFamily="34" charset="0"/>
                <a:cs typeface="Arial" panose="020B0604020202020204" pitchFamily="34" charset="0"/>
              </a:rPr>
              <a:t> storage, a reachability query can be answered in </a:t>
            </a:r>
            <a:r>
              <a:rPr lang="en-IN" sz="2000" b="1" dirty="0">
                <a:latin typeface="Arial" panose="020B0604020202020204" pitchFamily="34" charset="0"/>
                <a:cs typeface="Arial" panose="020B0604020202020204" pitchFamily="34" charset="0"/>
              </a:rPr>
              <a:t>O(1)</a:t>
            </a:r>
            <a:r>
              <a:rPr lang="en-IN" sz="2000" dirty="0">
                <a:latin typeface="Arial" panose="020B0604020202020204" pitchFamily="34" charset="0"/>
                <a:cs typeface="Arial" panose="020B0604020202020204" pitchFamily="34" charset="0"/>
              </a:rPr>
              <a:t> time by simply checking whether (u, v) is in the transitive closure. </a:t>
            </a:r>
            <a:endParaRPr lang="en-IN" sz="2000" dirty="0" smtClean="0">
              <a:latin typeface="Arial" panose="020B0604020202020204" pitchFamily="34" charset="0"/>
              <a:cs typeface="Arial" panose="020B0604020202020204" pitchFamily="34" charset="0"/>
            </a:endParaRPr>
          </a:p>
          <a:p>
            <a:pPr marL="1028700" lvl="1" indent="-514350">
              <a:buFont typeface="Wingdings" panose="05000000000000000000" pitchFamily="2" charset="2"/>
              <a:buChar char="v"/>
            </a:pPr>
            <a:r>
              <a:rPr lang="en-IN" sz="2000" dirty="0" smtClean="0"/>
              <a:t>However</a:t>
            </a:r>
            <a:r>
              <a:rPr lang="en-IN" sz="2000" dirty="0"/>
              <a:t>, for large graphs, </a:t>
            </a:r>
            <a:r>
              <a:rPr lang="en-IN" sz="2000" b="1" dirty="0"/>
              <a:t>neither of the two methods is feasible</a:t>
            </a:r>
            <a:r>
              <a:rPr lang="en-IN" sz="2000" dirty="0"/>
              <a:t>: </a:t>
            </a:r>
            <a:endParaRPr lang="en-IN" sz="2000" dirty="0" smtClean="0"/>
          </a:p>
          <a:p>
            <a:pPr marL="1428750" lvl="2" indent="-514350">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first method is too expensive at query time, and </a:t>
            </a:r>
            <a:endParaRPr lang="en-IN" sz="2000" dirty="0" smtClean="0">
              <a:latin typeface="Arial" panose="020B0604020202020204" pitchFamily="34" charset="0"/>
              <a:cs typeface="Arial" panose="020B0604020202020204" pitchFamily="34" charset="0"/>
            </a:endParaRPr>
          </a:p>
          <a:p>
            <a:pPr marL="1428750" lvl="2" indent="-514350">
              <a:buFont typeface="Wingdings" panose="05000000000000000000" pitchFamily="2" charset="2"/>
              <a:buChar char="v"/>
            </a:pPr>
            <a:r>
              <a:rPr lang="en-IN" sz="2000" dirty="0">
                <a:latin typeface="Arial" panose="020B0604020202020204" pitchFamily="34" charset="0"/>
                <a:cs typeface="Arial" panose="020B0604020202020204" pitchFamily="34" charset="0"/>
              </a:rPr>
              <a:t>T</a:t>
            </a:r>
            <a:r>
              <a:rPr lang="en-IN" sz="2000" dirty="0" smtClean="0">
                <a:latin typeface="Arial" panose="020B0604020202020204" pitchFamily="34" charset="0"/>
                <a:cs typeface="Arial" panose="020B0604020202020204" pitchFamily="34" charset="0"/>
              </a:rPr>
              <a:t>he </a:t>
            </a:r>
            <a:r>
              <a:rPr lang="en-IN" sz="2000" dirty="0">
                <a:latin typeface="Arial" panose="020B0604020202020204" pitchFamily="34" charset="0"/>
                <a:cs typeface="Arial" panose="020B0604020202020204" pitchFamily="34" charset="0"/>
              </a:rPr>
              <a:t>second takes too much space.</a:t>
            </a:r>
            <a:endParaRPr lang="en-IN" sz="20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Tree>
    <p:extLst>
      <p:ext uri="{BB962C8B-B14F-4D97-AF65-F5344CB8AC3E}">
        <p14:creationId xmlns:p14="http://schemas.microsoft.com/office/powerpoint/2010/main" val="425788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sz="2000" b="1" dirty="0"/>
              <a:t>Graph Management Algorithms</a:t>
            </a:r>
            <a:r>
              <a:rPr lang="en-IN" sz="2000" b="1" dirty="0" smtClean="0"/>
              <a:t>:</a:t>
            </a:r>
          </a:p>
          <a:p>
            <a:pPr>
              <a:buFont typeface="Wingdings" panose="05000000000000000000" pitchFamily="2" charset="2"/>
              <a:buChar char="v"/>
            </a:pPr>
            <a:r>
              <a:rPr lang="en-IN" sz="2000" b="1" dirty="0" smtClean="0"/>
              <a:t>Reachability</a:t>
            </a:r>
          </a:p>
          <a:p>
            <a:pPr lvl="1">
              <a:buFont typeface="Wingdings" panose="05000000000000000000" pitchFamily="2" charset="2"/>
              <a:buChar char="v"/>
            </a:pPr>
            <a:r>
              <a:rPr lang="en-IN" sz="2000" dirty="0"/>
              <a:t> </a:t>
            </a:r>
            <a:r>
              <a:rPr lang="en-IN" sz="2000" b="1" dirty="0"/>
              <a:t>Spanning tree based </a:t>
            </a:r>
            <a:r>
              <a:rPr lang="en-IN" sz="2000" b="1" dirty="0" smtClean="0"/>
              <a:t>approaches</a:t>
            </a:r>
          </a:p>
          <a:p>
            <a:pPr lvl="1">
              <a:buFont typeface="Wingdings" panose="05000000000000000000" pitchFamily="2" charset="2"/>
              <a:buChar char="v"/>
            </a:pPr>
            <a:r>
              <a:rPr lang="en-IN" sz="2000" dirty="0" smtClean="0"/>
              <a:t>The complete graph is divided into two set of edges, spanning tree edge and non tree edges and each edge is assigned a </a:t>
            </a:r>
            <a:r>
              <a:rPr lang="en-IN" sz="2000" dirty="0" err="1" smtClean="0"/>
              <a:t>interval_code</a:t>
            </a:r>
            <a:r>
              <a:rPr lang="en-IN" sz="2000" dirty="0" smtClean="0"/>
              <a:t>/timestamp/counter.</a:t>
            </a:r>
          </a:p>
          <a:p>
            <a:pPr lvl="1">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Easy to check for reachability between two tree edges.</a:t>
            </a:r>
          </a:p>
          <a:p>
            <a:pPr lvl="1">
              <a:buFont typeface="Wingdings" panose="05000000000000000000" pitchFamily="2" charset="2"/>
              <a:buChar char="v"/>
            </a:pPr>
            <a:r>
              <a:rPr lang="en-IN" sz="2000" dirty="0" smtClean="0"/>
              <a:t>For non </a:t>
            </a:r>
            <a:r>
              <a:rPr lang="en-IN" sz="2000" dirty="0"/>
              <a:t>tree edges, we need to check if there is a path that involves non-tree edges connecting the two nodes. </a:t>
            </a:r>
            <a:r>
              <a:rPr lang="en-IN" sz="2000" dirty="0" smtClean="0"/>
              <a:t>By building a index </a:t>
            </a:r>
            <a:r>
              <a:rPr lang="en-IN" sz="2000" dirty="0"/>
              <a:t>structures in addition to the </a:t>
            </a:r>
            <a:r>
              <a:rPr lang="en-IN" sz="2000" dirty="0" err="1" smtClean="0"/>
              <a:t>interval_code</a:t>
            </a:r>
            <a:r>
              <a:rPr lang="en-IN" sz="2000" dirty="0" smtClean="0"/>
              <a:t>/timestamp/counter</a:t>
            </a:r>
            <a:r>
              <a:rPr lang="en-IN" sz="2000" dirty="0"/>
              <a:t>. </a:t>
            </a:r>
            <a:r>
              <a:rPr lang="en-IN" sz="2000" dirty="0" smtClean="0"/>
              <a:t>to </a:t>
            </a:r>
            <a:r>
              <a:rPr lang="en-IN" sz="2000" dirty="0"/>
              <a:t>speed up the reachability check. </a:t>
            </a:r>
            <a:endParaRPr lang="en-IN" sz="20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Tree>
    <p:extLst>
      <p:ext uri="{BB962C8B-B14F-4D97-AF65-F5344CB8AC3E}">
        <p14:creationId xmlns:p14="http://schemas.microsoft.com/office/powerpoint/2010/main" val="46904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lvl="1" indent="-342900">
              <a:buClr>
                <a:srgbClr val="101141"/>
              </a:buClr>
              <a:buNone/>
            </a:pPr>
            <a:r>
              <a:rPr lang="en-IN" sz="2000" dirty="0"/>
              <a:t> </a:t>
            </a:r>
            <a:r>
              <a:rPr lang="en-IN" sz="2000" b="1" dirty="0"/>
              <a:t>Spanning tree based approaches</a:t>
            </a:r>
          </a:p>
          <a:p>
            <a:endParaRPr lang="en-IN" dirty="0"/>
          </a:p>
        </p:txBody>
      </p:sp>
      <p:sp>
        <p:nvSpPr>
          <p:cNvPr id="3" name="Content Placeholder 2"/>
          <p:cNvSpPr>
            <a:spLocks noGrp="1"/>
          </p:cNvSpPr>
          <p:nvPr>
            <p:ph sz="quarter" idx="10"/>
          </p:nvPr>
        </p:nvSpPr>
        <p:spPr/>
        <p:txBody>
          <a:bodyPr/>
          <a:lstStyle/>
          <a:p>
            <a:r>
              <a:rPr lang="en-US" dirty="0" smtClean="0"/>
              <a:t>Example</a:t>
            </a:r>
            <a:endParaRPr lang="en-IN" dirty="0"/>
          </a:p>
        </p:txBody>
      </p:sp>
      <p:grpSp>
        <p:nvGrpSpPr>
          <p:cNvPr id="36" name="Group 35"/>
          <p:cNvGrpSpPr/>
          <p:nvPr/>
        </p:nvGrpSpPr>
        <p:grpSpPr>
          <a:xfrm>
            <a:off x="3886200" y="1828800"/>
            <a:ext cx="5088730" cy="4429127"/>
            <a:chOff x="0" y="0"/>
            <a:chExt cx="3300412" cy="2333626"/>
          </a:xfrm>
        </p:grpSpPr>
        <p:grpSp>
          <p:nvGrpSpPr>
            <p:cNvPr id="37" name="Group 36"/>
            <p:cNvGrpSpPr/>
            <p:nvPr/>
          </p:nvGrpSpPr>
          <p:grpSpPr>
            <a:xfrm>
              <a:off x="0" y="0"/>
              <a:ext cx="3300412" cy="2333626"/>
              <a:chOff x="0" y="0"/>
              <a:chExt cx="3295649" cy="2333626"/>
            </a:xfrm>
          </p:grpSpPr>
          <p:grpSp>
            <p:nvGrpSpPr>
              <p:cNvPr id="39" name="Group 38"/>
              <p:cNvGrpSpPr/>
              <p:nvPr/>
            </p:nvGrpSpPr>
            <p:grpSpPr>
              <a:xfrm>
                <a:off x="0" y="0"/>
                <a:ext cx="3295649" cy="2333626"/>
                <a:chOff x="0" y="0"/>
                <a:chExt cx="8001000" cy="4894418"/>
              </a:xfrm>
            </p:grpSpPr>
            <p:grpSp>
              <p:nvGrpSpPr>
                <p:cNvPr id="41" name="Group 40"/>
                <p:cNvGrpSpPr/>
                <p:nvPr/>
              </p:nvGrpSpPr>
              <p:grpSpPr>
                <a:xfrm>
                  <a:off x="0" y="0"/>
                  <a:ext cx="8001000" cy="4894418"/>
                  <a:chOff x="0" y="0"/>
                  <a:chExt cx="8001000" cy="4894418"/>
                </a:xfrm>
              </p:grpSpPr>
              <p:sp>
                <p:nvSpPr>
                  <p:cNvPr id="56" name="Oval 55"/>
                  <p:cNvSpPr/>
                  <p:nvPr/>
                </p:nvSpPr>
                <p:spPr>
                  <a:xfrm>
                    <a:off x="152400" y="350993"/>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A</a:t>
                    </a:r>
                  </a:p>
                </p:txBody>
              </p:sp>
              <p:sp>
                <p:nvSpPr>
                  <p:cNvPr id="57" name="Oval 56"/>
                  <p:cNvSpPr/>
                  <p:nvPr/>
                </p:nvSpPr>
                <p:spPr>
                  <a:xfrm>
                    <a:off x="1524000" y="5143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B</a:t>
                    </a:r>
                  </a:p>
                </p:txBody>
              </p:sp>
              <p:sp>
                <p:nvSpPr>
                  <p:cNvPr id="58" name="Oval 57"/>
                  <p:cNvSpPr/>
                  <p:nvPr/>
                </p:nvSpPr>
                <p:spPr>
                  <a:xfrm>
                    <a:off x="1523322" y="2680271"/>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C</a:t>
                    </a:r>
                  </a:p>
                </p:txBody>
              </p:sp>
              <p:sp>
                <p:nvSpPr>
                  <p:cNvPr id="59" name="Oval 58"/>
                  <p:cNvSpPr/>
                  <p:nvPr/>
                </p:nvSpPr>
                <p:spPr>
                  <a:xfrm>
                    <a:off x="3962400" y="29146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F</a:t>
                    </a:r>
                  </a:p>
                </p:txBody>
              </p:sp>
              <p:sp>
                <p:nvSpPr>
                  <p:cNvPr id="60" name="Oval 59"/>
                  <p:cNvSpPr/>
                  <p:nvPr/>
                </p:nvSpPr>
                <p:spPr>
                  <a:xfrm>
                    <a:off x="0" y="38671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D</a:t>
                    </a:r>
                  </a:p>
                </p:txBody>
              </p:sp>
              <p:sp>
                <p:nvSpPr>
                  <p:cNvPr id="61" name="Oval 60"/>
                  <p:cNvSpPr/>
                  <p:nvPr/>
                </p:nvSpPr>
                <p:spPr>
                  <a:xfrm>
                    <a:off x="5334000" y="1454461"/>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H</a:t>
                    </a:r>
                  </a:p>
                </p:txBody>
              </p:sp>
              <p:sp>
                <p:nvSpPr>
                  <p:cNvPr id="62" name="Oval 61"/>
                  <p:cNvSpPr/>
                  <p:nvPr/>
                </p:nvSpPr>
                <p:spPr>
                  <a:xfrm>
                    <a:off x="4724400" y="4208618"/>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E</a:t>
                    </a:r>
                  </a:p>
                </p:txBody>
              </p:sp>
              <p:sp>
                <p:nvSpPr>
                  <p:cNvPr id="63" name="Oval 62"/>
                  <p:cNvSpPr/>
                  <p:nvPr/>
                </p:nvSpPr>
                <p:spPr>
                  <a:xfrm>
                    <a:off x="3810000" y="2476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G</a:t>
                    </a:r>
                  </a:p>
                </p:txBody>
              </p:sp>
              <p:sp>
                <p:nvSpPr>
                  <p:cNvPr id="64" name="Oval 63"/>
                  <p:cNvSpPr/>
                  <p:nvPr/>
                </p:nvSpPr>
                <p:spPr>
                  <a:xfrm>
                    <a:off x="7239000" y="297924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J</a:t>
                    </a:r>
                  </a:p>
                </p:txBody>
              </p:sp>
              <p:sp>
                <p:nvSpPr>
                  <p:cNvPr id="65" name="Oval 64"/>
                  <p:cNvSpPr/>
                  <p:nvPr/>
                </p:nvSpPr>
                <p:spPr>
                  <a:xfrm>
                    <a:off x="7086600" y="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I</a:t>
                    </a:r>
                  </a:p>
                </p:txBody>
              </p:sp>
            </p:grpSp>
            <p:grpSp>
              <p:nvGrpSpPr>
                <p:cNvPr id="42" name="Group 41"/>
                <p:cNvGrpSpPr/>
                <p:nvPr/>
              </p:nvGrpSpPr>
              <p:grpSpPr>
                <a:xfrm>
                  <a:off x="381001" y="100433"/>
                  <a:ext cx="7239000" cy="4451085"/>
                  <a:chOff x="381001" y="100433"/>
                  <a:chExt cx="7239000" cy="4451085"/>
                </a:xfrm>
              </p:grpSpPr>
              <p:cxnSp>
                <p:nvCxnSpPr>
                  <p:cNvPr id="43" name="Straight Arrow Connector 42"/>
                  <p:cNvCxnSpPr>
                    <a:stCxn id="56" idx="6"/>
                  </p:cNvCxnSpPr>
                  <p:nvPr/>
                </p:nvCxnSpPr>
                <p:spPr>
                  <a:xfrm>
                    <a:off x="914401" y="693892"/>
                    <a:ext cx="609599" cy="114300"/>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44" name="Straight Arrow Connector 43"/>
                  <p:cNvCxnSpPr>
                    <a:stCxn id="58" idx="6"/>
                    <a:endCxn id="59" idx="2"/>
                  </p:cNvCxnSpPr>
                  <p:nvPr/>
                </p:nvCxnSpPr>
                <p:spPr>
                  <a:xfrm>
                    <a:off x="2285323" y="3023171"/>
                    <a:ext cx="1677078" cy="234425"/>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45" name="Straight Arrow Connector 44"/>
                  <p:cNvCxnSpPr>
                    <a:endCxn id="58" idx="1"/>
                  </p:cNvCxnSpPr>
                  <p:nvPr/>
                </p:nvCxnSpPr>
                <p:spPr>
                  <a:xfrm>
                    <a:off x="693947" y="977421"/>
                    <a:ext cx="940968" cy="1803283"/>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46" name="Straight Arrow Connector 45"/>
                  <p:cNvCxnSpPr>
                    <a:endCxn id="60" idx="0"/>
                  </p:cNvCxnSpPr>
                  <p:nvPr/>
                </p:nvCxnSpPr>
                <p:spPr>
                  <a:xfrm flipH="1">
                    <a:off x="381001" y="1036793"/>
                    <a:ext cx="151046" cy="283040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47" name="Straight Arrow Connector 46"/>
                  <p:cNvCxnSpPr>
                    <a:endCxn id="58" idx="0"/>
                  </p:cNvCxnSpPr>
                  <p:nvPr/>
                </p:nvCxnSpPr>
                <p:spPr>
                  <a:xfrm>
                    <a:off x="1796815" y="1216336"/>
                    <a:ext cx="107508" cy="1463935"/>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48" name="Straight Arrow Connector 47"/>
                  <p:cNvCxnSpPr>
                    <a:stCxn id="62" idx="2"/>
                  </p:cNvCxnSpPr>
                  <p:nvPr/>
                </p:nvCxnSpPr>
                <p:spPr>
                  <a:xfrm flipH="1" flipV="1">
                    <a:off x="753708" y="4357410"/>
                    <a:ext cx="3970693" cy="194108"/>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49" name="Straight Arrow Connector 48"/>
                  <p:cNvCxnSpPr>
                    <a:stCxn id="63" idx="4"/>
                  </p:cNvCxnSpPr>
                  <p:nvPr/>
                </p:nvCxnSpPr>
                <p:spPr>
                  <a:xfrm>
                    <a:off x="4191001" y="933496"/>
                    <a:ext cx="107506" cy="19849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50" name="Straight Arrow Connector 49"/>
                  <p:cNvCxnSpPr>
                    <a:endCxn id="64" idx="0"/>
                  </p:cNvCxnSpPr>
                  <p:nvPr/>
                </p:nvCxnSpPr>
                <p:spPr>
                  <a:xfrm>
                    <a:off x="7473739" y="675684"/>
                    <a:ext cx="146262" cy="230356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51" name="Straight Arrow Connector 50"/>
                  <p:cNvCxnSpPr>
                    <a:endCxn id="61" idx="1"/>
                  </p:cNvCxnSpPr>
                  <p:nvPr/>
                </p:nvCxnSpPr>
                <p:spPr>
                  <a:xfrm>
                    <a:off x="4505325" y="723947"/>
                    <a:ext cx="940268" cy="830948"/>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52" name="Straight Arrow Connector 51"/>
                  <p:cNvCxnSpPr>
                    <a:endCxn id="65" idx="2"/>
                  </p:cNvCxnSpPr>
                  <p:nvPr/>
                </p:nvCxnSpPr>
                <p:spPr>
                  <a:xfrm flipV="1">
                    <a:off x="4546133" y="342900"/>
                    <a:ext cx="2540468" cy="211022"/>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53" name="Straight Arrow Connector 52"/>
                  <p:cNvCxnSpPr>
                    <a:endCxn id="61" idx="7"/>
                  </p:cNvCxnSpPr>
                  <p:nvPr/>
                </p:nvCxnSpPr>
                <p:spPr>
                  <a:xfrm flipH="1">
                    <a:off x="5984409" y="544120"/>
                    <a:ext cx="1165458" cy="1010774"/>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54" name="Straight Arrow Connector 53"/>
                  <p:cNvCxnSpPr>
                    <a:stCxn id="60" idx="6"/>
                  </p:cNvCxnSpPr>
                  <p:nvPr/>
                </p:nvCxnSpPr>
                <p:spPr>
                  <a:xfrm flipV="1">
                    <a:off x="762001" y="3500948"/>
                    <a:ext cx="6550547" cy="709147"/>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55" name="Curved Connector 54"/>
                  <p:cNvCxnSpPr>
                    <a:stCxn id="57" idx="7"/>
                    <a:endCxn id="65" idx="1"/>
                  </p:cNvCxnSpPr>
                  <p:nvPr/>
                </p:nvCxnSpPr>
                <p:spPr>
                  <a:xfrm rot="5400000" flipH="1" flipV="1">
                    <a:off x="4429103" y="-2154261"/>
                    <a:ext cx="514395" cy="5023784"/>
                  </a:xfrm>
                  <a:prstGeom prst="curvedConnector3">
                    <a:avLst>
                      <a:gd name="adj1" fmla="val 171365"/>
                    </a:avLst>
                  </a:prstGeom>
                  <a:ln>
                    <a:tailEnd type="none"/>
                  </a:ln>
                </p:spPr>
                <p:style>
                  <a:lnRef idx="3">
                    <a:schemeClr val="dk1"/>
                  </a:lnRef>
                  <a:fillRef idx="0">
                    <a:schemeClr val="dk1"/>
                  </a:fillRef>
                  <a:effectRef idx="2">
                    <a:schemeClr val="dk1"/>
                  </a:effectRef>
                  <a:fontRef idx="minor">
                    <a:schemeClr val="tx1"/>
                  </a:fontRef>
                </p:style>
              </p:cxnSp>
            </p:grpSp>
          </p:grpSp>
          <p:cxnSp>
            <p:nvCxnSpPr>
              <p:cNvPr id="40" name="Straight Arrow Connector 39"/>
              <p:cNvCxnSpPr>
                <a:stCxn id="61" idx="3"/>
                <a:endCxn id="59" idx="7"/>
              </p:cNvCxnSpPr>
              <p:nvPr/>
            </p:nvCxnSpPr>
            <p:spPr>
              <a:xfrm flipH="1">
                <a:off x="1900037" y="972576"/>
                <a:ext cx="343028" cy="465017"/>
              </a:xfrm>
              <a:prstGeom prst="straightConnector1">
                <a:avLst/>
              </a:prstGeom>
              <a:ln>
                <a:solidFill>
                  <a:schemeClr val="tx1"/>
                </a:solidFill>
                <a:tailEnd type="none"/>
              </a:ln>
            </p:spPr>
            <p:style>
              <a:lnRef idx="3">
                <a:schemeClr val="dk1"/>
              </a:lnRef>
              <a:fillRef idx="0">
                <a:schemeClr val="dk1"/>
              </a:fillRef>
              <a:effectRef idx="2">
                <a:schemeClr val="dk1"/>
              </a:effectRef>
              <a:fontRef idx="minor">
                <a:schemeClr val="tx1"/>
              </a:fontRef>
            </p:style>
          </p:cxnSp>
        </p:grpSp>
        <p:cxnSp>
          <p:nvCxnSpPr>
            <p:cNvPr id="38" name="Straight Arrow Connector 37"/>
            <p:cNvCxnSpPr>
              <a:endCxn id="62" idx="6"/>
            </p:cNvCxnSpPr>
            <p:nvPr/>
          </p:nvCxnSpPr>
          <p:spPr>
            <a:xfrm flipH="1">
              <a:off x="2263140" y="1714500"/>
              <a:ext cx="783103" cy="455633"/>
            </a:xfrm>
            <a:prstGeom prst="straightConnector1">
              <a:avLst/>
            </a:prstGeom>
            <a:ln>
              <a:solidFill>
                <a:schemeClr val="tx1"/>
              </a:solidFill>
              <a:tailEnd type="non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300623370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sz="2000" b="1" dirty="0"/>
              <a:t>Graph Management Algorithms</a:t>
            </a:r>
            <a:r>
              <a:rPr lang="en-IN" sz="2000" b="1" dirty="0" smtClean="0"/>
              <a:t>:</a:t>
            </a:r>
          </a:p>
          <a:p>
            <a:pPr>
              <a:buFont typeface="Wingdings" panose="05000000000000000000" pitchFamily="2" charset="2"/>
              <a:buChar char="v"/>
            </a:pPr>
            <a:r>
              <a:rPr lang="en-IN" sz="2000" b="1" dirty="0" smtClean="0"/>
              <a:t>Reachability</a:t>
            </a:r>
          </a:p>
          <a:p>
            <a:pPr lvl="1">
              <a:buFont typeface="Wingdings" panose="05000000000000000000" pitchFamily="2" charset="2"/>
              <a:buChar char="v"/>
            </a:pPr>
            <a:r>
              <a:rPr lang="en-IN" sz="2000" b="1" dirty="0" smtClean="0"/>
              <a:t>Set </a:t>
            </a:r>
            <a:r>
              <a:rPr lang="en-IN" sz="2000" b="1" dirty="0"/>
              <a:t>covering based </a:t>
            </a:r>
            <a:r>
              <a:rPr lang="en-IN" sz="2000" b="1" dirty="0" smtClean="0"/>
              <a:t>approaches</a:t>
            </a:r>
          </a:p>
          <a:p>
            <a:pPr lvl="1">
              <a:buFont typeface="Wingdings" panose="05000000000000000000" pitchFamily="2" charset="2"/>
              <a:buChar char="v"/>
            </a:pPr>
            <a:r>
              <a:rPr lang="en-IN" sz="2000" b="1" i="1" dirty="0"/>
              <a:t>pairwise disjoint chains</a:t>
            </a:r>
            <a:endParaRPr lang="en-IN" sz="2000" b="1" dirty="0" smtClean="0"/>
          </a:p>
          <a:p>
            <a:pPr lvl="2">
              <a:buFont typeface="Wingdings" panose="05000000000000000000" pitchFamily="2" charset="2"/>
              <a:buChar char="v"/>
            </a:pPr>
            <a:r>
              <a:rPr lang="en-IN" sz="2000" dirty="0" err="1">
                <a:latin typeface="Arial" panose="020B0604020202020204" pitchFamily="34" charset="0"/>
                <a:cs typeface="Arial" panose="020B0604020202020204" pitchFamily="34" charset="0"/>
              </a:rPr>
              <a:t>Jagadish</a:t>
            </a:r>
            <a:r>
              <a:rPr lang="en-IN" sz="2000" dirty="0">
                <a:latin typeface="Arial" panose="020B0604020202020204" pitchFamily="34" charset="0"/>
                <a:cs typeface="Arial" panose="020B0604020202020204" pitchFamily="34" charset="0"/>
              </a:rPr>
              <a:t> et al. </a:t>
            </a:r>
            <a:r>
              <a:rPr lang="en-IN" sz="2000" dirty="0" smtClean="0">
                <a:latin typeface="Arial" panose="020B0604020202020204" pitchFamily="34" charset="0"/>
                <a:cs typeface="Arial" panose="020B0604020202020204" pitchFamily="34" charset="0"/>
              </a:rPr>
              <a:t>[4] </a:t>
            </a:r>
            <a:r>
              <a:rPr lang="en-IN" sz="2000" dirty="0">
                <a:latin typeface="Arial" panose="020B0604020202020204" pitchFamily="34" charset="0"/>
                <a:cs typeface="Arial" panose="020B0604020202020204" pitchFamily="34" charset="0"/>
              </a:rPr>
              <a:t>proposes to decompose a graph </a:t>
            </a:r>
            <a:r>
              <a:rPr lang="en-IN" sz="2000" b="1" i="1" dirty="0">
                <a:latin typeface="Arial" panose="020B0604020202020204" pitchFamily="34" charset="0"/>
                <a:cs typeface="Arial" panose="020B0604020202020204" pitchFamily="34" charset="0"/>
              </a:rPr>
              <a:t>into pairwise disjoint chains</a:t>
            </a:r>
            <a:r>
              <a:rPr lang="en-IN" sz="2000" dirty="0">
                <a:latin typeface="Arial" panose="020B0604020202020204" pitchFamily="34" charset="0"/>
                <a:cs typeface="Arial" panose="020B0604020202020204" pitchFamily="34" charset="0"/>
              </a:rPr>
              <a:t>, and then use chains to cover the graph.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intuition of using  chain is similar to using a tree: if </a:t>
            </a:r>
            <a:r>
              <a:rPr lang="en-IN" sz="2000" b="1" i="1" dirty="0">
                <a:latin typeface="Arial" panose="020B0604020202020204" pitchFamily="34" charset="0"/>
                <a:cs typeface="Arial" panose="020B0604020202020204" pitchFamily="34" charset="0"/>
              </a:rPr>
              <a:t>v</a:t>
            </a:r>
            <a:r>
              <a:rPr lang="en-IN" sz="2000" dirty="0">
                <a:latin typeface="Arial" panose="020B0604020202020204" pitchFamily="34" charset="0"/>
                <a:cs typeface="Arial" panose="020B0604020202020204" pitchFamily="34" charset="0"/>
              </a:rPr>
              <a:t> can reach </a:t>
            </a:r>
            <a:r>
              <a:rPr lang="en-IN" sz="2000" b="1" i="1" dirty="0">
                <a:latin typeface="Arial" panose="020B0604020202020204" pitchFamily="34" charset="0"/>
                <a:cs typeface="Arial" panose="020B0604020202020204" pitchFamily="34" charset="0"/>
              </a:rPr>
              <a:t>u</a:t>
            </a:r>
            <a:r>
              <a:rPr lang="en-IN" sz="2000" dirty="0">
                <a:latin typeface="Arial" panose="020B0604020202020204" pitchFamily="34" charset="0"/>
                <a:cs typeface="Arial" panose="020B0604020202020204" pitchFamily="34" charset="0"/>
              </a:rPr>
              <a:t> on a chain, then </a:t>
            </a:r>
            <a:r>
              <a:rPr lang="en-IN" sz="2000" b="1" i="1" dirty="0">
                <a:latin typeface="Arial" panose="020B0604020202020204" pitchFamily="34" charset="0"/>
                <a:cs typeface="Arial" panose="020B0604020202020204" pitchFamily="34" charset="0"/>
              </a:rPr>
              <a:t>v</a:t>
            </a:r>
            <a:r>
              <a:rPr lang="en-IN" sz="2000" dirty="0">
                <a:latin typeface="Arial" panose="020B0604020202020204" pitchFamily="34" charset="0"/>
                <a:cs typeface="Arial" panose="020B0604020202020204" pitchFamily="34" charset="0"/>
              </a:rPr>
              <a:t> can reach any node that comes after </a:t>
            </a:r>
            <a:r>
              <a:rPr lang="en-IN" sz="2000" b="1" i="1" dirty="0">
                <a:latin typeface="Arial" panose="020B0604020202020204" pitchFamily="34" charset="0"/>
                <a:cs typeface="Arial" panose="020B0604020202020204" pitchFamily="34" charset="0"/>
              </a:rPr>
              <a:t>u</a:t>
            </a:r>
            <a:r>
              <a:rPr lang="en-IN" sz="2000" dirty="0">
                <a:latin typeface="Arial" panose="020B0604020202020204" pitchFamily="34" charset="0"/>
                <a:cs typeface="Arial" panose="020B0604020202020204" pitchFamily="34" charset="0"/>
              </a:rPr>
              <a:t> on that chain.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chain-cover approach achieves </a:t>
            </a:r>
            <a:r>
              <a:rPr lang="en-IN" sz="2000" b="1" dirty="0">
                <a:latin typeface="Arial" panose="020B0604020202020204" pitchFamily="34" charset="0"/>
                <a:cs typeface="Arial" panose="020B0604020202020204" pitchFamily="34" charset="0"/>
              </a:rPr>
              <a:t>O(</a:t>
            </a:r>
            <a:r>
              <a:rPr lang="en-IN" sz="2000" b="1" dirty="0" err="1">
                <a:latin typeface="Arial" panose="020B0604020202020204" pitchFamily="34" charset="0"/>
                <a:cs typeface="Arial" panose="020B0604020202020204" pitchFamily="34" charset="0"/>
              </a:rPr>
              <a:t>nk</a:t>
            </a:r>
            <a:r>
              <a:rPr lang="en-IN" sz="2000" b="1" dirty="0">
                <a:latin typeface="Arial" panose="020B0604020202020204" pitchFamily="34" charset="0"/>
                <a:cs typeface="Arial" panose="020B0604020202020204" pitchFamily="34" charset="0"/>
              </a:rPr>
              <a:t>)</a:t>
            </a:r>
            <a:r>
              <a:rPr lang="en-IN" sz="2000" dirty="0">
                <a:latin typeface="Arial" panose="020B0604020202020204" pitchFamily="34" charset="0"/>
                <a:cs typeface="Arial" panose="020B0604020202020204" pitchFamily="34" charset="0"/>
              </a:rPr>
              <a:t> query time, where </a:t>
            </a:r>
            <a:r>
              <a:rPr lang="en-IN" sz="2000" i="1" dirty="0">
                <a:latin typeface="Arial" panose="020B0604020202020204" pitchFamily="34" charset="0"/>
                <a:cs typeface="Arial" panose="020B0604020202020204" pitchFamily="34" charset="0"/>
              </a:rPr>
              <a:t>k</a:t>
            </a:r>
            <a:r>
              <a:rPr lang="en-IN" sz="2000" dirty="0">
                <a:latin typeface="Arial" panose="020B0604020202020204" pitchFamily="34" charset="0"/>
                <a:cs typeface="Arial" panose="020B0604020202020204" pitchFamily="34" charset="0"/>
              </a:rPr>
              <a:t> is the number of chains in the graph. </a:t>
            </a:r>
            <a:endParaRPr lang="en-IN" sz="20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
        <p:nvSpPr>
          <p:cNvPr id="4" name="TextBox 3"/>
          <p:cNvSpPr txBox="1"/>
          <p:nvPr/>
        </p:nvSpPr>
        <p:spPr>
          <a:xfrm>
            <a:off x="328612" y="6291590"/>
            <a:ext cx="7086600" cy="523220"/>
          </a:xfrm>
          <a:prstGeom prst="rect">
            <a:avLst/>
          </a:prstGeom>
          <a:noFill/>
        </p:spPr>
        <p:txBody>
          <a:bodyPr wrap="square" rtlCol="0">
            <a:spAutoFit/>
          </a:bodyPr>
          <a:lstStyle/>
          <a:p>
            <a:r>
              <a:rPr lang="en-IN" sz="1400" i="1" dirty="0" smtClean="0"/>
              <a:t>[4</a:t>
            </a:r>
            <a:r>
              <a:rPr lang="en-IN" sz="1400" i="1" dirty="0"/>
              <a:t>] H. V. </a:t>
            </a:r>
            <a:r>
              <a:rPr lang="en-IN" sz="1400" i="1" dirty="0" err="1"/>
              <a:t>Jagadish</a:t>
            </a:r>
            <a:r>
              <a:rPr lang="en-IN" sz="1400" i="1" dirty="0"/>
              <a:t>. </a:t>
            </a:r>
            <a:r>
              <a:rPr lang="en-IN" sz="1400" b="1" i="1" dirty="0"/>
              <a:t>A compression technique to materialize transitive closure</a:t>
            </a:r>
            <a:r>
              <a:rPr lang="en-IN" sz="1400" i="1" dirty="0"/>
              <a:t>. ACM Trans. Database Syst., 15(4):558–598, 1990..</a:t>
            </a:r>
          </a:p>
        </p:txBody>
      </p:sp>
    </p:spTree>
    <p:extLst>
      <p:ext uri="{BB962C8B-B14F-4D97-AF65-F5344CB8AC3E}">
        <p14:creationId xmlns:p14="http://schemas.microsoft.com/office/powerpoint/2010/main" val="265589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lvl="1" indent="-342900">
              <a:buClr>
                <a:srgbClr val="101141"/>
              </a:buClr>
              <a:buNone/>
            </a:pPr>
            <a:r>
              <a:rPr lang="en-IN" sz="2000" b="1" i="1" dirty="0"/>
              <a:t>pairwise disjoint chains</a:t>
            </a:r>
            <a:endParaRPr lang="en-IN" sz="2000" b="1" dirty="0"/>
          </a:p>
          <a:p>
            <a:endParaRPr lang="en-IN" dirty="0"/>
          </a:p>
        </p:txBody>
      </p:sp>
      <p:sp>
        <p:nvSpPr>
          <p:cNvPr id="3" name="Content Placeholder 2"/>
          <p:cNvSpPr>
            <a:spLocks noGrp="1"/>
          </p:cNvSpPr>
          <p:nvPr>
            <p:ph sz="quarter" idx="10"/>
          </p:nvPr>
        </p:nvSpPr>
        <p:spPr/>
        <p:txBody>
          <a:bodyPr/>
          <a:lstStyle/>
          <a:p>
            <a:r>
              <a:rPr lang="en-US" dirty="0" smtClean="0"/>
              <a:t>Example</a:t>
            </a:r>
            <a:endParaRPr lang="en-IN" dirty="0"/>
          </a:p>
        </p:txBody>
      </p:sp>
      <p:grpSp>
        <p:nvGrpSpPr>
          <p:cNvPr id="5" name="Group 4"/>
          <p:cNvGrpSpPr/>
          <p:nvPr/>
        </p:nvGrpSpPr>
        <p:grpSpPr>
          <a:xfrm>
            <a:off x="3886200" y="1828800"/>
            <a:ext cx="5088730" cy="4429127"/>
            <a:chOff x="0" y="0"/>
            <a:chExt cx="3300412" cy="2333626"/>
          </a:xfrm>
        </p:grpSpPr>
        <p:grpSp>
          <p:nvGrpSpPr>
            <p:cNvPr id="6" name="Group 5"/>
            <p:cNvGrpSpPr/>
            <p:nvPr/>
          </p:nvGrpSpPr>
          <p:grpSpPr>
            <a:xfrm>
              <a:off x="0" y="0"/>
              <a:ext cx="3300412" cy="2333626"/>
              <a:chOff x="0" y="0"/>
              <a:chExt cx="3295649" cy="2333626"/>
            </a:xfrm>
          </p:grpSpPr>
          <p:grpSp>
            <p:nvGrpSpPr>
              <p:cNvPr id="8" name="Group 7"/>
              <p:cNvGrpSpPr/>
              <p:nvPr/>
            </p:nvGrpSpPr>
            <p:grpSpPr>
              <a:xfrm>
                <a:off x="0" y="0"/>
                <a:ext cx="3295649" cy="2333626"/>
                <a:chOff x="0" y="0"/>
                <a:chExt cx="8001000" cy="4894418"/>
              </a:xfrm>
            </p:grpSpPr>
            <p:grpSp>
              <p:nvGrpSpPr>
                <p:cNvPr id="10" name="Group 9"/>
                <p:cNvGrpSpPr/>
                <p:nvPr/>
              </p:nvGrpSpPr>
              <p:grpSpPr>
                <a:xfrm>
                  <a:off x="0" y="0"/>
                  <a:ext cx="8001000" cy="4894418"/>
                  <a:chOff x="0" y="0"/>
                  <a:chExt cx="8001000" cy="4894418"/>
                </a:xfrm>
              </p:grpSpPr>
              <p:sp>
                <p:nvSpPr>
                  <p:cNvPr id="25" name="Oval 24"/>
                  <p:cNvSpPr/>
                  <p:nvPr/>
                </p:nvSpPr>
                <p:spPr>
                  <a:xfrm>
                    <a:off x="152400" y="350993"/>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A</a:t>
                    </a:r>
                  </a:p>
                </p:txBody>
              </p:sp>
              <p:sp>
                <p:nvSpPr>
                  <p:cNvPr id="26" name="Oval 25"/>
                  <p:cNvSpPr/>
                  <p:nvPr/>
                </p:nvSpPr>
                <p:spPr>
                  <a:xfrm>
                    <a:off x="1524000" y="5143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B</a:t>
                    </a:r>
                  </a:p>
                </p:txBody>
              </p:sp>
              <p:sp>
                <p:nvSpPr>
                  <p:cNvPr id="27" name="Oval 26"/>
                  <p:cNvSpPr/>
                  <p:nvPr/>
                </p:nvSpPr>
                <p:spPr>
                  <a:xfrm>
                    <a:off x="1523322" y="2680271"/>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C</a:t>
                    </a:r>
                  </a:p>
                </p:txBody>
              </p:sp>
              <p:sp>
                <p:nvSpPr>
                  <p:cNvPr id="28" name="Oval 27"/>
                  <p:cNvSpPr/>
                  <p:nvPr/>
                </p:nvSpPr>
                <p:spPr>
                  <a:xfrm>
                    <a:off x="3962400" y="29146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F</a:t>
                    </a:r>
                  </a:p>
                </p:txBody>
              </p:sp>
              <p:sp>
                <p:nvSpPr>
                  <p:cNvPr id="29" name="Oval 28"/>
                  <p:cNvSpPr/>
                  <p:nvPr/>
                </p:nvSpPr>
                <p:spPr>
                  <a:xfrm>
                    <a:off x="0" y="38671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D</a:t>
                    </a:r>
                  </a:p>
                </p:txBody>
              </p:sp>
              <p:sp>
                <p:nvSpPr>
                  <p:cNvPr id="30" name="Oval 29"/>
                  <p:cNvSpPr/>
                  <p:nvPr/>
                </p:nvSpPr>
                <p:spPr>
                  <a:xfrm>
                    <a:off x="5334000" y="1454461"/>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H</a:t>
                    </a:r>
                  </a:p>
                </p:txBody>
              </p:sp>
              <p:sp>
                <p:nvSpPr>
                  <p:cNvPr id="31" name="Oval 30"/>
                  <p:cNvSpPr/>
                  <p:nvPr/>
                </p:nvSpPr>
                <p:spPr>
                  <a:xfrm>
                    <a:off x="4724400" y="4208618"/>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E</a:t>
                    </a:r>
                  </a:p>
                </p:txBody>
              </p:sp>
              <p:sp>
                <p:nvSpPr>
                  <p:cNvPr id="32" name="Oval 31"/>
                  <p:cNvSpPr/>
                  <p:nvPr/>
                </p:nvSpPr>
                <p:spPr>
                  <a:xfrm>
                    <a:off x="3810000" y="2476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G</a:t>
                    </a:r>
                  </a:p>
                </p:txBody>
              </p:sp>
              <p:sp>
                <p:nvSpPr>
                  <p:cNvPr id="33" name="Oval 32"/>
                  <p:cNvSpPr/>
                  <p:nvPr/>
                </p:nvSpPr>
                <p:spPr>
                  <a:xfrm>
                    <a:off x="7239000" y="297924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J</a:t>
                    </a:r>
                  </a:p>
                </p:txBody>
              </p:sp>
              <p:sp>
                <p:nvSpPr>
                  <p:cNvPr id="34" name="Oval 33"/>
                  <p:cNvSpPr/>
                  <p:nvPr/>
                </p:nvSpPr>
                <p:spPr>
                  <a:xfrm>
                    <a:off x="7086600" y="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I</a:t>
                    </a:r>
                  </a:p>
                </p:txBody>
              </p:sp>
            </p:grpSp>
            <p:grpSp>
              <p:nvGrpSpPr>
                <p:cNvPr id="11" name="Group 10"/>
                <p:cNvGrpSpPr/>
                <p:nvPr/>
              </p:nvGrpSpPr>
              <p:grpSpPr>
                <a:xfrm>
                  <a:off x="381001" y="100433"/>
                  <a:ext cx="7239000" cy="4451085"/>
                  <a:chOff x="381001" y="100433"/>
                  <a:chExt cx="7239000" cy="4451085"/>
                </a:xfrm>
              </p:grpSpPr>
              <p:cxnSp>
                <p:nvCxnSpPr>
                  <p:cNvPr id="12" name="Straight Arrow Connector 11"/>
                  <p:cNvCxnSpPr>
                    <a:stCxn id="25" idx="6"/>
                  </p:cNvCxnSpPr>
                  <p:nvPr/>
                </p:nvCxnSpPr>
                <p:spPr>
                  <a:xfrm>
                    <a:off x="914401" y="693892"/>
                    <a:ext cx="609599" cy="114300"/>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3" name="Straight Arrow Connector 12"/>
                  <p:cNvCxnSpPr>
                    <a:stCxn id="27" idx="6"/>
                    <a:endCxn id="28" idx="2"/>
                  </p:cNvCxnSpPr>
                  <p:nvPr/>
                </p:nvCxnSpPr>
                <p:spPr>
                  <a:xfrm>
                    <a:off x="2285323" y="3023171"/>
                    <a:ext cx="1677078" cy="234425"/>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4" name="Straight Arrow Connector 13"/>
                  <p:cNvCxnSpPr>
                    <a:endCxn id="27" idx="1"/>
                  </p:cNvCxnSpPr>
                  <p:nvPr/>
                </p:nvCxnSpPr>
                <p:spPr>
                  <a:xfrm>
                    <a:off x="693947" y="977421"/>
                    <a:ext cx="940968" cy="1803283"/>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5" name="Straight Arrow Connector 14"/>
                  <p:cNvCxnSpPr>
                    <a:endCxn id="29" idx="0"/>
                  </p:cNvCxnSpPr>
                  <p:nvPr/>
                </p:nvCxnSpPr>
                <p:spPr>
                  <a:xfrm flipH="1">
                    <a:off x="381001" y="1036793"/>
                    <a:ext cx="151046" cy="283040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6" name="Straight Arrow Connector 15"/>
                  <p:cNvCxnSpPr>
                    <a:endCxn id="27" idx="0"/>
                  </p:cNvCxnSpPr>
                  <p:nvPr/>
                </p:nvCxnSpPr>
                <p:spPr>
                  <a:xfrm>
                    <a:off x="1796815" y="1216336"/>
                    <a:ext cx="107508" cy="1463935"/>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 name="Straight Arrow Connector 16"/>
                  <p:cNvCxnSpPr>
                    <a:stCxn id="31" idx="2"/>
                  </p:cNvCxnSpPr>
                  <p:nvPr/>
                </p:nvCxnSpPr>
                <p:spPr>
                  <a:xfrm flipH="1" flipV="1">
                    <a:off x="753708" y="4357410"/>
                    <a:ext cx="3970693" cy="194108"/>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8" name="Straight Arrow Connector 17"/>
                  <p:cNvCxnSpPr>
                    <a:stCxn id="32" idx="4"/>
                  </p:cNvCxnSpPr>
                  <p:nvPr/>
                </p:nvCxnSpPr>
                <p:spPr>
                  <a:xfrm>
                    <a:off x="4191001" y="933496"/>
                    <a:ext cx="107506" cy="19849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9" name="Straight Arrow Connector 18"/>
                  <p:cNvCxnSpPr>
                    <a:endCxn id="33" idx="0"/>
                  </p:cNvCxnSpPr>
                  <p:nvPr/>
                </p:nvCxnSpPr>
                <p:spPr>
                  <a:xfrm>
                    <a:off x="7473739" y="675684"/>
                    <a:ext cx="146262" cy="230356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 name="Straight Arrow Connector 19"/>
                  <p:cNvCxnSpPr>
                    <a:endCxn id="30" idx="1"/>
                  </p:cNvCxnSpPr>
                  <p:nvPr/>
                </p:nvCxnSpPr>
                <p:spPr>
                  <a:xfrm>
                    <a:off x="4505325" y="723947"/>
                    <a:ext cx="940268" cy="830948"/>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1" name="Straight Arrow Connector 20"/>
                  <p:cNvCxnSpPr>
                    <a:endCxn id="34" idx="2"/>
                  </p:cNvCxnSpPr>
                  <p:nvPr/>
                </p:nvCxnSpPr>
                <p:spPr>
                  <a:xfrm flipV="1">
                    <a:off x="4546133" y="342900"/>
                    <a:ext cx="2540468" cy="211022"/>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2" name="Straight Arrow Connector 21"/>
                  <p:cNvCxnSpPr>
                    <a:endCxn id="30" idx="7"/>
                  </p:cNvCxnSpPr>
                  <p:nvPr/>
                </p:nvCxnSpPr>
                <p:spPr>
                  <a:xfrm flipH="1">
                    <a:off x="5984409" y="544120"/>
                    <a:ext cx="1165458" cy="1010774"/>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3" name="Straight Arrow Connector 22"/>
                  <p:cNvCxnSpPr>
                    <a:stCxn id="29" idx="6"/>
                  </p:cNvCxnSpPr>
                  <p:nvPr/>
                </p:nvCxnSpPr>
                <p:spPr>
                  <a:xfrm flipV="1">
                    <a:off x="762001" y="3500948"/>
                    <a:ext cx="6550547" cy="709147"/>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4" name="Curved Connector 23"/>
                  <p:cNvCxnSpPr>
                    <a:stCxn id="26" idx="7"/>
                    <a:endCxn id="34" idx="1"/>
                  </p:cNvCxnSpPr>
                  <p:nvPr/>
                </p:nvCxnSpPr>
                <p:spPr>
                  <a:xfrm rot="5400000" flipH="1" flipV="1">
                    <a:off x="4429103" y="-2154261"/>
                    <a:ext cx="514395" cy="5023784"/>
                  </a:xfrm>
                  <a:prstGeom prst="curvedConnector3">
                    <a:avLst>
                      <a:gd name="adj1" fmla="val 171365"/>
                    </a:avLst>
                  </a:prstGeom>
                  <a:ln>
                    <a:tailEnd type="none"/>
                  </a:ln>
                </p:spPr>
                <p:style>
                  <a:lnRef idx="3">
                    <a:schemeClr val="dk1"/>
                  </a:lnRef>
                  <a:fillRef idx="0">
                    <a:schemeClr val="dk1"/>
                  </a:fillRef>
                  <a:effectRef idx="2">
                    <a:schemeClr val="dk1"/>
                  </a:effectRef>
                  <a:fontRef idx="minor">
                    <a:schemeClr val="tx1"/>
                  </a:fontRef>
                </p:style>
              </p:cxnSp>
            </p:grpSp>
          </p:grpSp>
          <p:cxnSp>
            <p:nvCxnSpPr>
              <p:cNvPr id="9" name="Straight Arrow Connector 8"/>
              <p:cNvCxnSpPr>
                <a:stCxn id="30" idx="3"/>
                <a:endCxn id="28" idx="7"/>
              </p:cNvCxnSpPr>
              <p:nvPr/>
            </p:nvCxnSpPr>
            <p:spPr>
              <a:xfrm flipH="1">
                <a:off x="1900037" y="972576"/>
                <a:ext cx="343028" cy="465017"/>
              </a:xfrm>
              <a:prstGeom prst="straightConnector1">
                <a:avLst/>
              </a:prstGeom>
              <a:ln>
                <a:solidFill>
                  <a:schemeClr val="tx1"/>
                </a:solidFill>
                <a:tailEnd type="none"/>
              </a:ln>
            </p:spPr>
            <p:style>
              <a:lnRef idx="3">
                <a:schemeClr val="dk1"/>
              </a:lnRef>
              <a:fillRef idx="0">
                <a:schemeClr val="dk1"/>
              </a:fillRef>
              <a:effectRef idx="2">
                <a:schemeClr val="dk1"/>
              </a:effectRef>
              <a:fontRef idx="minor">
                <a:schemeClr val="tx1"/>
              </a:fontRef>
            </p:style>
          </p:cxnSp>
        </p:grpSp>
        <p:cxnSp>
          <p:nvCxnSpPr>
            <p:cNvPr id="7" name="Straight Arrow Connector 6"/>
            <p:cNvCxnSpPr>
              <a:endCxn id="31" idx="6"/>
            </p:cNvCxnSpPr>
            <p:nvPr/>
          </p:nvCxnSpPr>
          <p:spPr>
            <a:xfrm flipH="1">
              <a:off x="2263140" y="1714500"/>
              <a:ext cx="783103" cy="455633"/>
            </a:xfrm>
            <a:prstGeom prst="straightConnector1">
              <a:avLst/>
            </a:prstGeom>
            <a:ln>
              <a:solidFill>
                <a:schemeClr val="tx1"/>
              </a:solidFill>
              <a:tailEnd type="non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202969562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sz="2000" b="1" dirty="0"/>
              <a:t>Graph Management Algorithms</a:t>
            </a:r>
            <a:r>
              <a:rPr lang="en-IN" sz="2000" b="1" dirty="0" smtClean="0"/>
              <a:t>:</a:t>
            </a:r>
          </a:p>
          <a:p>
            <a:pPr>
              <a:buFont typeface="Wingdings" panose="05000000000000000000" pitchFamily="2" charset="2"/>
              <a:buChar char="v"/>
            </a:pPr>
            <a:r>
              <a:rPr lang="en-IN" sz="2000" b="1" dirty="0" smtClean="0"/>
              <a:t>Reachability</a:t>
            </a:r>
          </a:p>
          <a:p>
            <a:pPr lvl="1">
              <a:buFont typeface="Wingdings" panose="05000000000000000000" pitchFamily="2" charset="2"/>
              <a:buChar char="v"/>
            </a:pPr>
            <a:r>
              <a:rPr lang="en-IN" sz="2000" dirty="0"/>
              <a:t> </a:t>
            </a:r>
            <a:r>
              <a:rPr lang="en-IN" sz="2000" b="1" dirty="0"/>
              <a:t>Set covering based </a:t>
            </a:r>
            <a:r>
              <a:rPr lang="en-IN" sz="2000" b="1" dirty="0" smtClean="0"/>
              <a:t>approaches</a:t>
            </a:r>
          </a:p>
          <a:p>
            <a:pPr lvl="1">
              <a:buFont typeface="Wingdings" panose="05000000000000000000" pitchFamily="2" charset="2"/>
              <a:buChar char="v"/>
            </a:pPr>
            <a:r>
              <a:rPr lang="en-IN" sz="2000" b="1" i="1" dirty="0" smtClean="0"/>
              <a:t>2-hop Cover </a:t>
            </a:r>
            <a:endParaRPr lang="en-IN" sz="2000" b="1" dirty="0" smtClean="0"/>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Cohen et al.[5] proposed a </a:t>
            </a:r>
            <a:r>
              <a:rPr lang="en-IN" sz="2000" b="1" dirty="0">
                <a:latin typeface="Arial" panose="020B0604020202020204" pitchFamily="34" charset="0"/>
                <a:cs typeface="Arial" panose="020B0604020202020204" pitchFamily="34" charset="0"/>
              </a:rPr>
              <a:t>2-hop cover </a:t>
            </a:r>
            <a:r>
              <a:rPr lang="en-IN" sz="2000" dirty="0">
                <a:latin typeface="Arial" panose="020B0604020202020204" pitchFamily="34" charset="0"/>
                <a:cs typeface="Arial" panose="020B0604020202020204" pitchFamily="34" charset="0"/>
              </a:rPr>
              <a:t>for reachability queries. A node </a:t>
            </a:r>
            <a:r>
              <a:rPr lang="en-IN" sz="2000" b="1" i="1" dirty="0">
                <a:latin typeface="Arial" panose="020B0604020202020204" pitchFamily="34" charset="0"/>
                <a:cs typeface="Arial" panose="020B0604020202020204" pitchFamily="34" charset="0"/>
              </a:rPr>
              <a:t>u</a:t>
            </a:r>
            <a:r>
              <a:rPr lang="en-IN" sz="2000" dirty="0">
                <a:latin typeface="Arial" panose="020B0604020202020204" pitchFamily="34" charset="0"/>
                <a:cs typeface="Arial" panose="020B0604020202020204" pitchFamily="34" charset="0"/>
              </a:rPr>
              <a:t> is </a:t>
            </a:r>
            <a:r>
              <a:rPr lang="en-IN" sz="2000" dirty="0" smtClean="0">
                <a:latin typeface="Arial" panose="020B0604020202020204" pitchFamily="34" charset="0"/>
                <a:cs typeface="Arial" panose="020B0604020202020204" pitchFamily="34" charset="0"/>
              </a:rPr>
              <a:t>labelled </a:t>
            </a:r>
            <a:r>
              <a:rPr lang="en-IN" sz="2000" dirty="0">
                <a:latin typeface="Arial" panose="020B0604020202020204" pitchFamily="34" charset="0"/>
                <a:cs typeface="Arial" panose="020B0604020202020204" pitchFamily="34" charset="0"/>
              </a:rPr>
              <a:t>by two sets of nodes, called L</a:t>
            </a:r>
            <a:r>
              <a:rPr lang="en-IN" sz="2000" i="1" baseline="-25000" dirty="0">
                <a:latin typeface="Arial" panose="020B0604020202020204" pitchFamily="34" charset="0"/>
                <a:cs typeface="Arial" panose="020B0604020202020204" pitchFamily="34" charset="0"/>
              </a:rPr>
              <a:t>in</a:t>
            </a:r>
            <a:r>
              <a:rPr lang="en-IN" sz="2000" dirty="0">
                <a:latin typeface="Arial" panose="020B0604020202020204" pitchFamily="34" charset="0"/>
                <a:cs typeface="Arial" panose="020B0604020202020204" pitchFamily="34" charset="0"/>
              </a:rPr>
              <a:t>(</a:t>
            </a:r>
            <a:r>
              <a:rPr lang="en-IN" sz="2000" b="1" i="1" dirty="0">
                <a:latin typeface="Arial" panose="020B0604020202020204" pitchFamily="34" charset="0"/>
                <a:cs typeface="Arial" panose="020B0604020202020204" pitchFamily="34" charset="0"/>
              </a:rPr>
              <a:t>u</a:t>
            </a:r>
            <a:r>
              <a:rPr lang="en-IN" sz="2000" dirty="0">
                <a:latin typeface="Arial" panose="020B0604020202020204" pitchFamily="34" charset="0"/>
                <a:cs typeface="Arial" panose="020B0604020202020204" pitchFamily="34" charset="0"/>
              </a:rPr>
              <a:t>) </a:t>
            </a:r>
            <a:r>
              <a:rPr lang="en-IN" sz="2000" dirty="0" smtClean="0">
                <a:latin typeface="Arial" panose="020B0604020202020204" pitchFamily="34" charset="0"/>
                <a:cs typeface="Arial" panose="020B0604020202020204" pitchFamily="34" charset="0"/>
              </a:rPr>
              <a:t>&amp; </a:t>
            </a:r>
            <a:r>
              <a:rPr lang="en-IN" sz="2000" dirty="0">
                <a:latin typeface="Arial" panose="020B0604020202020204" pitchFamily="34" charset="0"/>
                <a:cs typeface="Arial" panose="020B0604020202020204" pitchFamily="34" charset="0"/>
              </a:rPr>
              <a:t>L</a:t>
            </a:r>
            <a:r>
              <a:rPr lang="en-IN" sz="2000" i="1" baseline="-25000" dirty="0">
                <a:latin typeface="Arial" panose="020B0604020202020204" pitchFamily="34" charset="0"/>
                <a:cs typeface="Arial" panose="020B0604020202020204" pitchFamily="34" charset="0"/>
              </a:rPr>
              <a:t>out</a:t>
            </a:r>
            <a:r>
              <a:rPr lang="en-IN" sz="2000" dirty="0">
                <a:latin typeface="Arial" panose="020B0604020202020204" pitchFamily="34" charset="0"/>
                <a:cs typeface="Arial" panose="020B0604020202020204" pitchFamily="34" charset="0"/>
              </a:rPr>
              <a:t>(</a:t>
            </a:r>
            <a:r>
              <a:rPr lang="en-IN" sz="2000" b="1" i="1" dirty="0">
                <a:latin typeface="Arial" panose="020B0604020202020204" pitchFamily="34" charset="0"/>
                <a:cs typeface="Arial" panose="020B0604020202020204" pitchFamily="34" charset="0"/>
              </a:rPr>
              <a:t>u</a:t>
            </a:r>
            <a:r>
              <a:rPr lang="en-IN" sz="2000" dirty="0">
                <a:latin typeface="Arial" panose="020B0604020202020204" pitchFamily="34" charset="0"/>
                <a:cs typeface="Arial" panose="020B0604020202020204" pitchFamily="34" charset="0"/>
              </a:rPr>
              <a:t>), where L</a:t>
            </a:r>
            <a:r>
              <a:rPr lang="en-IN" sz="2000" i="1" baseline="-25000" dirty="0">
                <a:latin typeface="Arial" panose="020B0604020202020204" pitchFamily="34" charset="0"/>
                <a:cs typeface="Arial" panose="020B0604020202020204" pitchFamily="34" charset="0"/>
              </a:rPr>
              <a:t>in</a:t>
            </a:r>
            <a:r>
              <a:rPr lang="en-IN" sz="2000" dirty="0">
                <a:latin typeface="Arial" panose="020B0604020202020204" pitchFamily="34" charset="0"/>
                <a:cs typeface="Arial" panose="020B0604020202020204" pitchFamily="34" charset="0"/>
              </a:rPr>
              <a:t>(</a:t>
            </a:r>
            <a:r>
              <a:rPr lang="en-IN" sz="2000" b="1" i="1" dirty="0">
                <a:latin typeface="Arial" panose="020B0604020202020204" pitchFamily="34" charset="0"/>
                <a:cs typeface="Arial" panose="020B0604020202020204" pitchFamily="34" charset="0"/>
              </a:rPr>
              <a:t>u</a:t>
            </a:r>
            <a:r>
              <a:rPr lang="en-IN" sz="2000" dirty="0">
                <a:latin typeface="Arial" panose="020B0604020202020204" pitchFamily="34" charset="0"/>
                <a:cs typeface="Arial" panose="020B0604020202020204" pitchFamily="34" charset="0"/>
              </a:rPr>
              <a:t>) are the nodes that can reach </a:t>
            </a:r>
            <a:r>
              <a:rPr lang="en-IN" sz="2000" b="1" i="1" dirty="0" smtClean="0">
                <a:latin typeface="Arial" panose="020B0604020202020204" pitchFamily="34" charset="0"/>
                <a:cs typeface="Arial" panose="020B0604020202020204" pitchFamily="34" charset="0"/>
              </a:rPr>
              <a:t>u</a:t>
            </a:r>
            <a:r>
              <a:rPr lang="en-IN" sz="2000" dirty="0" smtClean="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and L</a:t>
            </a:r>
            <a:r>
              <a:rPr lang="en-IN" sz="2000" i="1" baseline="-25000" dirty="0">
                <a:latin typeface="Arial" panose="020B0604020202020204" pitchFamily="34" charset="0"/>
                <a:cs typeface="Arial" panose="020B0604020202020204" pitchFamily="34" charset="0"/>
              </a:rPr>
              <a:t>out</a:t>
            </a:r>
            <a:r>
              <a:rPr lang="en-IN" sz="2000" dirty="0">
                <a:latin typeface="Arial" panose="020B0604020202020204" pitchFamily="34" charset="0"/>
                <a:cs typeface="Arial" panose="020B0604020202020204" pitchFamily="34" charset="0"/>
              </a:rPr>
              <a:t>(</a:t>
            </a:r>
            <a:r>
              <a:rPr lang="en-IN" sz="2000" b="1" i="1" dirty="0">
                <a:latin typeface="Arial" panose="020B0604020202020204" pitchFamily="34" charset="0"/>
                <a:cs typeface="Arial" panose="020B0604020202020204" pitchFamily="34" charset="0"/>
              </a:rPr>
              <a:t>u</a:t>
            </a:r>
            <a:r>
              <a:rPr lang="en-IN" sz="2000" dirty="0">
                <a:latin typeface="Arial" panose="020B0604020202020204" pitchFamily="34" charset="0"/>
                <a:cs typeface="Arial" panose="020B0604020202020204" pitchFamily="34" charset="0"/>
              </a:rPr>
              <a:t>) are the ones that </a:t>
            </a:r>
            <a:r>
              <a:rPr lang="en-IN" sz="2000" b="1" i="1" dirty="0" smtClean="0">
                <a:latin typeface="Arial" panose="020B0604020202020204" pitchFamily="34" charset="0"/>
                <a:cs typeface="Arial" panose="020B0604020202020204" pitchFamily="34" charset="0"/>
              </a:rPr>
              <a:t>u</a:t>
            </a:r>
            <a:r>
              <a:rPr lang="en-IN" sz="2000" dirty="0" smtClean="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can reach.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b="1" dirty="0">
                <a:latin typeface="Arial" panose="020B0604020202020204" pitchFamily="34" charset="0"/>
                <a:cs typeface="Arial" panose="020B0604020202020204" pitchFamily="34" charset="0"/>
              </a:rPr>
              <a:t>2-hop</a:t>
            </a:r>
            <a:r>
              <a:rPr lang="en-IN" sz="2000" dirty="0">
                <a:latin typeface="Arial" panose="020B0604020202020204" pitchFamily="34" charset="0"/>
                <a:cs typeface="Arial" panose="020B0604020202020204" pitchFamily="34" charset="0"/>
              </a:rPr>
              <a:t> approach assigns the L</a:t>
            </a:r>
            <a:r>
              <a:rPr lang="en-IN" sz="2000" i="1" baseline="-25000" dirty="0">
                <a:latin typeface="Arial" panose="020B0604020202020204" pitchFamily="34" charset="0"/>
                <a:cs typeface="Arial" panose="020B0604020202020204" pitchFamily="34" charset="0"/>
              </a:rPr>
              <a:t>in</a:t>
            </a:r>
            <a:r>
              <a:rPr lang="en-IN" sz="2000" dirty="0">
                <a:latin typeface="Arial" panose="020B0604020202020204" pitchFamily="34" charset="0"/>
                <a:cs typeface="Arial" panose="020B0604020202020204" pitchFamily="34" charset="0"/>
              </a:rPr>
              <a:t> and L</a:t>
            </a:r>
            <a:r>
              <a:rPr lang="en-IN" sz="2000" i="1" baseline="-25000" dirty="0">
                <a:latin typeface="Arial" panose="020B0604020202020204" pitchFamily="34" charset="0"/>
                <a:cs typeface="Arial" panose="020B0604020202020204" pitchFamily="34" charset="0"/>
              </a:rPr>
              <a:t>out</a:t>
            </a:r>
            <a:r>
              <a:rPr lang="en-IN" sz="2000" dirty="0">
                <a:latin typeface="Arial" panose="020B0604020202020204" pitchFamily="34" charset="0"/>
                <a:cs typeface="Arial" panose="020B0604020202020204" pitchFamily="34" charset="0"/>
              </a:rPr>
              <a:t> labels to each node such that </a:t>
            </a:r>
            <a:r>
              <a:rPr lang="en-IN" sz="2000" b="1" i="1" dirty="0">
                <a:latin typeface="Arial" panose="020B0604020202020204" pitchFamily="34" charset="0"/>
                <a:cs typeface="Arial" panose="020B0604020202020204" pitchFamily="34" charset="0"/>
              </a:rPr>
              <a:t>u</a:t>
            </a:r>
            <a:r>
              <a:rPr lang="en-IN" sz="2000" dirty="0">
                <a:latin typeface="Arial" panose="020B0604020202020204" pitchFamily="34" charset="0"/>
                <a:cs typeface="Arial" panose="020B0604020202020204" pitchFamily="34" charset="0"/>
              </a:rPr>
              <a:t> can reach </a:t>
            </a:r>
            <a:r>
              <a:rPr lang="en-IN" sz="2000" b="1" i="1" dirty="0">
                <a:latin typeface="Arial" panose="020B0604020202020204" pitchFamily="34" charset="0"/>
                <a:cs typeface="Arial" panose="020B0604020202020204" pitchFamily="34" charset="0"/>
              </a:rPr>
              <a:t>v</a:t>
            </a:r>
            <a:r>
              <a:rPr lang="en-IN" sz="2000" dirty="0">
                <a:latin typeface="Arial" panose="020B0604020202020204" pitchFamily="34" charset="0"/>
                <a:cs typeface="Arial" panose="020B0604020202020204" pitchFamily="34" charset="0"/>
              </a:rPr>
              <a:t> </a:t>
            </a:r>
            <a:r>
              <a:rPr lang="en-IN" sz="2000" b="1" i="1" dirty="0" smtClean="0">
                <a:latin typeface="Arial" panose="020B0604020202020204" pitchFamily="34" charset="0"/>
                <a:cs typeface="Arial" panose="020B0604020202020204" pitchFamily="34" charset="0"/>
              </a:rPr>
              <a:t>iff</a:t>
            </a:r>
            <a:r>
              <a:rPr lang="en-IN" sz="2000" dirty="0" smtClean="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L</a:t>
            </a:r>
            <a:r>
              <a:rPr lang="en-IN" sz="2000" i="1" baseline="-25000" dirty="0">
                <a:latin typeface="Arial" panose="020B0604020202020204" pitchFamily="34" charset="0"/>
                <a:cs typeface="Arial" panose="020B0604020202020204" pitchFamily="34" charset="0"/>
              </a:rPr>
              <a:t>out</a:t>
            </a:r>
            <a:r>
              <a:rPr lang="en-IN" sz="2000" dirty="0">
                <a:latin typeface="Arial" panose="020B0604020202020204" pitchFamily="34" charset="0"/>
                <a:cs typeface="Arial" panose="020B0604020202020204" pitchFamily="34" charset="0"/>
              </a:rPr>
              <a:t>(</a:t>
            </a:r>
            <a:r>
              <a:rPr lang="en-IN" sz="2000" b="1" i="1" dirty="0">
                <a:latin typeface="Arial" panose="020B0604020202020204" pitchFamily="34" charset="0"/>
                <a:cs typeface="Arial" panose="020B0604020202020204" pitchFamily="34" charset="0"/>
              </a:rPr>
              <a:t>u</a:t>
            </a:r>
            <a:r>
              <a:rPr lang="en-IN" sz="2000" dirty="0">
                <a:latin typeface="Arial" panose="020B0604020202020204" pitchFamily="34" charset="0"/>
                <a:cs typeface="Arial" panose="020B0604020202020204" pitchFamily="34" charset="0"/>
              </a:rPr>
              <a:t>) ∩ L</a:t>
            </a:r>
            <a:r>
              <a:rPr lang="en-IN" sz="2000" i="1" baseline="-25000" dirty="0">
                <a:latin typeface="Arial" panose="020B0604020202020204" pitchFamily="34" charset="0"/>
                <a:cs typeface="Arial" panose="020B0604020202020204" pitchFamily="34" charset="0"/>
              </a:rPr>
              <a:t>in</a:t>
            </a:r>
            <a:r>
              <a:rPr lang="en-IN" sz="2000" dirty="0">
                <a:latin typeface="Arial" panose="020B0604020202020204" pitchFamily="34" charset="0"/>
                <a:cs typeface="Arial" panose="020B0604020202020204" pitchFamily="34" charset="0"/>
              </a:rPr>
              <a:t>(</a:t>
            </a:r>
            <a:r>
              <a:rPr lang="en-IN" sz="2000" b="1" i="1" dirty="0">
                <a:latin typeface="Arial" panose="020B0604020202020204" pitchFamily="34" charset="0"/>
                <a:cs typeface="Arial" panose="020B0604020202020204" pitchFamily="34" charset="0"/>
              </a:rPr>
              <a:t>v</a:t>
            </a:r>
            <a:r>
              <a:rPr lang="en-IN" sz="2000" dirty="0">
                <a:latin typeface="Arial" panose="020B0604020202020204" pitchFamily="34" charset="0"/>
                <a:cs typeface="Arial" panose="020B0604020202020204" pitchFamily="34" charset="0"/>
              </a:rPr>
              <a:t>) </a:t>
            </a:r>
            <a:r>
              <a:rPr lang="en-IN" sz="2000" dirty="0" smtClean="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A </a:t>
            </a:r>
            <a:r>
              <a:rPr lang="en-IN" sz="2000" dirty="0">
                <a:latin typeface="Arial" panose="020B0604020202020204" pitchFamily="34" charset="0"/>
                <a:cs typeface="Arial" panose="020B0604020202020204" pitchFamily="34" charset="0"/>
              </a:rPr>
              <a:t>greedy algorithm finds a </a:t>
            </a:r>
            <a:r>
              <a:rPr lang="en-IN" sz="2000" b="1" dirty="0">
                <a:latin typeface="Arial" panose="020B0604020202020204" pitchFamily="34" charset="0"/>
                <a:cs typeface="Arial" panose="020B0604020202020204" pitchFamily="34" charset="0"/>
              </a:rPr>
              <a:t>2-hop</a:t>
            </a:r>
            <a:r>
              <a:rPr lang="en-IN" sz="2000" dirty="0">
                <a:latin typeface="Arial" panose="020B0604020202020204" pitchFamily="34" charset="0"/>
                <a:cs typeface="Arial" panose="020B0604020202020204" pitchFamily="34" charset="0"/>
              </a:rPr>
              <a:t> cover iteratively</a:t>
            </a:r>
            <a:r>
              <a:rPr lang="en-IN" sz="2000" dirty="0" smtClean="0">
                <a:latin typeface="Arial" panose="020B0604020202020204" pitchFamily="34" charset="0"/>
                <a:cs typeface="Arial" panose="020B0604020202020204" pitchFamily="34" charset="0"/>
              </a:rPr>
              <a:t>. </a:t>
            </a:r>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
        <p:nvSpPr>
          <p:cNvPr id="4" name="TextBox 3"/>
          <p:cNvSpPr txBox="1"/>
          <p:nvPr/>
        </p:nvSpPr>
        <p:spPr>
          <a:xfrm>
            <a:off x="304800" y="6291590"/>
            <a:ext cx="7467600" cy="523220"/>
          </a:xfrm>
          <a:prstGeom prst="rect">
            <a:avLst/>
          </a:prstGeom>
          <a:noFill/>
        </p:spPr>
        <p:txBody>
          <a:bodyPr wrap="square" rtlCol="0">
            <a:spAutoFit/>
          </a:bodyPr>
          <a:lstStyle/>
          <a:p>
            <a:r>
              <a:rPr lang="en-IN" sz="1400" i="1" dirty="0" smtClean="0"/>
              <a:t>[5] E</a:t>
            </a:r>
            <a:r>
              <a:rPr lang="en-IN" sz="1400" i="1" dirty="0"/>
              <a:t>. Cohen, E. </a:t>
            </a:r>
            <a:r>
              <a:rPr lang="en-IN" sz="1400" i="1" dirty="0" err="1"/>
              <a:t>Halperin</a:t>
            </a:r>
            <a:r>
              <a:rPr lang="en-IN" sz="1400" i="1" dirty="0"/>
              <a:t>, H. Kaplan, U. Zwick. </a:t>
            </a:r>
            <a:r>
              <a:rPr lang="en-IN" sz="1400" b="1" i="1" dirty="0"/>
              <a:t>Reachability and Distance Queries via 2-hop Labels</a:t>
            </a:r>
            <a:r>
              <a:rPr lang="en-IN" sz="1400" i="1" dirty="0"/>
              <a:t>, ACM Symposium on Discrete Algorithms, 2002.</a:t>
            </a:r>
          </a:p>
        </p:txBody>
      </p:sp>
    </p:spTree>
    <p:extLst>
      <p:ext uri="{BB962C8B-B14F-4D97-AF65-F5344CB8AC3E}">
        <p14:creationId xmlns:p14="http://schemas.microsoft.com/office/powerpoint/2010/main" val="113909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2 hop</a:t>
            </a:r>
            <a:endParaRPr lang="en-IN" dirty="0"/>
          </a:p>
        </p:txBody>
      </p:sp>
      <p:sp>
        <p:nvSpPr>
          <p:cNvPr id="3" name="Content Placeholder 2"/>
          <p:cNvSpPr>
            <a:spLocks noGrp="1"/>
          </p:cNvSpPr>
          <p:nvPr>
            <p:ph sz="quarter" idx="10"/>
          </p:nvPr>
        </p:nvSpPr>
        <p:spPr/>
        <p:txBody>
          <a:bodyPr/>
          <a:lstStyle/>
          <a:p>
            <a:r>
              <a:rPr lang="en-US" dirty="0" smtClean="0"/>
              <a:t>Example</a:t>
            </a:r>
            <a:endParaRPr lang="en-IN" dirty="0"/>
          </a:p>
        </p:txBody>
      </p:sp>
      <p:grpSp>
        <p:nvGrpSpPr>
          <p:cNvPr id="5" name="Group 4"/>
          <p:cNvGrpSpPr/>
          <p:nvPr/>
        </p:nvGrpSpPr>
        <p:grpSpPr>
          <a:xfrm>
            <a:off x="3886200" y="1828800"/>
            <a:ext cx="5088730" cy="4429127"/>
            <a:chOff x="0" y="0"/>
            <a:chExt cx="3300412" cy="2333626"/>
          </a:xfrm>
        </p:grpSpPr>
        <p:grpSp>
          <p:nvGrpSpPr>
            <p:cNvPr id="6" name="Group 5"/>
            <p:cNvGrpSpPr/>
            <p:nvPr/>
          </p:nvGrpSpPr>
          <p:grpSpPr>
            <a:xfrm>
              <a:off x="0" y="0"/>
              <a:ext cx="3300412" cy="2333626"/>
              <a:chOff x="0" y="0"/>
              <a:chExt cx="3295649" cy="2333626"/>
            </a:xfrm>
          </p:grpSpPr>
          <p:grpSp>
            <p:nvGrpSpPr>
              <p:cNvPr id="8" name="Group 7"/>
              <p:cNvGrpSpPr/>
              <p:nvPr/>
            </p:nvGrpSpPr>
            <p:grpSpPr>
              <a:xfrm>
                <a:off x="0" y="0"/>
                <a:ext cx="3295649" cy="2333626"/>
                <a:chOff x="0" y="0"/>
                <a:chExt cx="8001000" cy="4894418"/>
              </a:xfrm>
            </p:grpSpPr>
            <p:grpSp>
              <p:nvGrpSpPr>
                <p:cNvPr id="10" name="Group 9"/>
                <p:cNvGrpSpPr/>
                <p:nvPr/>
              </p:nvGrpSpPr>
              <p:grpSpPr>
                <a:xfrm>
                  <a:off x="0" y="0"/>
                  <a:ext cx="8001000" cy="4894418"/>
                  <a:chOff x="0" y="0"/>
                  <a:chExt cx="8001000" cy="4894418"/>
                </a:xfrm>
              </p:grpSpPr>
              <p:sp>
                <p:nvSpPr>
                  <p:cNvPr id="25" name="Oval 24"/>
                  <p:cNvSpPr/>
                  <p:nvPr/>
                </p:nvSpPr>
                <p:spPr>
                  <a:xfrm>
                    <a:off x="152400" y="350993"/>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A</a:t>
                    </a:r>
                  </a:p>
                </p:txBody>
              </p:sp>
              <p:sp>
                <p:nvSpPr>
                  <p:cNvPr id="26" name="Oval 25"/>
                  <p:cNvSpPr/>
                  <p:nvPr/>
                </p:nvSpPr>
                <p:spPr>
                  <a:xfrm>
                    <a:off x="1524000" y="5143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B</a:t>
                    </a:r>
                  </a:p>
                </p:txBody>
              </p:sp>
              <p:sp>
                <p:nvSpPr>
                  <p:cNvPr id="27" name="Oval 26"/>
                  <p:cNvSpPr/>
                  <p:nvPr/>
                </p:nvSpPr>
                <p:spPr>
                  <a:xfrm>
                    <a:off x="1523322" y="2680271"/>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C</a:t>
                    </a:r>
                  </a:p>
                </p:txBody>
              </p:sp>
              <p:sp>
                <p:nvSpPr>
                  <p:cNvPr id="28" name="Oval 27"/>
                  <p:cNvSpPr/>
                  <p:nvPr/>
                </p:nvSpPr>
                <p:spPr>
                  <a:xfrm>
                    <a:off x="3962400" y="29146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F</a:t>
                    </a:r>
                  </a:p>
                </p:txBody>
              </p:sp>
              <p:sp>
                <p:nvSpPr>
                  <p:cNvPr id="29" name="Oval 28"/>
                  <p:cNvSpPr/>
                  <p:nvPr/>
                </p:nvSpPr>
                <p:spPr>
                  <a:xfrm>
                    <a:off x="0" y="38671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D</a:t>
                    </a:r>
                  </a:p>
                </p:txBody>
              </p:sp>
              <p:sp>
                <p:nvSpPr>
                  <p:cNvPr id="30" name="Oval 29"/>
                  <p:cNvSpPr/>
                  <p:nvPr/>
                </p:nvSpPr>
                <p:spPr>
                  <a:xfrm>
                    <a:off x="5334000" y="1454461"/>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H</a:t>
                    </a:r>
                  </a:p>
                </p:txBody>
              </p:sp>
              <p:sp>
                <p:nvSpPr>
                  <p:cNvPr id="31" name="Oval 30"/>
                  <p:cNvSpPr/>
                  <p:nvPr/>
                </p:nvSpPr>
                <p:spPr>
                  <a:xfrm>
                    <a:off x="4724400" y="4208618"/>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E</a:t>
                    </a:r>
                  </a:p>
                </p:txBody>
              </p:sp>
              <p:sp>
                <p:nvSpPr>
                  <p:cNvPr id="32" name="Oval 31"/>
                  <p:cNvSpPr/>
                  <p:nvPr/>
                </p:nvSpPr>
                <p:spPr>
                  <a:xfrm>
                    <a:off x="3810000" y="2476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G</a:t>
                    </a:r>
                  </a:p>
                </p:txBody>
              </p:sp>
              <p:sp>
                <p:nvSpPr>
                  <p:cNvPr id="33" name="Oval 32"/>
                  <p:cNvSpPr/>
                  <p:nvPr/>
                </p:nvSpPr>
                <p:spPr>
                  <a:xfrm>
                    <a:off x="7239000" y="297924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J</a:t>
                    </a:r>
                  </a:p>
                </p:txBody>
              </p:sp>
              <p:sp>
                <p:nvSpPr>
                  <p:cNvPr id="34" name="Oval 33"/>
                  <p:cNvSpPr/>
                  <p:nvPr/>
                </p:nvSpPr>
                <p:spPr>
                  <a:xfrm>
                    <a:off x="7086600" y="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I</a:t>
                    </a:r>
                  </a:p>
                </p:txBody>
              </p:sp>
            </p:grpSp>
            <p:grpSp>
              <p:nvGrpSpPr>
                <p:cNvPr id="11" name="Group 10"/>
                <p:cNvGrpSpPr/>
                <p:nvPr/>
              </p:nvGrpSpPr>
              <p:grpSpPr>
                <a:xfrm>
                  <a:off x="381001" y="100433"/>
                  <a:ext cx="7239000" cy="4451085"/>
                  <a:chOff x="381001" y="100433"/>
                  <a:chExt cx="7239000" cy="4451085"/>
                </a:xfrm>
              </p:grpSpPr>
              <p:cxnSp>
                <p:nvCxnSpPr>
                  <p:cNvPr id="12" name="Straight Arrow Connector 11"/>
                  <p:cNvCxnSpPr>
                    <a:stCxn id="25" idx="6"/>
                  </p:cNvCxnSpPr>
                  <p:nvPr/>
                </p:nvCxnSpPr>
                <p:spPr>
                  <a:xfrm>
                    <a:off x="914401" y="693892"/>
                    <a:ext cx="609599" cy="114300"/>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3" name="Straight Arrow Connector 12"/>
                  <p:cNvCxnSpPr>
                    <a:stCxn id="27" idx="6"/>
                    <a:endCxn id="28" idx="2"/>
                  </p:cNvCxnSpPr>
                  <p:nvPr/>
                </p:nvCxnSpPr>
                <p:spPr>
                  <a:xfrm>
                    <a:off x="2285323" y="3023171"/>
                    <a:ext cx="1677078" cy="234425"/>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4" name="Straight Arrow Connector 13"/>
                  <p:cNvCxnSpPr>
                    <a:endCxn id="27" idx="1"/>
                  </p:cNvCxnSpPr>
                  <p:nvPr/>
                </p:nvCxnSpPr>
                <p:spPr>
                  <a:xfrm>
                    <a:off x="693947" y="977421"/>
                    <a:ext cx="940968" cy="1803283"/>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5" name="Straight Arrow Connector 14"/>
                  <p:cNvCxnSpPr>
                    <a:endCxn id="29" idx="0"/>
                  </p:cNvCxnSpPr>
                  <p:nvPr/>
                </p:nvCxnSpPr>
                <p:spPr>
                  <a:xfrm flipH="1">
                    <a:off x="381001" y="1036793"/>
                    <a:ext cx="151046" cy="283040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6" name="Straight Arrow Connector 15"/>
                  <p:cNvCxnSpPr>
                    <a:endCxn id="27" idx="0"/>
                  </p:cNvCxnSpPr>
                  <p:nvPr/>
                </p:nvCxnSpPr>
                <p:spPr>
                  <a:xfrm>
                    <a:off x="1796815" y="1216336"/>
                    <a:ext cx="107508" cy="1463935"/>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 name="Straight Arrow Connector 16"/>
                  <p:cNvCxnSpPr>
                    <a:stCxn id="31" idx="2"/>
                  </p:cNvCxnSpPr>
                  <p:nvPr/>
                </p:nvCxnSpPr>
                <p:spPr>
                  <a:xfrm flipH="1" flipV="1">
                    <a:off x="753708" y="4357410"/>
                    <a:ext cx="3970693" cy="194108"/>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8" name="Straight Arrow Connector 17"/>
                  <p:cNvCxnSpPr>
                    <a:stCxn id="32" idx="4"/>
                  </p:cNvCxnSpPr>
                  <p:nvPr/>
                </p:nvCxnSpPr>
                <p:spPr>
                  <a:xfrm>
                    <a:off x="4191001" y="933496"/>
                    <a:ext cx="107506" cy="19849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9" name="Straight Arrow Connector 18"/>
                  <p:cNvCxnSpPr>
                    <a:endCxn id="33" idx="0"/>
                  </p:cNvCxnSpPr>
                  <p:nvPr/>
                </p:nvCxnSpPr>
                <p:spPr>
                  <a:xfrm>
                    <a:off x="7473739" y="675684"/>
                    <a:ext cx="146262" cy="230356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 name="Straight Arrow Connector 19"/>
                  <p:cNvCxnSpPr>
                    <a:endCxn id="30" idx="1"/>
                  </p:cNvCxnSpPr>
                  <p:nvPr/>
                </p:nvCxnSpPr>
                <p:spPr>
                  <a:xfrm>
                    <a:off x="4505325" y="723947"/>
                    <a:ext cx="940268" cy="830948"/>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1" name="Straight Arrow Connector 20"/>
                  <p:cNvCxnSpPr>
                    <a:endCxn id="34" idx="2"/>
                  </p:cNvCxnSpPr>
                  <p:nvPr/>
                </p:nvCxnSpPr>
                <p:spPr>
                  <a:xfrm flipV="1">
                    <a:off x="4546133" y="342900"/>
                    <a:ext cx="2540468" cy="211022"/>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2" name="Straight Arrow Connector 21"/>
                  <p:cNvCxnSpPr>
                    <a:endCxn id="30" idx="7"/>
                  </p:cNvCxnSpPr>
                  <p:nvPr/>
                </p:nvCxnSpPr>
                <p:spPr>
                  <a:xfrm flipH="1">
                    <a:off x="5984409" y="544120"/>
                    <a:ext cx="1165458" cy="1010774"/>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3" name="Straight Arrow Connector 22"/>
                  <p:cNvCxnSpPr>
                    <a:stCxn id="29" idx="6"/>
                  </p:cNvCxnSpPr>
                  <p:nvPr/>
                </p:nvCxnSpPr>
                <p:spPr>
                  <a:xfrm flipV="1">
                    <a:off x="762001" y="3500948"/>
                    <a:ext cx="6550547" cy="709147"/>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4" name="Curved Connector 23"/>
                  <p:cNvCxnSpPr>
                    <a:stCxn id="26" idx="7"/>
                    <a:endCxn id="34" idx="1"/>
                  </p:cNvCxnSpPr>
                  <p:nvPr/>
                </p:nvCxnSpPr>
                <p:spPr>
                  <a:xfrm rot="5400000" flipH="1" flipV="1">
                    <a:off x="4429103" y="-2154261"/>
                    <a:ext cx="514395" cy="5023784"/>
                  </a:xfrm>
                  <a:prstGeom prst="curvedConnector3">
                    <a:avLst>
                      <a:gd name="adj1" fmla="val 171365"/>
                    </a:avLst>
                  </a:prstGeom>
                  <a:ln>
                    <a:tailEnd type="none"/>
                  </a:ln>
                </p:spPr>
                <p:style>
                  <a:lnRef idx="3">
                    <a:schemeClr val="dk1"/>
                  </a:lnRef>
                  <a:fillRef idx="0">
                    <a:schemeClr val="dk1"/>
                  </a:fillRef>
                  <a:effectRef idx="2">
                    <a:schemeClr val="dk1"/>
                  </a:effectRef>
                  <a:fontRef idx="minor">
                    <a:schemeClr val="tx1"/>
                  </a:fontRef>
                </p:style>
              </p:cxnSp>
            </p:grpSp>
          </p:grpSp>
          <p:cxnSp>
            <p:nvCxnSpPr>
              <p:cNvPr id="9" name="Straight Arrow Connector 8"/>
              <p:cNvCxnSpPr>
                <a:stCxn id="30" idx="3"/>
                <a:endCxn id="28" idx="7"/>
              </p:cNvCxnSpPr>
              <p:nvPr/>
            </p:nvCxnSpPr>
            <p:spPr>
              <a:xfrm flipH="1">
                <a:off x="1900037" y="972576"/>
                <a:ext cx="343028" cy="465017"/>
              </a:xfrm>
              <a:prstGeom prst="straightConnector1">
                <a:avLst/>
              </a:prstGeom>
              <a:ln>
                <a:solidFill>
                  <a:schemeClr val="tx1"/>
                </a:solidFill>
                <a:tailEnd type="none"/>
              </a:ln>
            </p:spPr>
            <p:style>
              <a:lnRef idx="3">
                <a:schemeClr val="dk1"/>
              </a:lnRef>
              <a:fillRef idx="0">
                <a:schemeClr val="dk1"/>
              </a:fillRef>
              <a:effectRef idx="2">
                <a:schemeClr val="dk1"/>
              </a:effectRef>
              <a:fontRef idx="minor">
                <a:schemeClr val="tx1"/>
              </a:fontRef>
            </p:style>
          </p:cxnSp>
        </p:grpSp>
        <p:cxnSp>
          <p:nvCxnSpPr>
            <p:cNvPr id="7" name="Straight Arrow Connector 6"/>
            <p:cNvCxnSpPr>
              <a:endCxn id="31" idx="6"/>
            </p:cNvCxnSpPr>
            <p:nvPr/>
          </p:nvCxnSpPr>
          <p:spPr>
            <a:xfrm flipH="1">
              <a:off x="2263140" y="1714500"/>
              <a:ext cx="783103" cy="455633"/>
            </a:xfrm>
            <a:prstGeom prst="straightConnector1">
              <a:avLst/>
            </a:prstGeom>
            <a:ln>
              <a:solidFill>
                <a:schemeClr val="tx1"/>
              </a:solidFill>
              <a:tailEnd type="non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52002466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b="1" dirty="0"/>
              <a:t>Graph Management Algorithms</a:t>
            </a:r>
            <a:r>
              <a:rPr lang="en-IN" b="1" dirty="0" smtClean="0"/>
              <a:t>:</a:t>
            </a:r>
          </a:p>
          <a:p>
            <a:pPr>
              <a:buFont typeface="Wingdings" panose="05000000000000000000" pitchFamily="2" charset="2"/>
              <a:buChar char="v"/>
            </a:pPr>
            <a:r>
              <a:rPr lang="en-IN" b="1" dirty="0" smtClean="0"/>
              <a:t>Graph Matching</a:t>
            </a:r>
          </a:p>
          <a:p>
            <a:pPr lvl="1">
              <a:buFont typeface="Wingdings" panose="05000000000000000000" pitchFamily="2" charset="2"/>
              <a:buChar char="v"/>
            </a:pPr>
            <a:r>
              <a:rPr lang="en-IN" sz="2400" dirty="0" smtClean="0"/>
              <a:t>Finding </a:t>
            </a:r>
            <a:r>
              <a:rPr lang="en-IN" sz="2400" b="1" dirty="0"/>
              <a:t>either</a:t>
            </a:r>
            <a:r>
              <a:rPr lang="en-IN" sz="2400" dirty="0"/>
              <a:t> an </a:t>
            </a:r>
            <a:r>
              <a:rPr lang="en-IN" sz="2400" b="1" i="1" dirty="0"/>
              <a:t>approximate</a:t>
            </a:r>
            <a:r>
              <a:rPr lang="en-IN" sz="2400" dirty="0"/>
              <a:t> or a </a:t>
            </a:r>
            <a:r>
              <a:rPr lang="en-IN" sz="2400" b="1" i="1" dirty="0"/>
              <a:t>one-to-one</a:t>
            </a:r>
            <a:r>
              <a:rPr lang="en-IN" sz="2400" dirty="0"/>
              <a:t> correspondence among the nodes of the two graphs.</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The </a:t>
            </a:r>
            <a:r>
              <a:rPr lang="en-IN" dirty="0">
                <a:latin typeface="Arial" panose="020B0604020202020204" pitchFamily="34" charset="0"/>
                <a:cs typeface="Arial" panose="020B0604020202020204" pitchFamily="34" charset="0"/>
              </a:rPr>
              <a:t>labels on the nodes in the two graphs should be the same.</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The </a:t>
            </a:r>
            <a:r>
              <a:rPr lang="en-IN" dirty="0">
                <a:latin typeface="Arial" panose="020B0604020202020204" pitchFamily="34" charset="0"/>
                <a:cs typeface="Arial" panose="020B0604020202020204" pitchFamily="34" charset="0"/>
              </a:rPr>
              <a:t>existence of edges between corresponding nodes in the two graphs should match each other. </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The </a:t>
            </a:r>
            <a:r>
              <a:rPr lang="en-IN" dirty="0">
                <a:latin typeface="Arial" panose="020B0604020202020204" pitchFamily="34" charset="0"/>
                <a:cs typeface="Arial" panose="020B0604020202020204" pitchFamily="34" charset="0"/>
              </a:rPr>
              <a:t>labels on the edges in the two graphs should match each other</a:t>
            </a:r>
            <a:r>
              <a:rPr lang="en-IN" dirty="0" smtClean="0">
                <a:latin typeface="Arial" panose="020B0604020202020204" pitchFamily="34" charset="0"/>
                <a:cs typeface="Arial" panose="020B0604020202020204" pitchFamily="34" charset="0"/>
              </a:rPr>
              <a:t>.</a:t>
            </a:r>
          </a:p>
          <a:p>
            <a:pPr lvl="1">
              <a:buFont typeface="Wingdings" panose="05000000000000000000" pitchFamily="2" charset="2"/>
              <a:buChar char="v"/>
            </a:pPr>
            <a:endParaRPr lang="en-IN"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Tree>
    <p:extLst>
      <p:ext uri="{BB962C8B-B14F-4D97-AF65-F5344CB8AC3E}">
        <p14:creationId xmlns:p14="http://schemas.microsoft.com/office/powerpoint/2010/main" val="1617517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b="1" dirty="0"/>
              <a:t>Graph Management Algorithms</a:t>
            </a:r>
            <a:r>
              <a:rPr lang="en-IN" b="1" dirty="0" smtClean="0"/>
              <a:t>:</a:t>
            </a:r>
          </a:p>
          <a:p>
            <a:pPr>
              <a:buFont typeface="Wingdings" panose="05000000000000000000" pitchFamily="2" charset="2"/>
              <a:buChar char="v"/>
            </a:pPr>
            <a:r>
              <a:rPr lang="en-IN" b="1" dirty="0" smtClean="0"/>
              <a:t>Graph Matching</a:t>
            </a:r>
          </a:p>
          <a:p>
            <a:pPr lvl="1">
              <a:buFont typeface="Wingdings" panose="05000000000000000000" pitchFamily="2" charset="2"/>
              <a:buChar char="v"/>
            </a:pPr>
            <a:r>
              <a:rPr lang="en-IN" sz="2400" b="1" dirty="0" smtClean="0"/>
              <a:t>Exact </a:t>
            </a:r>
            <a:r>
              <a:rPr lang="en-IN" sz="2400" b="1" dirty="0"/>
              <a:t>graph </a:t>
            </a:r>
            <a:r>
              <a:rPr lang="en-IN" sz="2400" b="1" dirty="0" smtClean="0"/>
              <a:t>matching</a:t>
            </a:r>
            <a:endParaRPr lang="en-IN" sz="2400" dirty="0"/>
          </a:p>
          <a:p>
            <a:pPr lvl="2">
              <a:buFont typeface="Wingdings" panose="05000000000000000000" pitchFamily="2" charset="2"/>
              <a:buChar char="v"/>
            </a:pPr>
            <a:r>
              <a:rPr lang="en-IN" b="1" i="1" dirty="0" smtClean="0">
                <a:latin typeface="Arial" panose="020B0604020202020204" pitchFamily="34" charset="0"/>
                <a:cs typeface="Arial" panose="020B0604020202020204" pitchFamily="34" charset="0"/>
              </a:rPr>
              <a:t>Exact </a:t>
            </a:r>
            <a:r>
              <a:rPr lang="en-IN" b="1" i="1" dirty="0">
                <a:latin typeface="Arial" panose="020B0604020202020204" pitchFamily="34" charset="0"/>
                <a:cs typeface="Arial" panose="020B0604020202020204" pitchFamily="34" charset="0"/>
              </a:rPr>
              <a:t>matching may not be feasible</a:t>
            </a:r>
            <a:r>
              <a:rPr lang="en-IN" dirty="0">
                <a:latin typeface="Arial" panose="020B0604020202020204" pitchFamily="34" charset="0"/>
                <a:cs typeface="Arial" panose="020B0604020202020204" pitchFamily="34" charset="0"/>
              </a:rPr>
              <a:t>, The problem of exact graph matching is closely related to that of graph isomorphism.</a:t>
            </a:r>
          </a:p>
          <a:p>
            <a:pPr lvl="1">
              <a:buFont typeface="Wingdings" panose="05000000000000000000" pitchFamily="2" charset="2"/>
              <a:buChar char="v"/>
            </a:pPr>
            <a:r>
              <a:rPr lang="en-IN" sz="2400" b="1" dirty="0" smtClean="0"/>
              <a:t>Inexact </a:t>
            </a:r>
            <a:r>
              <a:rPr lang="en-IN" sz="2400" b="1" dirty="0"/>
              <a:t>graph </a:t>
            </a:r>
            <a:r>
              <a:rPr lang="en-IN" sz="2400" b="1" dirty="0" smtClean="0"/>
              <a:t>matching</a:t>
            </a:r>
            <a:endParaRPr lang="en-IN" sz="2400" dirty="0"/>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Finding </a:t>
            </a:r>
            <a:r>
              <a:rPr lang="en-IN" dirty="0">
                <a:latin typeface="Arial" panose="020B0604020202020204" pitchFamily="34" charset="0"/>
                <a:cs typeface="Arial" panose="020B0604020202020204" pitchFamily="34" charset="0"/>
              </a:rPr>
              <a:t>the maximal common subgraph in which we attempt to match the maximum number of nodes between the two graphs.</a:t>
            </a:r>
          </a:p>
          <a:p>
            <a:pPr lvl="1">
              <a:buFont typeface="Wingdings" panose="05000000000000000000" pitchFamily="2" charset="2"/>
              <a:buChar char="v"/>
            </a:pPr>
            <a:r>
              <a:rPr lang="en-IN" sz="2400" dirty="0"/>
              <a:t>Most variants of the graph matching problem are well known to be </a:t>
            </a:r>
            <a:r>
              <a:rPr lang="en-IN" sz="2400" b="1" i="1" dirty="0"/>
              <a:t>NP-hard</a:t>
            </a:r>
            <a:r>
              <a:rPr lang="en-IN" sz="2400" dirty="0"/>
              <a:t>.</a:t>
            </a:r>
            <a:endParaRPr lang="en-IN" sz="2400" dirty="0" smtClean="0"/>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Tree>
    <p:extLst>
      <p:ext uri="{BB962C8B-B14F-4D97-AF65-F5344CB8AC3E}">
        <p14:creationId xmlns:p14="http://schemas.microsoft.com/office/powerpoint/2010/main" val="2307554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b="1" dirty="0"/>
              <a:t>Graph Management Algorithms</a:t>
            </a:r>
            <a:r>
              <a:rPr lang="en-IN" b="1" dirty="0" smtClean="0"/>
              <a:t>:</a:t>
            </a:r>
          </a:p>
          <a:p>
            <a:pPr>
              <a:buFont typeface="Wingdings" panose="05000000000000000000" pitchFamily="2" charset="2"/>
              <a:buChar char="v"/>
            </a:pPr>
            <a:r>
              <a:rPr lang="en-IN" b="1" dirty="0" smtClean="0"/>
              <a:t>Graph Matching</a:t>
            </a:r>
          </a:p>
          <a:p>
            <a:pPr lvl="1">
              <a:buFont typeface="Wingdings" panose="05000000000000000000" pitchFamily="2" charset="2"/>
              <a:buChar char="v"/>
            </a:pPr>
            <a:r>
              <a:rPr lang="en-IN" sz="2400" b="1" dirty="0" smtClean="0"/>
              <a:t>Inexact </a:t>
            </a:r>
            <a:r>
              <a:rPr lang="en-IN" sz="2400" b="1" dirty="0"/>
              <a:t>graph </a:t>
            </a:r>
            <a:r>
              <a:rPr lang="en-IN" sz="2400" b="1" dirty="0" smtClean="0"/>
              <a:t>matching</a:t>
            </a:r>
            <a:endParaRPr lang="en-IN" sz="2400" dirty="0"/>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A </a:t>
            </a:r>
            <a:r>
              <a:rPr lang="en-IN" sz="2000" dirty="0">
                <a:latin typeface="Arial" panose="020B0604020202020204" pitchFamily="34" charset="0"/>
                <a:cs typeface="Arial" panose="020B0604020202020204" pitchFamily="34" charset="0"/>
              </a:rPr>
              <a:t>method </a:t>
            </a:r>
            <a:r>
              <a:rPr lang="en-IN" sz="2000" dirty="0" smtClean="0">
                <a:latin typeface="Arial" panose="020B0604020202020204" pitchFamily="34" charset="0"/>
                <a:cs typeface="Arial" panose="020B0604020202020204" pitchFamily="34" charset="0"/>
              </a:rPr>
              <a:t>of </a:t>
            </a:r>
            <a:r>
              <a:rPr lang="en-IN" sz="2000" b="1" i="1" dirty="0" smtClean="0">
                <a:latin typeface="Arial" panose="020B0604020202020204" pitchFamily="34" charset="0"/>
                <a:cs typeface="Arial" panose="020B0604020202020204" pitchFamily="34" charset="0"/>
              </a:rPr>
              <a:t>edit distance </a:t>
            </a:r>
            <a:r>
              <a:rPr lang="en-IN" sz="2000" dirty="0" smtClean="0">
                <a:latin typeface="Arial" panose="020B0604020202020204" pitchFamily="34" charset="0"/>
                <a:cs typeface="Arial" panose="020B0604020202020204" pitchFamily="34" charset="0"/>
              </a:rPr>
              <a:t>is </a:t>
            </a:r>
            <a:r>
              <a:rPr lang="en-IN" sz="2000" dirty="0">
                <a:latin typeface="Arial" panose="020B0604020202020204" pitchFamily="34" charset="0"/>
                <a:cs typeface="Arial" panose="020B0604020202020204" pitchFamily="34" charset="0"/>
              </a:rPr>
              <a:t>required in order to quantify these errors and the closeness between the different graphs.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graph </a:t>
            </a:r>
            <a:r>
              <a:rPr lang="en-IN" sz="2000" b="1" i="1" dirty="0">
                <a:latin typeface="Arial" panose="020B0604020202020204" pitchFamily="34" charset="0"/>
                <a:cs typeface="Arial" panose="020B0604020202020204" pitchFamily="34" charset="0"/>
              </a:rPr>
              <a:t>edit distance</a:t>
            </a:r>
            <a:r>
              <a:rPr lang="en-IN" sz="2000" dirty="0">
                <a:latin typeface="Arial" panose="020B0604020202020204" pitchFamily="34" charset="0"/>
                <a:cs typeface="Arial" panose="020B0604020202020204" pitchFamily="34" charset="0"/>
              </a:rPr>
              <a:t> determines the distance between two graphs by measuring the cost of the edits required to transform one graph to the other.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These </a:t>
            </a:r>
            <a:r>
              <a:rPr lang="en-IN" sz="2000" dirty="0">
                <a:latin typeface="Arial" panose="020B0604020202020204" pitchFamily="34" charset="0"/>
                <a:cs typeface="Arial" panose="020B0604020202020204" pitchFamily="34" charset="0"/>
              </a:rPr>
              <a:t>edits may be node or edge </a:t>
            </a:r>
            <a:r>
              <a:rPr lang="en-IN" sz="2000" i="1" dirty="0">
                <a:latin typeface="Arial" panose="020B0604020202020204" pitchFamily="34" charset="0"/>
                <a:cs typeface="Arial" panose="020B0604020202020204" pitchFamily="34" charset="0"/>
              </a:rPr>
              <a:t>insertions, deletions or substitutions</a:t>
            </a:r>
            <a:r>
              <a:rPr lang="en-IN" sz="2000" dirty="0">
                <a:latin typeface="Arial" panose="020B0604020202020204" pitchFamily="34" charset="0"/>
                <a:cs typeface="Arial" panose="020B0604020202020204" pitchFamily="34" charset="0"/>
              </a:rPr>
              <a:t>.</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concept of </a:t>
            </a:r>
            <a:r>
              <a:rPr lang="en-IN" sz="2000" b="1" i="1" dirty="0">
                <a:latin typeface="Arial" panose="020B0604020202020204" pitchFamily="34" charset="0"/>
                <a:cs typeface="Arial" panose="020B0604020202020204" pitchFamily="34" charset="0"/>
              </a:rPr>
              <a:t>graph edit distance</a:t>
            </a:r>
            <a:r>
              <a:rPr lang="en-IN" sz="2000" dirty="0">
                <a:latin typeface="Arial" panose="020B0604020202020204" pitchFamily="34" charset="0"/>
                <a:cs typeface="Arial" panose="020B0604020202020204" pitchFamily="34" charset="0"/>
              </a:rPr>
              <a:t> is closely related to that of finding a </a:t>
            </a:r>
            <a:r>
              <a:rPr lang="en-IN" sz="2000" i="1" dirty="0">
                <a:latin typeface="Arial" panose="020B0604020202020204" pitchFamily="34" charset="0"/>
                <a:cs typeface="Arial" panose="020B0604020202020204" pitchFamily="34" charset="0"/>
              </a:rPr>
              <a:t>maximum common </a:t>
            </a:r>
            <a:r>
              <a:rPr lang="en-IN" sz="2000" i="1" dirty="0" smtClean="0">
                <a:latin typeface="Arial" panose="020B0604020202020204" pitchFamily="34" charset="0"/>
                <a:cs typeface="Arial" panose="020B0604020202020204" pitchFamily="34" charset="0"/>
              </a:rPr>
              <a:t>subgraph.</a:t>
            </a:r>
            <a:endParaRPr lang="en-IN" sz="2000" i="1" dirty="0" smtClean="0"/>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Tree>
    <p:extLst>
      <p:ext uri="{BB962C8B-B14F-4D97-AF65-F5344CB8AC3E}">
        <p14:creationId xmlns:p14="http://schemas.microsoft.com/office/powerpoint/2010/main" val="29253498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b="1" dirty="0"/>
              <a:t>Graph Management Algorithms</a:t>
            </a:r>
            <a:r>
              <a:rPr lang="en-IN" b="1" dirty="0" smtClean="0"/>
              <a:t>:</a:t>
            </a:r>
          </a:p>
          <a:p>
            <a:pPr>
              <a:buFont typeface="Wingdings" panose="05000000000000000000" pitchFamily="2" charset="2"/>
              <a:buChar char="v"/>
            </a:pPr>
            <a:r>
              <a:rPr lang="en-IN" b="1" dirty="0" smtClean="0"/>
              <a:t>Keyword Search</a:t>
            </a:r>
          </a:p>
          <a:p>
            <a:pPr lvl="1">
              <a:buFont typeface="Wingdings" panose="05000000000000000000" pitchFamily="2" charset="2"/>
              <a:buChar char="v"/>
            </a:pPr>
            <a:r>
              <a:rPr lang="en-IN" sz="2400" dirty="0" smtClean="0"/>
              <a:t>Determine </a:t>
            </a:r>
            <a:r>
              <a:rPr lang="en-IN" sz="2400" dirty="0"/>
              <a:t>small groups of link-connected nodes which are related to a particular keyword</a:t>
            </a:r>
            <a:r>
              <a:rPr lang="en-IN" sz="2400" dirty="0" smtClean="0"/>
              <a:t>. </a:t>
            </a:r>
          </a:p>
          <a:p>
            <a:pPr lvl="1">
              <a:buFont typeface="Wingdings" panose="05000000000000000000" pitchFamily="2" charset="2"/>
              <a:buChar char="v"/>
            </a:pPr>
            <a:r>
              <a:rPr lang="en-IN" sz="2400" dirty="0" smtClean="0"/>
              <a:t>It provides </a:t>
            </a:r>
            <a:r>
              <a:rPr lang="en-IN" sz="2400" dirty="0"/>
              <a:t>a simple but user-friendly interface for information retrieval on the </a:t>
            </a:r>
            <a:r>
              <a:rPr lang="en-IN" sz="2400" dirty="0" smtClean="0"/>
              <a:t>Web.</a:t>
            </a:r>
            <a:endParaRPr lang="en-IN" sz="2400" dirty="0"/>
          </a:p>
          <a:p>
            <a:pPr lvl="1">
              <a:buFont typeface="Wingdings" panose="05000000000000000000" pitchFamily="2" charset="2"/>
              <a:buChar char="v"/>
            </a:pPr>
            <a:r>
              <a:rPr lang="en-IN" sz="2400" dirty="0"/>
              <a:t>Because the underlying data assumes a graph structure, keyword search becomes much more complex than traditional keyword search over documents. </a:t>
            </a:r>
            <a:endParaRPr lang="en-IN" sz="2400" dirty="0" smtClean="0"/>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Tree>
    <p:extLst>
      <p:ext uri="{BB962C8B-B14F-4D97-AF65-F5344CB8AC3E}">
        <p14:creationId xmlns:p14="http://schemas.microsoft.com/office/powerpoint/2010/main" val="1317835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marL="457200" lvl="1" indent="0">
              <a:buNone/>
            </a:pPr>
            <a:r>
              <a:rPr lang="en-IN" sz="2000" dirty="0" smtClean="0"/>
              <a:t>The </a:t>
            </a:r>
            <a:r>
              <a:rPr lang="en-IN" sz="2000" dirty="0"/>
              <a:t>challenges lie in three aspects:</a:t>
            </a:r>
          </a:p>
          <a:p>
            <a:pPr lvl="1">
              <a:buFont typeface="Wingdings" panose="05000000000000000000" pitchFamily="2" charset="2"/>
              <a:buChar char="v"/>
            </a:pPr>
            <a:r>
              <a:rPr lang="en-IN" sz="2000" b="1" dirty="0"/>
              <a:t>Query </a:t>
            </a:r>
            <a:r>
              <a:rPr lang="en-IN" sz="2000" b="1" dirty="0" smtClean="0"/>
              <a:t>semantics:</a:t>
            </a:r>
            <a:endParaRPr lang="en-IN" sz="2000" b="1" dirty="0"/>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Keyword search over a set of text documents has very clear semantics. A document satisfies a keyword query if it contains every keyword in the query and return subgraphs as answers.</a:t>
            </a:r>
          </a:p>
          <a:p>
            <a:pPr lvl="1">
              <a:buFont typeface="Wingdings" panose="05000000000000000000" pitchFamily="2" charset="2"/>
              <a:buChar char="v"/>
            </a:pPr>
            <a:r>
              <a:rPr lang="en-IN" sz="2000" b="1" dirty="0"/>
              <a:t>Ranking </a:t>
            </a:r>
            <a:r>
              <a:rPr lang="en-IN" sz="2000" b="1" dirty="0" smtClean="0"/>
              <a:t>strategy:</a:t>
            </a:r>
            <a:endParaRPr lang="en-IN" sz="2000" b="1" dirty="0"/>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For a given keyword query, it is likely that many subgraphs will satisfy the query we must take the graph structure into </a:t>
            </a:r>
            <a:r>
              <a:rPr lang="en-IN" sz="2000" dirty="0" smtClean="0">
                <a:latin typeface="Arial" panose="020B0604020202020204" pitchFamily="34" charset="0"/>
                <a:cs typeface="Arial" panose="020B0604020202020204" pitchFamily="34" charset="0"/>
              </a:rPr>
              <a:t>consideration and </a:t>
            </a:r>
            <a:r>
              <a:rPr lang="en-IN" sz="2000" dirty="0">
                <a:latin typeface="Arial" panose="020B0604020202020204" pitchFamily="34" charset="0"/>
                <a:cs typeface="Arial" panose="020B0604020202020204" pitchFamily="34" charset="0"/>
              </a:rPr>
              <a:t>design ranking strategies that find most meaningful and relevant answers.</a:t>
            </a:r>
          </a:p>
          <a:p>
            <a:pPr lvl="1">
              <a:buFont typeface="Wingdings" panose="05000000000000000000" pitchFamily="2" charset="2"/>
              <a:buChar char="v"/>
            </a:pPr>
            <a:r>
              <a:rPr lang="en-IN" sz="2000" b="1" dirty="0"/>
              <a:t>Query </a:t>
            </a:r>
            <a:r>
              <a:rPr lang="en-IN" sz="2000" b="1" dirty="0" smtClean="0"/>
              <a:t>efficiency:</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Many </a:t>
            </a:r>
            <a:r>
              <a:rPr lang="en-IN" sz="2000" dirty="0">
                <a:latin typeface="Arial" panose="020B0604020202020204" pitchFamily="34" charset="0"/>
                <a:cs typeface="Arial" panose="020B0604020202020204" pitchFamily="34" charset="0"/>
              </a:rPr>
              <a:t>real life graphs are extremely large. A major challenge for keyword search over graph data is query efficiency, which, to a large extent, hinges on the semantics of the query and the ranking strategy.</a:t>
            </a:r>
          </a:p>
          <a:p>
            <a:pPr lvl="1">
              <a:buFont typeface="Wingdings" panose="05000000000000000000" pitchFamily="2" charset="2"/>
              <a:buChar char="v"/>
            </a:pPr>
            <a:endParaRPr lang="en-IN" sz="2000" dirty="0" smtClean="0"/>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Tree>
    <p:extLst>
      <p:ext uri="{BB962C8B-B14F-4D97-AF65-F5344CB8AC3E}">
        <p14:creationId xmlns:p14="http://schemas.microsoft.com/office/powerpoint/2010/main" val="45618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sz="2000" dirty="0"/>
              <a:t>Graph Management Algorithms</a:t>
            </a:r>
            <a:r>
              <a:rPr lang="en-IN" sz="2000" dirty="0" smtClean="0"/>
              <a:t>:</a:t>
            </a:r>
          </a:p>
          <a:p>
            <a:pPr>
              <a:buFont typeface="Wingdings" panose="05000000000000000000" pitchFamily="2" charset="2"/>
              <a:buChar char="v"/>
            </a:pPr>
            <a:r>
              <a:rPr lang="en-IN" sz="2000" b="1" dirty="0"/>
              <a:t>Synopsis Construction of Massive </a:t>
            </a:r>
            <a:r>
              <a:rPr lang="en-IN" sz="2000" b="1" dirty="0" smtClean="0"/>
              <a:t>Graphs</a:t>
            </a:r>
          </a:p>
          <a:p>
            <a:pPr marL="914400" lvl="1" indent="-457200">
              <a:buFont typeface="+mj-lt"/>
              <a:buAutoNum type="alphaLcParenR"/>
            </a:pPr>
            <a:r>
              <a:rPr lang="en-IN" sz="2000" dirty="0" smtClean="0"/>
              <a:t>The graph on which we will work is </a:t>
            </a:r>
            <a:r>
              <a:rPr lang="en-IN" sz="2000" b="1" dirty="0" smtClean="0"/>
              <a:t>a very large graph</a:t>
            </a:r>
            <a:r>
              <a:rPr lang="en-IN" sz="2000" dirty="0" smtClean="0"/>
              <a:t>, which may not be available of the in the primary memory and can only be available on </a:t>
            </a:r>
            <a:r>
              <a:rPr lang="en-IN" sz="2000" b="1" dirty="0" smtClean="0"/>
              <a:t>disk</a:t>
            </a:r>
            <a:r>
              <a:rPr lang="en-IN" sz="2000" dirty="0" smtClean="0"/>
              <a:t>.</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In this </a:t>
            </a:r>
            <a:r>
              <a:rPr lang="en-IN" sz="2000" dirty="0">
                <a:latin typeface="Arial" panose="020B0604020202020204" pitchFamily="34" charset="0"/>
                <a:cs typeface="Arial" panose="020B0604020202020204" pitchFamily="34" charset="0"/>
              </a:rPr>
              <a:t>case the applications which access the edges in random order may be extremely expensive.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 A typical technique which may </a:t>
            </a:r>
            <a:r>
              <a:rPr lang="en-IN" sz="2000" dirty="0" smtClean="0">
                <a:latin typeface="Arial" panose="020B0604020202020204" pitchFamily="34" charset="0"/>
                <a:cs typeface="Arial" panose="020B0604020202020204" pitchFamily="34" charset="0"/>
              </a:rPr>
              <a:t>be </a:t>
            </a:r>
            <a:r>
              <a:rPr lang="en-IN" sz="2000" dirty="0">
                <a:latin typeface="Arial" panose="020B0604020202020204" pitchFamily="34" charset="0"/>
                <a:cs typeface="Arial" panose="020B0604020202020204" pitchFamily="34" charset="0"/>
              </a:rPr>
              <a:t>used is </a:t>
            </a:r>
            <a:r>
              <a:rPr lang="en-IN" sz="2000" dirty="0" smtClean="0">
                <a:latin typeface="Arial" panose="020B0604020202020204" pitchFamily="34" charset="0"/>
                <a:cs typeface="Arial" panose="020B0604020202020204" pitchFamily="34" charset="0"/>
              </a:rPr>
              <a:t>a </a:t>
            </a:r>
            <a:r>
              <a:rPr lang="en-IN" sz="2000" b="1" i="1" dirty="0">
                <a:latin typeface="Arial" panose="020B0604020202020204" pitchFamily="34" charset="0"/>
                <a:cs typeface="Arial" panose="020B0604020202020204" pitchFamily="34" charset="0"/>
              </a:rPr>
              <a:t>synopsis construction technique</a:t>
            </a:r>
            <a:r>
              <a:rPr lang="en-IN" sz="2000" dirty="0">
                <a:latin typeface="Arial" panose="020B0604020202020204" pitchFamily="34" charset="0"/>
                <a:cs typeface="Arial" panose="020B0604020202020204" pitchFamily="34" charset="0"/>
              </a:rPr>
              <a:t>, which summarizes the graph in a much smaller space, but retains sufficient information in order to effectively respond to </a:t>
            </a:r>
            <a:r>
              <a:rPr lang="en-IN" sz="2000" dirty="0" smtClean="0">
                <a:latin typeface="Arial" panose="020B0604020202020204" pitchFamily="34" charset="0"/>
                <a:cs typeface="Arial" panose="020B0604020202020204" pitchFamily="34" charset="0"/>
              </a:rPr>
              <a:t>queries, by using either </a:t>
            </a:r>
            <a:r>
              <a:rPr lang="en-IN" sz="2000" b="1" dirty="0">
                <a:latin typeface="Arial" panose="020B0604020202020204" pitchFamily="34" charset="0"/>
                <a:cs typeface="Arial" panose="020B0604020202020204" pitchFamily="34" charset="0"/>
              </a:rPr>
              <a:t>node or edge contractions</a:t>
            </a:r>
            <a:r>
              <a:rPr lang="en-IN" sz="2000" dirty="0">
                <a:latin typeface="Arial" panose="020B0604020202020204" pitchFamily="34" charset="0"/>
                <a:cs typeface="Arial" panose="020B0604020202020204" pitchFamily="34" charset="0"/>
              </a:rPr>
              <a:t>.</a:t>
            </a:r>
            <a:endParaRPr lang="en-IN" sz="20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Tree>
    <p:extLst>
      <p:ext uri="{BB962C8B-B14F-4D97-AF65-F5344CB8AC3E}">
        <p14:creationId xmlns:p14="http://schemas.microsoft.com/office/powerpoint/2010/main" val="33781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sz="2000" dirty="0"/>
              <a:t>Graph Management Algorithms</a:t>
            </a:r>
            <a:r>
              <a:rPr lang="en-IN" sz="2000" dirty="0" smtClean="0"/>
              <a:t>:</a:t>
            </a:r>
          </a:p>
          <a:p>
            <a:pPr>
              <a:buFont typeface="Wingdings" panose="05000000000000000000" pitchFamily="2" charset="2"/>
              <a:buChar char="v"/>
            </a:pPr>
            <a:r>
              <a:rPr lang="en-IN" sz="2000" b="1" dirty="0"/>
              <a:t>Synopsis Construction of Massive </a:t>
            </a:r>
            <a:r>
              <a:rPr lang="en-IN" sz="2000" b="1" dirty="0" smtClean="0"/>
              <a:t>Graphs</a:t>
            </a:r>
          </a:p>
          <a:p>
            <a:pPr marL="914400" lvl="1" indent="-457200">
              <a:buFont typeface="+mj-lt"/>
              <a:buAutoNum type="alphaLcParenR" startAt="2"/>
            </a:pPr>
            <a:r>
              <a:rPr lang="en-IN" sz="2000" dirty="0" smtClean="0"/>
              <a:t>The second situation can be with mining </a:t>
            </a:r>
            <a:r>
              <a:rPr lang="en-IN" sz="2000" b="1" i="1" dirty="0" smtClean="0"/>
              <a:t>Graph Stream</a:t>
            </a:r>
            <a:r>
              <a:rPr lang="en-IN" sz="2000" b="1" i="1" dirty="0"/>
              <a:t>. </a:t>
            </a:r>
            <a:endParaRPr lang="en-IN" sz="2000" b="1" i="1" dirty="0" smtClean="0"/>
          </a:p>
          <a:p>
            <a:pPr marL="1314450" lvl="2" indent="-457200">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edges of the graph are received continuously over time, as in social networks, communication networks, and web log analysis</a:t>
            </a:r>
            <a:r>
              <a:rPr lang="en-IN" sz="2000" dirty="0" smtClean="0">
                <a:latin typeface="Arial" panose="020B0604020202020204" pitchFamily="34" charset="0"/>
                <a:cs typeface="Arial" panose="020B0604020202020204" pitchFamily="34" charset="0"/>
              </a:rPr>
              <a:t>.</a:t>
            </a:r>
          </a:p>
          <a:p>
            <a:pPr marL="1314450" lvl="2" indent="-457200">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Graph </a:t>
            </a:r>
            <a:r>
              <a:rPr lang="en-IN" sz="2000" dirty="0">
                <a:latin typeface="Arial" panose="020B0604020202020204" pitchFamily="34" charset="0"/>
                <a:cs typeface="Arial" panose="020B0604020202020204" pitchFamily="34" charset="0"/>
              </a:rPr>
              <a:t>streams are very challenging to mine, because the structure of the graph needs to be mined in real time</a:t>
            </a:r>
            <a:r>
              <a:rPr lang="en-IN" sz="2000" dirty="0" smtClean="0">
                <a:latin typeface="Arial" panose="020B0604020202020204" pitchFamily="34" charset="0"/>
                <a:cs typeface="Arial" panose="020B0604020202020204" pitchFamily="34" charset="0"/>
              </a:rPr>
              <a:t>.</a:t>
            </a:r>
          </a:p>
          <a:p>
            <a:pPr marL="1314450" lvl="2" indent="-457200">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We summarize the graph in such a way that the </a:t>
            </a:r>
            <a:r>
              <a:rPr lang="en-IN" sz="2000" b="1" dirty="0" smtClean="0">
                <a:latin typeface="Arial" panose="020B0604020202020204" pitchFamily="34" charset="0"/>
                <a:cs typeface="Arial" panose="020B0604020202020204" pitchFamily="34" charset="0"/>
              </a:rPr>
              <a:t>underlying distance is preserved. </a:t>
            </a:r>
            <a:endParaRPr lang="en-IN" sz="2000" b="1" dirty="0">
              <a:latin typeface="Arial" panose="020B0604020202020204" pitchFamily="34" charset="0"/>
              <a:cs typeface="Arial" panose="020B0604020202020204" pitchFamily="34" charset="0"/>
            </a:endParaRPr>
          </a:p>
          <a:p>
            <a:pPr marL="914400" lvl="1" indent="-457200">
              <a:buFont typeface="+mj-lt"/>
              <a:buAutoNum type="alphaLcParenR" startAt="2"/>
            </a:pPr>
            <a:endParaRPr lang="en-IN" sz="2000" dirty="0" smtClean="0"/>
          </a:p>
        </p:txBody>
      </p:sp>
      <p:sp>
        <p:nvSpPr>
          <p:cNvPr id="3" name="Content Placeholder 2"/>
          <p:cNvSpPr>
            <a:spLocks noGrp="1"/>
          </p:cNvSpPr>
          <p:nvPr>
            <p:ph sz="quarter" idx="10"/>
          </p:nvPr>
        </p:nvSpPr>
        <p:spPr>
          <a:xfrm>
            <a:off x="304800" y="152400"/>
            <a:ext cx="6629400" cy="1143000"/>
          </a:xfrm>
        </p:spPr>
        <p:txBody>
          <a:bodyPr/>
          <a:lstStyle/>
          <a:p>
            <a:r>
              <a:rPr lang="en-IN" dirty="0"/>
              <a:t>Graph Management Algorithms</a:t>
            </a:r>
          </a:p>
        </p:txBody>
      </p:sp>
    </p:spTree>
    <p:extLst>
      <p:ext uri="{BB962C8B-B14F-4D97-AF65-F5344CB8AC3E}">
        <p14:creationId xmlns:p14="http://schemas.microsoft.com/office/powerpoint/2010/main" val="9947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b="1" dirty="0"/>
              <a:t>Graph </a:t>
            </a:r>
            <a:r>
              <a:rPr lang="en-IN" b="1" dirty="0" smtClean="0"/>
              <a:t>Mining Algorithms:</a:t>
            </a:r>
          </a:p>
          <a:p>
            <a:pPr lvl="1">
              <a:buFont typeface="Wingdings" panose="05000000000000000000" pitchFamily="2" charset="2"/>
              <a:buChar char="v"/>
            </a:pPr>
            <a:r>
              <a:rPr lang="en-IN" sz="2000" dirty="0" smtClean="0"/>
              <a:t>Are more </a:t>
            </a:r>
            <a:r>
              <a:rPr lang="en-IN" sz="2000" dirty="0"/>
              <a:t>challenging to implement </a:t>
            </a:r>
            <a:r>
              <a:rPr lang="en-IN" sz="2000" dirty="0" smtClean="0"/>
              <a:t>due to additional </a:t>
            </a:r>
            <a:r>
              <a:rPr lang="en-IN" sz="2000" dirty="0"/>
              <a:t>constraints which arise from the structural nature of the underlying graph.</a:t>
            </a:r>
            <a:endParaRPr lang="en-IN" sz="2000" dirty="0" smtClean="0"/>
          </a:p>
          <a:p>
            <a:pPr lvl="1">
              <a:buFont typeface="Wingdings" panose="05000000000000000000" pitchFamily="2" charset="2"/>
              <a:buChar char="v"/>
            </a:pPr>
            <a:r>
              <a:rPr lang="en-IN" sz="2000" b="1" dirty="0" smtClean="0"/>
              <a:t>Frequent </a:t>
            </a:r>
            <a:r>
              <a:rPr lang="en-IN" sz="2000" b="1" dirty="0"/>
              <a:t>pattern </a:t>
            </a:r>
            <a:r>
              <a:rPr lang="en-IN" sz="2000" b="1" dirty="0" smtClean="0"/>
              <a:t>mining</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Finding subgraphs </a:t>
            </a:r>
          </a:p>
          <a:p>
            <a:pPr lvl="1">
              <a:buFont typeface="Wingdings" panose="05000000000000000000" pitchFamily="2" charset="2"/>
              <a:buChar char="v"/>
            </a:pPr>
            <a:r>
              <a:rPr lang="en-IN" sz="2000" b="1" dirty="0" smtClean="0"/>
              <a:t>Clustering</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Dense subgraph extraction</a:t>
            </a: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Graph Partitioning </a:t>
            </a: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Minimum cut problem</a:t>
            </a:r>
          </a:p>
          <a:p>
            <a:pPr lvl="1">
              <a:buFont typeface="Wingdings" panose="05000000000000000000" pitchFamily="2" charset="2"/>
              <a:buChar char="v"/>
            </a:pPr>
            <a:r>
              <a:rPr lang="en-IN" sz="2000" b="1" dirty="0" smtClean="0"/>
              <a:t>Classification</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Node labelling</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Graph labelling</a:t>
            </a:r>
          </a:p>
        </p:txBody>
      </p:sp>
      <p:sp>
        <p:nvSpPr>
          <p:cNvPr id="3" name="Content Placeholder 2"/>
          <p:cNvSpPr>
            <a:spLocks noGrp="1"/>
          </p:cNvSpPr>
          <p:nvPr>
            <p:ph sz="quarter" idx="10"/>
          </p:nvPr>
        </p:nvSpPr>
        <p:spPr>
          <a:xfrm>
            <a:off x="304800" y="152400"/>
            <a:ext cx="6629400" cy="1143000"/>
          </a:xfrm>
        </p:spPr>
        <p:txBody>
          <a:bodyPr/>
          <a:lstStyle/>
          <a:p>
            <a:r>
              <a:rPr lang="en-IN" dirty="0"/>
              <a:t>Graph </a:t>
            </a:r>
            <a:r>
              <a:rPr lang="en-IN" dirty="0" smtClean="0"/>
              <a:t>Mining </a:t>
            </a:r>
            <a:r>
              <a:rPr lang="en-IN" dirty="0"/>
              <a:t>Algorithms</a:t>
            </a:r>
          </a:p>
        </p:txBody>
      </p:sp>
    </p:spTree>
    <p:extLst>
      <p:ext uri="{BB962C8B-B14F-4D97-AF65-F5344CB8AC3E}">
        <p14:creationId xmlns:p14="http://schemas.microsoft.com/office/powerpoint/2010/main" val="326545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sz="2800" b="1" dirty="0" smtClean="0"/>
              <a:t>Frequent </a:t>
            </a:r>
            <a:r>
              <a:rPr lang="en-IN" sz="2800" b="1" dirty="0"/>
              <a:t>pattern </a:t>
            </a:r>
            <a:r>
              <a:rPr lang="en-IN" sz="2800" b="1" dirty="0" smtClean="0"/>
              <a:t>mining</a:t>
            </a:r>
          </a:p>
          <a:p>
            <a:pPr lvl="1">
              <a:buFont typeface="Wingdings" panose="05000000000000000000" pitchFamily="2" charset="2"/>
              <a:buChar char="v"/>
            </a:pPr>
            <a:r>
              <a:rPr lang="en-IN" sz="2400" dirty="0" smtClean="0"/>
              <a:t>Traditionally studied </a:t>
            </a:r>
            <a:r>
              <a:rPr lang="en-IN" sz="2400" dirty="0"/>
              <a:t>in the context of mining transactional </a:t>
            </a:r>
            <a:r>
              <a:rPr lang="en-IN" sz="2400" dirty="0" smtClean="0"/>
              <a:t>data.</a:t>
            </a:r>
          </a:p>
          <a:p>
            <a:pPr lvl="1">
              <a:buFont typeface="Wingdings" panose="05000000000000000000" pitchFamily="2" charset="2"/>
              <a:buChar char="v"/>
            </a:pPr>
            <a:r>
              <a:rPr lang="en-IN" sz="2400" dirty="0" smtClean="0"/>
              <a:t>In Graph data</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Either </a:t>
            </a:r>
            <a:r>
              <a:rPr lang="en-IN" dirty="0">
                <a:latin typeface="Arial" panose="020B0604020202020204" pitchFamily="34" charset="0"/>
                <a:cs typeface="Arial" panose="020B0604020202020204" pitchFamily="34" charset="0"/>
              </a:rPr>
              <a:t>finding all patterns which support a fraction of the corresponding </a:t>
            </a:r>
            <a:r>
              <a:rPr lang="en-IN" dirty="0" smtClean="0">
                <a:latin typeface="Arial" panose="020B0604020202020204" pitchFamily="34" charset="0"/>
                <a:cs typeface="Arial" panose="020B0604020202020204" pitchFamily="34" charset="0"/>
              </a:rPr>
              <a:t>group of graphs.</a:t>
            </a:r>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Or all patterns which are supported at least a certain number of </a:t>
            </a:r>
            <a:r>
              <a:rPr lang="en-IN" dirty="0" smtClean="0">
                <a:latin typeface="Arial" panose="020B0604020202020204" pitchFamily="34" charset="0"/>
                <a:cs typeface="Arial" panose="020B0604020202020204" pitchFamily="34" charset="0"/>
              </a:rPr>
              <a:t>times in a single large graph.</a:t>
            </a:r>
          </a:p>
          <a:p>
            <a:pPr lvl="1">
              <a:buFont typeface="Wingdings" panose="05000000000000000000" pitchFamily="2" charset="2"/>
              <a:buChar char="v"/>
            </a:pPr>
            <a:r>
              <a:rPr lang="en-IN" sz="2400" dirty="0"/>
              <a:t>In both cases, we need to account for the isomorphism issue in determining whether one graph is supported by </a:t>
            </a:r>
            <a:r>
              <a:rPr lang="en-IN" sz="2400" dirty="0" smtClean="0"/>
              <a:t>another</a:t>
            </a:r>
            <a:r>
              <a:rPr lang="en-IN" sz="2400" dirty="0"/>
              <a:t> </a:t>
            </a:r>
            <a:r>
              <a:rPr lang="en-IN" sz="2400" dirty="0" smtClean="0"/>
              <a:t>and has </a:t>
            </a:r>
            <a:r>
              <a:rPr lang="en-IN" sz="2400" dirty="0"/>
              <a:t>been found to be </a:t>
            </a:r>
            <a:r>
              <a:rPr lang="en-IN" sz="2400" dirty="0" smtClean="0"/>
              <a:t>useful </a:t>
            </a:r>
            <a:r>
              <a:rPr lang="en-IN" sz="2400" dirty="0"/>
              <a:t>in the chemical and biological domain</a:t>
            </a:r>
            <a:endParaRPr lang="en-IN" sz="2400" dirty="0" smtClean="0"/>
          </a:p>
        </p:txBody>
      </p:sp>
      <p:sp>
        <p:nvSpPr>
          <p:cNvPr id="3" name="Content Placeholder 2"/>
          <p:cNvSpPr>
            <a:spLocks noGrp="1"/>
          </p:cNvSpPr>
          <p:nvPr>
            <p:ph sz="quarter" idx="10"/>
          </p:nvPr>
        </p:nvSpPr>
        <p:spPr>
          <a:xfrm>
            <a:off x="304800" y="152400"/>
            <a:ext cx="6629400" cy="1143000"/>
          </a:xfrm>
        </p:spPr>
        <p:txBody>
          <a:bodyPr/>
          <a:lstStyle/>
          <a:p>
            <a:r>
              <a:rPr lang="en-IN" dirty="0"/>
              <a:t>Graph </a:t>
            </a:r>
            <a:r>
              <a:rPr lang="en-IN" dirty="0" smtClean="0"/>
              <a:t>Mining </a:t>
            </a:r>
            <a:r>
              <a:rPr lang="en-IN" dirty="0"/>
              <a:t>Algorithms</a:t>
            </a:r>
          </a:p>
        </p:txBody>
      </p:sp>
    </p:spTree>
    <p:extLst>
      <p:ext uri="{BB962C8B-B14F-4D97-AF65-F5344CB8AC3E}">
        <p14:creationId xmlns:p14="http://schemas.microsoft.com/office/powerpoint/2010/main" val="217648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sz="2800" b="1" dirty="0" smtClean="0"/>
              <a:t>Clustering</a:t>
            </a:r>
          </a:p>
          <a:p>
            <a:pPr lvl="1">
              <a:buFont typeface="Wingdings" panose="05000000000000000000" pitchFamily="2" charset="2"/>
              <a:buChar char="v"/>
            </a:pPr>
            <a:r>
              <a:rPr lang="en-IN" sz="2000" dirty="0"/>
              <a:t>congestion detection, </a:t>
            </a:r>
            <a:endParaRPr lang="en-IN" sz="2000" dirty="0" smtClean="0"/>
          </a:p>
          <a:p>
            <a:pPr lvl="1">
              <a:buFont typeface="Wingdings" panose="05000000000000000000" pitchFamily="2" charset="2"/>
              <a:buChar char="v"/>
            </a:pPr>
            <a:r>
              <a:rPr lang="en-IN" sz="2000" dirty="0" smtClean="0"/>
              <a:t>facility location</a:t>
            </a:r>
          </a:p>
          <a:p>
            <a:pPr lvl="1">
              <a:buFont typeface="Wingdings" panose="05000000000000000000" pitchFamily="2" charset="2"/>
              <a:buChar char="v"/>
            </a:pPr>
            <a:r>
              <a:rPr lang="en-IN" sz="2000" dirty="0" smtClean="0"/>
              <a:t>XML </a:t>
            </a:r>
            <a:r>
              <a:rPr lang="en-IN" sz="2000" dirty="0"/>
              <a:t>data </a:t>
            </a:r>
            <a:r>
              <a:rPr lang="en-IN" sz="2000" dirty="0" smtClean="0"/>
              <a:t>integration</a:t>
            </a:r>
          </a:p>
          <a:p>
            <a:pPr>
              <a:buFont typeface="Wingdings" panose="05000000000000000000" pitchFamily="2" charset="2"/>
              <a:buChar char="v"/>
            </a:pPr>
            <a:r>
              <a:rPr lang="en-IN" b="1" dirty="0"/>
              <a:t>Node Clustering Algorithms:</a:t>
            </a:r>
          </a:p>
          <a:p>
            <a:pPr lvl="1">
              <a:buFont typeface="Wingdings" panose="05000000000000000000" pitchFamily="2" charset="2"/>
              <a:buChar char="v"/>
            </a:pPr>
            <a:r>
              <a:rPr lang="en-IN" sz="2000" dirty="0" smtClean="0"/>
              <a:t>We </a:t>
            </a:r>
            <a:r>
              <a:rPr lang="en-IN" sz="2000" dirty="0"/>
              <a:t>have one large graph, and we attempt to cluster the underlying nodes with the use of a </a:t>
            </a:r>
            <a:r>
              <a:rPr lang="en-IN" sz="2000" b="1" i="1" dirty="0"/>
              <a:t>distance</a:t>
            </a:r>
            <a:r>
              <a:rPr lang="en-IN" sz="2000" dirty="0"/>
              <a:t> (or </a:t>
            </a:r>
            <a:r>
              <a:rPr lang="en-IN" sz="2000" i="1" dirty="0"/>
              <a:t>similarity</a:t>
            </a:r>
            <a:r>
              <a:rPr lang="en-IN" sz="2000" dirty="0"/>
              <a:t>) value on the edges.</a:t>
            </a:r>
          </a:p>
          <a:p>
            <a:pPr lvl="1">
              <a:buFont typeface="Wingdings" panose="05000000000000000000" pitchFamily="2" charset="2"/>
              <a:buChar char="v"/>
            </a:pPr>
            <a:r>
              <a:rPr lang="en-IN" sz="2000" dirty="0" smtClean="0"/>
              <a:t>The </a:t>
            </a:r>
            <a:r>
              <a:rPr lang="en-IN" sz="2000" dirty="0"/>
              <a:t>problem of minimizing the inter-cluster similarity for a fixed number of clusters </a:t>
            </a:r>
            <a:r>
              <a:rPr lang="en-IN" sz="2000" dirty="0" smtClean="0"/>
              <a:t>reduces </a:t>
            </a:r>
            <a:r>
              <a:rPr lang="en-IN" sz="2000" dirty="0"/>
              <a:t>to the problem of</a:t>
            </a:r>
            <a:r>
              <a:rPr lang="en-IN" sz="2000" b="1" i="1" dirty="0"/>
              <a:t> </a:t>
            </a:r>
            <a:r>
              <a:rPr lang="en-IN" sz="2000" b="1" i="1" dirty="0" smtClean="0"/>
              <a:t>multi-way graph </a:t>
            </a:r>
            <a:r>
              <a:rPr lang="en-IN" sz="2000" b="1" i="1" dirty="0"/>
              <a:t>partitioning </a:t>
            </a:r>
            <a:r>
              <a:rPr lang="en-IN" sz="2000" b="1" i="1" dirty="0" smtClean="0"/>
              <a:t>(NP-Hard) </a:t>
            </a:r>
            <a:r>
              <a:rPr lang="en-IN" sz="2000" dirty="0" smtClean="0"/>
              <a:t>or </a:t>
            </a:r>
            <a:r>
              <a:rPr lang="en-IN" sz="2000" dirty="0"/>
              <a:t>the </a:t>
            </a:r>
            <a:r>
              <a:rPr lang="en-IN" sz="2000" b="1" i="1" dirty="0"/>
              <a:t>minimum multi-way cut problem</a:t>
            </a:r>
            <a:r>
              <a:rPr lang="en-IN" sz="2000" dirty="0" smtClean="0"/>
              <a:t>.</a:t>
            </a:r>
          </a:p>
          <a:p>
            <a:pPr lvl="2">
              <a:buFont typeface="Wingdings" panose="05000000000000000000" pitchFamily="2" charset="2"/>
              <a:buChar char="v"/>
            </a:pPr>
            <a:r>
              <a:rPr lang="en-IN" sz="2000" i="1" dirty="0">
                <a:latin typeface="Arial" panose="020B0604020202020204" pitchFamily="34" charset="0"/>
                <a:cs typeface="Arial" panose="020B0604020202020204" pitchFamily="34" charset="0"/>
              </a:rPr>
              <a:t>It is desired to partition the graph in such a way so as to </a:t>
            </a:r>
            <a:r>
              <a:rPr lang="en-IN" sz="2000" b="1" i="1" dirty="0">
                <a:latin typeface="Arial" panose="020B0604020202020204" pitchFamily="34" charset="0"/>
                <a:cs typeface="Arial" panose="020B0604020202020204" pitchFamily="34" charset="0"/>
              </a:rPr>
              <a:t>minimize</a:t>
            </a:r>
            <a:r>
              <a:rPr lang="en-IN" sz="2000" i="1" dirty="0">
                <a:latin typeface="Arial" panose="020B0604020202020204" pitchFamily="34" charset="0"/>
                <a:cs typeface="Arial" panose="020B0604020202020204" pitchFamily="34" charset="0"/>
              </a:rPr>
              <a:t> the weights of the edges </a:t>
            </a:r>
            <a:r>
              <a:rPr lang="en-IN" sz="2000" b="1" i="1" dirty="0">
                <a:latin typeface="Arial" panose="020B0604020202020204" pitchFamily="34" charset="0"/>
                <a:cs typeface="Arial" panose="020B0604020202020204" pitchFamily="34" charset="0"/>
              </a:rPr>
              <a:t>across</a:t>
            </a:r>
            <a:r>
              <a:rPr lang="en-IN" sz="2000" i="1" dirty="0">
                <a:latin typeface="Arial" panose="020B0604020202020204" pitchFamily="34" charset="0"/>
                <a:cs typeface="Arial" panose="020B0604020202020204" pitchFamily="34" charset="0"/>
              </a:rPr>
              <a:t> the partitions.</a:t>
            </a:r>
          </a:p>
          <a:p>
            <a:pPr lvl="1">
              <a:buFont typeface="Wingdings" panose="05000000000000000000" pitchFamily="2" charset="2"/>
              <a:buChar char="v"/>
            </a:pPr>
            <a:r>
              <a:rPr lang="en-IN" sz="2000" dirty="0"/>
              <a:t>This is also referred to as the problem of </a:t>
            </a:r>
            <a:r>
              <a:rPr lang="en-IN" sz="2000" b="1" i="1" dirty="0"/>
              <a:t>mining dense graphs</a:t>
            </a:r>
            <a:r>
              <a:rPr lang="en-IN" sz="2000" dirty="0"/>
              <a:t> and </a:t>
            </a:r>
            <a:r>
              <a:rPr lang="en-IN" sz="2000" b="1" i="1" dirty="0"/>
              <a:t>pseudo-cliques</a:t>
            </a:r>
            <a:r>
              <a:rPr lang="en-IN" sz="2000" dirty="0" smtClean="0"/>
              <a:t>.</a:t>
            </a:r>
            <a:endParaRPr lang="en-IN" sz="2000" dirty="0"/>
          </a:p>
        </p:txBody>
      </p:sp>
      <p:sp>
        <p:nvSpPr>
          <p:cNvPr id="3" name="Content Placeholder 2"/>
          <p:cNvSpPr>
            <a:spLocks noGrp="1"/>
          </p:cNvSpPr>
          <p:nvPr>
            <p:ph sz="quarter" idx="10"/>
          </p:nvPr>
        </p:nvSpPr>
        <p:spPr>
          <a:xfrm>
            <a:off x="304800" y="152400"/>
            <a:ext cx="6629400" cy="1143000"/>
          </a:xfrm>
        </p:spPr>
        <p:txBody>
          <a:bodyPr/>
          <a:lstStyle/>
          <a:p>
            <a:r>
              <a:rPr lang="en-IN" dirty="0"/>
              <a:t>Graph </a:t>
            </a:r>
            <a:r>
              <a:rPr lang="en-IN" dirty="0" smtClean="0"/>
              <a:t>Mining </a:t>
            </a:r>
            <a:r>
              <a:rPr lang="en-IN" dirty="0"/>
              <a:t>Algorithms</a:t>
            </a:r>
          </a:p>
        </p:txBody>
      </p:sp>
      <mc:AlternateContent xmlns:mc="http://schemas.openxmlformats.org/markup-compatibility/2006" xmlns:p14="http://schemas.microsoft.com/office/powerpoint/2010/main">
        <mc:Choice Requires="p14">
          <p:contentPart p14:bwMode="auto" r:id="rId3">
            <p14:nvContentPartPr>
              <p14:cNvPr id="44" name="Ink 43"/>
              <p14:cNvContentPartPr/>
              <p14:nvPr/>
            </p14:nvContentPartPr>
            <p14:xfrm>
              <a:off x="6576394" y="5052291"/>
              <a:ext cx="11520" cy="9720"/>
            </p14:xfrm>
          </p:contentPart>
        </mc:Choice>
        <mc:Fallback xmlns="">
          <p:pic>
            <p:nvPicPr>
              <p:cNvPr id="44" name="Ink 43"/>
              <p:cNvPicPr/>
              <p:nvPr/>
            </p:nvPicPr>
            <p:blipFill>
              <a:blip r:embed="rId22"/>
              <a:stretch>
                <a:fillRect/>
              </a:stretch>
            </p:blipFill>
            <p:spPr>
              <a:xfrm>
                <a:off x="6571714" y="5047971"/>
                <a:ext cx="20160" cy="18720"/>
              </a:xfrm>
              <a:prstGeom prst="rect">
                <a:avLst/>
              </a:prstGeom>
            </p:spPr>
          </p:pic>
        </mc:Fallback>
      </mc:AlternateContent>
    </p:spTree>
    <p:extLst>
      <p:ext uri="{BB962C8B-B14F-4D97-AF65-F5344CB8AC3E}">
        <p14:creationId xmlns:p14="http://schemas.microsoft.com/office/powerpoint/2010/main" val="1467209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sz="2800" b="1" dirty="0"/>
              <a:t>Clustering</a:t>
            </a:r>
          </a:p>
          <a:p>
            <a:pPr lvl="1">
              <a:buFont typeface="Wingdings" panose="05000000000000000000" pitchFamily="2" charset="2"/>
              <a:buChar char="v"/>
            </a:pPr>
            <a:r>
              <a:rPr lang="en-IN" sz="2000" dirty="0"/>
              <a:t>congestion detection, </a:t>
            </a:r>
          </a:p>
          <a:p>
            <a:pPr lvl="1">
              <a:buFont typeface="Wingdings" panose="05000000000000000000" pitchFamily="2" charset="2"/>
              <a:buChar char="v"/>
            </a:pPr>
            <a:r>
              <a:rPr lang="en-IN" sz="2000" dirty="0"/>
              <a:t>facility location</a:t>
            </a:r>
          </a:p>
          <a:p>
            <a:pPr lvl="1">
              <a:buFont typeface="Wingdings" panose="05000000000000000000" pitchFamily="2" charset="2"/>
              <a:buChar char="v"/>
            </a:pPr>
            <a:r>
              <a:rPr lang="en-IN" sz="2000" dirty="0"/>
              <a:t>XML data integration</a:t>
            </a:r>
          </a:p>
          <a:p>
            <a:pPr>
              <a:buFont typeface="Wingdings" panose="05000000000000000000" pitchFamily="2" charset="2"/>
              <a:buChar char="v"/>
            </a:pPr>
            <a:r>
              <a:rPr lang="en-IN" b="1" dirty="0" smtClean="0"/>
              <a:t>Graph </a:t>
            </a:r>
            <a:r>
              <a:rPr lang="en-IN" b="1" dirty="0"/>
              <a:t>Clustering Algorithms</a:t>
            </a:r>
            <a:r>
              <a:rPr lang="en-IN" sz="2000" b="1" dirty="0"/>
              <a:t>:</a:t>
            </a:r>
          </a:p>
          <a:p>
            <a:pPr lvl="1">
              <a:buFont typeface="Wingdings" panose="05000000000000000000" pitchFamily="2" charset="2"/>
              <a:buChar char="v"/>
            </a:pPr>
            <a:r>
              <a:rPr lang="en-IN" sz="2000" dirty="0"/>
              <a:t>In this case, we have a (possibly large) number of graphs which need to be clustered based on their </a:t>
            </a:r>
            <a:r>
              <a:rPr lang="en-IN" sz="2000" b="1" dirty="0"/>
              <a:t>underlying structural </a:t>
            </a:r>
            <a:r>
              <a:rPr lang="en-IN" sz="2000" b="1" dirty="0" smtClean="0"/>
              <a:t>behaviour</a:t>
            </a:r>
            <a:r>
              <a:rPr lang="en-IN" sz="2000" dirty="0" smtClean="0"/>
              <a:t>. </a:t>
            </a:r>
          </a:p>
          <a:p>
            <a:pPr lvl="1">
              <a:buFont typeface="Wingdings" panose="05000000000000000000" pitchFamily="2" charset="2"/>
              <a:buChar char="v"/>
            </a:pPr>
            <a:r>
              <a:rPr lang="en-IN" sz="2000" dirty="0" smtClean="0"/>
              <a:t>This </a:t>
            </a:r>
            <a:r>
              <a:rPr lang="en-IN" sz="2000" dirty="0"/>
              <a:t>problem is </a:t>
            </a:r>
            <a:r>
              <a:rPr lang="en-IN" sz="2000" b="1" dirty="0"/>
              <a:t>challenging</a:t>
            </a:r>
            <a:r>
              <a:rPr lang="en-IN" sz="2000" dirty="0"/>
              <a:t> because of the need to match the structures of the underlying graphs, and use these structures for clustering purposes. </a:t>
            </a:r>
          </a:p>
        </p:txBody>
      </p:sp>
      <p:sp>
        <p:nvSpPr>
          <p:cNvPr id="3" name="Content Placeholder 2"/>
          <p:cNvSpPr>
            <a:spLocks noGrp="1"/>
          </p:cNvSpPr>
          <p:nvPr>
            <p:ph sz="quarter" idx="10"/>
          </p:nvPr>
        </p:nvSpPr>
        <p:spPr>
          <a:xfrm>
            <a:off x="304800" y="152400"/>
            <a:ext cx="6629400" cy="1143000"/>
          </a:xfrm>
        </p:spPr>
        <p:txBody>
          <a:bodyPr/>
          <a:lstStyle/>
          <a:p>
            <a:r>
              <a:rPr lang="en-IN" dirty="0"/>
              <a:t>Graph </a:t>
            </a:r>
            <a:r>
              <a:rPr lang="en-IN" dirty="0" smtClean="0"/>
              <a:t>Mining </a:t>
            </a:r>
            <a:r>
              <a:rPr lang="en-IN" dirty="0"/>
              <a:t>Algorithms</a:t>
            </a:r>
          </a:p>
        </p:txBody>
      </p:sp>
    </p:spTree>
    <p:extLst>
      <p:ext uri="{BB962C8B-B14F-4D97-AF65-F5344CB8AC3E}">
        <p14:creationId xmlns:p14="http://schemas.microsoft.com/office/powerpoint/2010/main" val="431091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648200"/>
          </a:xfrm>
        </p:spPr>
        <p:txBody>
          <a:bodyPr>
            <a:noAutofit/>
          </a:bodyPr>
          <a:lstStyle/>
          <a:p>
            <a:pPr>
              <a:buFont typeface="Wingdings" panose="05000000000000000000" pitchFamily="2" charset="2"/>
              <a:buChar char="v"/>
            </a:pPr>
            <a:r>
              <a:rPr lang="en-IN" sz="2800" b="1" dirty="0" smtClean="0">
                <a:solidFill>
                  <a:prstClr val="black"/>
                </a:solidFill>
              </a:rPr>
              <a:t>Classification</a:t>
            </a:r>
            <a:endParaRPr lang="en-IN" sz="2000" b="1" dirty="0" smtClean="0">
              <a:solidFill>
                <a:prstClr val="black"/>
              </a:solidFill>
            </a:endParaRPr>
          </a:p>
          <a:p>
            <a:pPr lvl="1">
              <a:buFont typeface="Wingdings" panose="05000000000000000000" pitchFamily="2" charset="2"/>
              <a:buChar char="v"/>
            </a:pPr>
            <a:r>
              <a:rPr lang="en-IN" sz="2000" dirty="0">
                <a:solidFill>
                  <a:prstClr val="black"/>
                </a:solidFill>
              </a:rPr>
              <a:t>Classification is a central task in data mining and machine learning</a:t>
            </a:r>
            <a:r>
              <a:rPr lang="en-IN" sz="2000" dirty="0" smtClean="0">
                <a:solidFill>
                  <a:prstClr val="black"/>
                </a:solidFill>
              </a:rPr>
              <a:t>.</a:t>
            </a:r>
          </a:p>
          <a:p>
            <a:pPr lvl="1">
              <a:buFont typeface="Wingdings" panose="05000000000000000000" pitchFamily="2" charset="2"/>
              <a:buChar char="v"/>
            </a:pPr>
            <a:r>
              <a:rPr lang="en-IN" sz="2000" dirty="0" smtClean="0">
                <a:solidFill>
                  <a:prstClr val="black"/>
                </a:solidFill>
              </a:rPr>
              <a:t>Used in </a:t>
            </a:r>
            <a:r>
              <a:rPr lang="en-IN" sz="2000" dirty="0">
                <a:solidFill>
                  <a:prstClr val="black"/>
                </a:solidFill>
              </a:rPr>
              <a:t>pharmaceutics and drug design, we are interested to know the relationship between the activity of a chemical compound and the structure of the compound, which is represented by a graph</a:t>
            </a:r>
            <a:r>
              <a:rPr lang="en-IN" sz="2000" dirty="0" smtClean="0">
                <a:solidFill>
                  <a:prstClr val="black"/>
                </a:solidFill>
              </a:rPr>
              <a:t>.</a:t>
            </a:r>
          </a:p>
          <a:p>
            <a:pPr lvl="1">
              <a:buFont typeface="Wingdings" panose="05000000000000000000" pitchFamily="2" charset="2"/>
              <a:buChar char="v"/>
            </a:pPr>
            <a:r>
              <a:rPr lang="en-IN" sz="2400" dirty="0">
                <a:solidFill>
                  <a:prstClr val="black"/>
                </a:solidFill>
              </a:rPr>
              <a:t>Label Propagation. </a:t>
            </a:r>
            <a:endParaRPr lang="en-IN" sz="2400" dirty="0" smtClean="0">
              <a:solidFill>
                <a:prstClr val="black"/>
              </a:solidFill>
            </a:endParaRPr>
          </a:p>
          <a:p>
            <a:pPr lvl="2">
              <a:buFont typeface="Wingdings" panose="05000000000000000000" pitchFamily="2" charset="2"/>
              <a:buChar char="v"/>
            </a:pPr>
            <a:r>
              <a:rPr lang="en-IN" sz="2000" dirty="0" smtClean="0">
                <a:solidFill>
                  <a:prstClr val="black"/>
                </a:solidFill>
                <a:latin typeface="Arial" panose="020B0604020202020204" pitchFamily="34" charset="0"/>
                <a:cs typeface="Arial" panose="020B0604020202020204" pitchFamily="34" charset="0"/>
              </a:rPr>
              <a:t>A </a:t>
            </a:r>
            <a:r>
              <a:rPr lang="en-IN" sz="2000" dirty="0">
                <a:solidFill>
                  <a:prstClr val="black"/>
                </a:solidFill>
                <a:latin typeface="Arial" panose="020B0604020202020204" pitchFamily="34" charset="0"/>
                <a:cs typeface="Arial" panose="020B0604020202020204" pitchFamily="34" charset="0"/>
              </a:rPr>
              <a:t>subset of nodes in a graph are </a:t>
            </a:r>
            <a:r>
              <a:rPr lang="en-IN" sz="2000" dirty="0" smtClean="0">
                <a:solidFill>
                  <a:prstClr val="black"/>
                </a:solidFill>
                <a:latin typeface="Arial" panose="020B0604020202020204" pitchFamily="34" charset="0"/>
                <a:cs typeface="Arial" panose="020B0604020202020204" pitchFamily="34" charset="0"/>
              </a:rPr>
              <a:t>labelled. </a:t>
            </a:r>
            <a:r>
              <a:rPr lang="en-IN" sz="2000" dirty="0">
                <a:solidFill>
                  <a:prstClr val="black"/>
                </a:solidFill>
                <a:latin typeface="Arial" panose="020B0604020202020204" pitchFamily="34" charset="0"/>
                <a:cs typeface="Arial" panose="020B0604020202020204" pitchFamily="34" charset="0"/>
              </a:rPr>
              <a:t>The task is to learn a model from the </a:t>
            </a:r>
            <a:r>
              <a:rPr lang="en-IN" sz="2000" dirty="0" smtClean="0">
                <a:solidFill>
                  <a:prstClr val="black"/>
                </a:solidFill>
                <a:latin typeface="Arial" panose="020B0604020202020204" pitchFamily="34" charset="0"/>
                <a:cs typeface="Arial" panose="020B0604020202020204" pitchFamily="34" charset="0"/>
              </a:rPr>
              <a:t>labelled </a:t>
            </a:r>
            <a:r>
              <a:rPr lang="en-IN" sz="2000" dirty="0">
                <a:solidFill>
                  <a:prstClr val="black"/>
                </a:solidFill>
                <a:latin typeface="Arial" panose="020B0604020202020204" pitchFamily="34" charset="0"/>
                <a:cs typeface="Arial" panose="020B0604020202020204" pitchFamily="34" charset="0"/>
              </a:rPr>
              <a:t>nodes and use the model to classify the </a:t>
            </a:r>
            <a:r>
              <a:rPr lang="en-IN" sz="2000" dirty="0" smtClean="0">
                <a:solidFill>
                  <a:prstClr val="black"/>
                </a:solidFill>
                <a:latin typeface="Arial" panose="020B0604020202020204" pitchFamily="34" charset="0"/>
                <a:cs typeface="Arial" panose="020B0604020202020204" pitchFamily="34" charset="0"/>
              </a:rPr>
              <a:t>unlabelled </a:t>
            </a:r>
            <a:r>
              <a:rPr lang="en-IN" sz="2000" dirty="0">
                <a:solidFill>
                  <a:prstClr val="black"/>
                </a:solidFill>
                <a:latin typeface="Arial" panose="020B0604020202020204" pitchFamily="34" charset="0"/>
                <a:cs typeface="Arial" panose="020B0604020202020204" pitchFamily="34" charset="0"/>
              </a:rPr>
              <a:t>nodes.</a:t>
            </a:r>
          </a:p>
          <a:p>
            <a:pPr lvl="1">
              <a:buFont typeface="Wingdings" panose="05000000000000000000" pitchFamily="2" charset="2"/>
              <a:buChar char="v"/>
            </a:pPr>
            <a:r>
              <a:rPr lang="en-IN" sz="2400" dirty="0" smtClean="0">
                <a:solidFill>
                  <a:prstClr val="black"/>
                </a:solidFill>
              </a:rPr>
              <a:t>Graph </a:t>
            </a:r>
            <a:r>
              <a:rPr lang="en-IN" sz="2400" dirty="0">
                <a:solidFill>
                  <a:prstClr val="black"/>
                </a:solidFill>
              </a:rPr>
              <a:t>classification. </a:t>
            </a:r>
            <a:endParaRPr lang="en-IN" sz="2400" dirty="0" smtClean="0">
              <a:solidFill>
                <a:prstClr val="black"/>
              </a:solidFill>
            </a:endParaRPr>
          </a:p>
          <a:p>
            <a:pPr lvl="2">
              <a:buFont typeface="Wingdings" panose="05000000000000000000" pitchFamily="2" charset="2"/>
              <a:buChar char="v"/>
            </a:pPr>
            <a:r>
              <a:rPr lang="en-IN" sz="2000" dirty="0" smtClean="0">
                <a:solidFill>
                  <a:prstClr val="black"/>
                </a:solidFill>
                <a:latin typeface="Arial" panose="020B0604020202020204" pitchFamily="34" charset="0"/>
                <a:cs typeface="Arial" panose="020B0604020202020204" pitchFamily="34" charset="0"/>
              </a:rPr>
              <a:t>A </a:t>
            </a:r>
            <a:r>
              <a:rPr lang="en-IN" sz="2000" dirty="0">
                <a:solidFill>
                  <a:prstClr val="black"/>
                </a:solidFill>
                <a:latin typeface="Arial" panose="020B0604020202020204" pitchFamily="34" charset="0"/>
                <a:cs typeface="Arial" panose="020B0604020202020204" pitchFamily="34" charset="0"/>
              </a:rPr>
              <a:t>subset of graphs in a graph dataset are </a:t>
            </a:r>
            <a:r>
              <a:rPr lang="en-IN" sz="2000" dirty="0" smtClean="0">
                <a:solidFill>
                  <a:prstClr val="black"/>
                </a:solidFill>
                <a:latin typeface="Arial" panose="020B0604020202020204" pitchFamily="34" charset="0"/>
                <a:cs typeface="Arial" panose="020B0604020202020204" pitchFamily="34" charset="0"/>
              </a:rPr>
              <a:t>labelled. </a:t>
            </a:r>
            <a:r>
              <a:rPr lang="en-IN" sz="2000" dirty="0">
                <a:solidFill>
                  <a:prstClr val="black"/>
                </a:solidFill>
                <a:latin typeface="Arial" panose="020B0604020202020204" pitchFamily="34" charset="0"/>
                <a:cs typeface="Arial" panose="020B0604020202020204" pitchFamily="34" charset="0"/>
              </a:rPr>
              <a:t>The task is to learn a model from the </a:t>
            </a:r>
            <a:r>
              <a:rPr lang="en-IN" sz="2000" dirty="0" smtClean="0">
                <a:solidFill>
                  <a:prstClr val="black"/>
                </a:solidFill>
                <a:latin typeface="Arial" panose="020B0604020202020204" pitchFamily="34" charset="0"/>
                <a:cs typeface="Arial" panose="020B0604020202020204" pitchFamily="34" charset="0"/>
              </a:rPr>
              <a:t>labelled </a:t>
            </a:r>
            <a:r>
              <a:rPr lang="en-IN" sz="2000" dirty="0">
                <a:solidFill>
                  <a:prstClr val="black"/>
                </a:solidFill>
                <a:latin typeface="Arial" panose="020B0604020202020204" pitchFamily="34" charset="0"/>
                <a:cs typeface="Arial" panose="020B0604020202020204" pitchFamily="34" charset="0"/>
              </a:rPr>
              <a:t>graphs and use the model to classify the </a:t>
            </a:r>
            <a:r>
              <a:rPr lang="en-IN" sz="2000" dirty="0" smtClean="0">
                <a:solidFill>
                  <a:prstClr val="black"/>
                </a:solidFill>
                <a:latin typeface="Arial" panose="020B0604020202020204" pitchFamily="34" charset="0"/>
                <a:cs typeface="Arial" panose="020B0604020202020204" pitchFamily="34" charset="0"/>
              </a:rPr>
              <a:t>unlabelled </a:t>
            </a:r>
            <a:r>
              <a:rPr lang="en-IN" sz="2000" dirty="0">
                <a:solidFill>
                  <a:prstClr val="black"/>
                </a:solidFill>
                <a:latin typeface="Arial" panose="020B0604020202020204" pitchFamily="34" charset="0"/>
                <a:cs typeface="Arial" panose="020B0604020202020204" pitchFamily="34" charset="0"/>
              </a:rPr>
              <a:t>graphs.</a:t>
            </a:r>
          </a:p>
        </p:txBody>
      </p:sp>
      <p:sp>
        <p:nvSpPr>
          <p:cNvPr id="3" name="Content Placeholder 2"/>
          <p:cNvSpPr>
            <a:spLocks noGrp="1"/>
          </p:cNvSpPr>
          <p:nvPr>
            <p:ph sz="quarter" idx="10"/>
          </p:nvPr>
        </p:nvSpPr>
        <p:spPr>
          <a:xfrm>
            <a:off x="304800" y="152400"/>
            <a:ext cx="6629400" cy="1143000"/>
          </a:xfrm>
        </p:spPr>
        <p:txBody>
          <a:bodyPr/>
          <a:lstStyle/>
          <a:p>
            <a:r>
              <a:rPr lang="en-IN" dirty="0"/>
              <a:t>Graph </a:t>
            </a:r>
            <a:r>
              <a:rPr lang="en-IN" dirty="0" smtClean="0"/>
              <a:t>Mining </a:t>
            </a:r>
            <a:r>
              <a:rPr lang="en-IN" dirty="0"/>
              <a:t>Algorithms</a:t>
            </a:r>
          </a:p>
        </p:txBody>
      </p:sp>
      <mc:AlternateContent xmlns:mc="http://schemas.openxmlformats.org/markup-compatibility/2006" xmlns:p14="http://schemas.microsoft.com/office/powerpoint/2010/main">
        <mc:Choice Requires="p14">
          <p:contentPart p14:bwMode="auto" r:id="rId2">
            <p14:nvContentPartPr>
              <p14:cNvPr id="29" name="Ink 28"/>
              <p14:cNvContentPartPr/>
              <p14:nvPr/>
            </p14:nvContentPartPr>
            <p14:xfrm>
              <a:off x="473314" y="1592331"/>
              <a:ext cx="15840" cy="17640"/>
            </p14:xfrm>
          </p:contentPart>
        </mc:Choice>
        <mc:Fallback xmlns="">
          <p:pic>
            <p:nvPicPr>
              <p:cNvPr id="29" name="Ink 28"/>
              <p:cNvPicPr/>
              <p:nvPr/>
            </p:nvPicPr>
            <p:blipFill>
              <a:blip r:embed="rId13"/>
              <a:stretch>
                <a:fillRect/>
              </a:stretch>
            </p:blipFill>
            <p:spPr>
              <a:xfrm>
                <a:off x="468634" y="1585851"/>
                <a:ext cx="23760" cy="29160"/>
              </a:xfrm>
              <a:prstGeom prst="rect">
                <a:avLst/>
              </a:prstGeom>
            </p:spPr>
          </p:pic>
        </mc:Fallback>
      </mc:AlternateContent>
    </p:spTree>
    <p:extLst>
      <p:ext uri="{BB962C8B-B14F-4D97-AF65-F5344CB8AC3E}">
        <p14:creationId xmlns:p14="http://schemas.microsoft.com/office/powerpoint/2010/main" val="316914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10000"/>
              </a:bodyPr>
              <a:lstStyle/>
              <a:p>
                <a:pPr>
                  <a:buFont typeface="Wingdings" panose="05000000000000000000" pitchFamily="2" charset="2"/>
                  <a:buChar char="v"/>
                </a:pPr>
                <a:r>
                  <a:rPr lang="en-IN" dirty="0" smtClean="0"/>
                  <a:t>The graphs which changes with respect to time. </a:t>
                </a:r>
              </a:p>
              <a:p>
                <a:pPr>
                  <a:buFont typeface="Wingdings" panose="05000000000000000000" pitchFamily="2" charset="2"/>
                  <a:buChar char="v"/>
                </a:pPr>
                <a:r>
                  <a:rPr lang="en-IN" dirty="0" smtClean="0"/>
                  <a:t>They may either grow, shrink or split as the time passes.</a:t>
                </a:r>
              </a:p>
              <a:p>
                <a:pPr lvl="1">
                  <a:buFont typeface="Wingdings" panose="05000000000000000000" pitchFamily="2" charset="2"/>
                  <a:buChar char="v"/>
                </a:pPr>
                <a:r>
                  <a:rPr lang="en-IN" sz="2400" b="1" dirty="0"/>
                  <a:t>Densification</a:t>
                </a:r>
                <a:r>
                  <a:rPr lang="en-IN" sz="2400" b="1" dirty="0" smtClean="0"/>
                  <a:t>:</a:t>
                </a:r>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Most real networks such as the web and social networks continue to become more </a:t>
                </a:r>
                <a:r>
                  <a:rPr lang="en-IN" b="1" dirty="0">
                    <a:latin typeface="Arial" panose="020B0604020202020204" pitchFamily="34" charset="0"/>
                    <a:cs typeface="Arial" panose="020B0604020202020204" pitchFamily="34" charset="0"/>
                  </a:rPr>
                  <a:t>dense</a:t>
                </a:r>
                <a:r>
                  <a:rPr lang="en-IN" dirty="0">
                    <a:latin typeface="Arial" panose="020B0604020202020204" pitchFamily="34" charset="0"/>
                    <a:cs typeface="Arial" panose="020B0604020202020204" pitchFamily="34" charset="0"/>
                  </a:rPr>
                  <a:t> over time.</a:t>
                </a:r>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This law states </a:t>
                </a:r>
                <a:r>
                  <a:rPr lang="en-IN" dirty="0" smtClean="0">
                    <a:latin typeface="Arial" panose="020B0604020202020204" pitchFamily="34" charset="0"/>
                    <a:cs typeface="Arial" panose="020B0604020202020204" pitchFamily="34" charset="0"/>
                  </a:rPr>
                  <a:t>that: The </a:t>
                </a:r>
                <a:r>
                  <a:rPr lang="en-IN" dirty="0">
                    <a:latin typeface="Arial" panose="020B0604020202020204" pitchFamily="34" charset="0"/>
                    <a:cs typeface="Arial" panose="020B0604020202020204" pitchFamily="34" charset="0"/>
                  </a:rPr>
                  <a:t>number of </a:t>
                </a:r>
                <a:r>
                  <a:rPr lang="en-IN" b="1" dirty="0">
                    <a:latin typeface="Arial" panose="020B0604020202020204" pitchFamily="34" charset="0"/>
                    <a:cs typeface="Arial" panose="020B0604020202020204" pitchFamily="34" charset="0"/>
                  </a:rPr>
                  <a:t>nodes</a:t>
                </a:r>
                <a:r>
                  <a:rPr lang="en-IN" dirty="0">
                    <a:latin typeface="Arial" panose="020B0604020202020204" pitchFamily="34" charset="0"/>
                    <a:cs typeface="Arial" panose="020B0604020202020204" pitchFamily="34" charset="0"/>
                  </a:rPr>
                  <a:t> in the network </a:t>
                </a:r>
                <a:r>
                  <a:rPr lang="en-IN" b="1" i="1" dirty="0">
                    <a:latin typeface="Arial" panose="020B0604020202020204" pitchFamily="34" charset="0"/>
                    <a:cs typeface="Arial" panose="020B0604020202020204" pitchFamily="34" charset="0"/>
                  </a:rPr>
                  <a:t>increases </a:t>
                </a:r>
                <a:r>
                  <a:rPr lang="en-IN" b="1" i="1" dirty="0" err="1">
                    <a:latin typeface="Arial" panose="020B0604020202020204" pitchFamily="34" charset="0"/>
                    <a:cs typeface="Arial" panose="020B0604020202020204" pitchFamily="34" charset="0"/>
                  </a:rPr>
                  <a:t>superlinearly</a:t>
                </a:r>
                <a:r>
                  <a:rPr lang="en-IN" b="1" i="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with the number of nodes over time, whereas the number of </a:t>
                </a:r>
                <a:r>
                  <a:rPr lang="en-IN" b="1" dirty="0">
                    <a:latin typeface="Arial" panose="020B0604020202020204" pitchFamily="34" charset="0"/>
                    <a:cs typeface="Arial" panose="020B0604020202020204" pitchFamily="34" charset="0"/>
                  </a:rPr>
                  <a:t>edges</a:t>
                </a:r>
                <a:r>
                  <a:rPr lang="en-IN" dirty="0">
                    <a:latin typeface="Arial" panose="020B0604020202020204" pitchFamily="34" charset="0"/>
                    <a:cs typeface="Arial" panose="020B0604020202020204" pitchFamily="34" charset="0"/>
                  </a:rPr>
                  <a:t> </a:t>
                </a:r>
                <a:r>
                  <a:rPr lang="en-IN" b="1" i="1" dirty="0">
                    <a:latin typeface="Arial" panose="020B0604020202020204" pitchFamily="34" charset="0"/>
                    <a:cs typeface="Arial" panose="020B0604020202020204" pitchFamily="34" charset="0"/>
                  </a:rPr>
                  <a:t>increases </a:t>
                </a:r>
                <a:r>
                  <a:rPr lang="en-IN" b="1" i="1" dirty="0" err="1">
                    <a:latin typeface="Arial" panose="020B0604020202020204" pitchFamily="34" charset="0"/>
                    <a:cs typeface="Arial" panose="020B0604020202020204" pitchFamily="34" charset="0"/>
                  </a:rPr>
                  <a:t>superlinearly</a:t>
                </a:r>
                <a:r>
                  <a:rPr lang="en-IN" b="1" i="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over time. </a:t>
                </a:r>
                <a:endParaRPr lang="en-IN"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In </a:t>
                </a:r>
                <a:r>
                  <a:rPr lang="en-IN" dirty="0">
                    <a:latin typeface="Arial" panose="020B0604020202020204" pitchFamily="34" charset="0"/>
                    <a:cs typeface="Arial" panose="020B0604020202020204" pitchFamily="34" charset="0"/>
                  </a:rPr>
                  <a:t>other words</a:t>
                </a:r>
                <a:r>
                  <a:rPr lang="en-IN" dirty="0" smtClean="0">
                    <a:latin typeface="Arial" panose="020B0604020202020204" pitchFamily="34" charset="0"/>
                    <a:cs typeface="Arial" panose="020B0604020202020204" pitchFamily="34" charset="0"/>
                  </a:rPr>
                  <a:t>, if </a:t>
                </a:r>
                <a:r>
                  <a:rPr lang="en-IN" b="1" i="1" dirty="0" smtClean="0">
                    <a:latin typeface="Arial" panose="020B0604020202020204" pitchFamily="34" charset="0"/>
                    <a:cs typeface="Arial" panose="020B0604020202020204" pitchFamily="34" charset="0"/>
                  </a:rPr>
                  <a:t>n(t)</a:t>
                </a:r>
                <a:r>
                  <a:rPr lang="en-IN" i="1" dirty="0" smtClean="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and </a:t>
                </a:r>
                <a:r>
                  <a:rPr lang="en-IN" b="1" i="1" dirty="0">
                    <a:latin typeface="Arial" panose="020B0604020202020204" pitchFamily="34" charset="0"/>
                    <a:cs typeface="Arial" panose="020B0604020202020204" pitchFamily="34" charset="0"/>
                  </a:rPr>
                  <a:t>e(t)</a:t>
                </a:r>
                <a:r>
                  <a:rPr lang="en-IN" dirty="0">
                    <a:latin typeface="Arial" panose="020B0604020202020204" pitchFamily="34" charset="0"/>
                    <a:cs typeface="Arial" panose="020B0604020202020204" pitchFamily="34" charset="0"/>
                  </a:rPr>
                  <a:t> represent the number of edges and nodes in the network at time </a:t>
                </a:r>
                <a:r>
                  <a:rPr lang="en-IN" b="1" i="1" dirty="0">
                    <a:latin typeface="Arial" panose="020B0604020202020204" pitchFamily="34" charset="0"/>
                    <a:cs typeface="Arial" panose="020B0604020202020204" pitchFamily="34" charset="0"/>
                  </a:rPr>
                  <a:t>t</a:t>
                </a:r>
                <a:r>
                  <a:rPr lang="en-IN" dirty="0">
                    <a:latin typeface="Arial" panose="020B0604020202020204" pitchFamily="34" charset="0"/>
                    <a:cs typeface="Arial" panose="020B0604020202020204" pitchFamily="34" charset="0"/>
                  </a:rPr>
                  <a:t>, then we have: </a:t>
                </a:r>
                <a:endParaRPr lang="en-IN" dirty="0" smtClean="0">
                  <a:latin typeface="Arial" panose="020B0604020202020204" pitchFamily="34" charset="0"/>
                  <a:cs typeface="Arial" panose="020B0604020202020204" pitchFamily="34" charset="0"/>
                </a:endParaRPr>
              </a:p>
              <a:p>
                <a:pPr marL="914400" lvl="2" indent="0">
                  <a:buNone/>
                </a:pPr>
                <a14:m>
                  <m:oMathPara xmlns:m="http://schemas.openxmlformats.org/officeDocument/2006/math">
                    <m:oMathParaPr>
                      <m:jc m:val="centerGroup"/>
                    </m:oMathParaPr>
                    <m:oMath xmlns:m="http://schemas.openxmlformats.org/officeDocument/2006/math">
                      <m:r>
                        <a:rPr lang="en-IN" sz="2800" b="1" i="1" smtClean="0">
                          <a:latin typeface="Cambria Math" panose="02040503050406030204" pitchFamily="18" charset="0"/>
                        </a:rPr>
                        <m:t>𝒆</m:t>
                      </m:r>
                      <m:d>
                        <m:dPr>
                          <m:ctrlPr>
                            <a:rPr lang="en-IN" sz="2800" b="1" i="1" smtClean="0">
                              <a:latin typeface="Cambria Math" panose="02040503050406030204" pitchFamily="18" charset="0"/>
                            </a:rPr>
                          </m:ctrlPr>
                        </m:dPr>
                        <m:e>
                          <m:r>
                            <a:rPr lang="en-IN" sz="2800" b="1" i="1" smtClean="0">
                              <a:latin typeface="Cambria Math" panose="02040503050406030204" pitchFamily="18" charset="0"/>
                            </a:rPr>
                            <m:t>𝒕</m:t>
                          </m:r>
                        </m:e>
                      </m:d>
                      <m:r>
                        <a:rPr lang="en-IN" sz="2800" b="1" i="1" smtClean="0">
                          <a:latin typeface="Cambria Math" panose="02040503050406030204" pitchFamily="18" charset="0"/>
                        </a:rPr>
                        <m:t> </m:t>
                      </m:r>
                      <m:r>
                        <a:rPr lang="en-IN" sz="2800" b="1" i="1" smtClean="0">
                          <a:latin typeface="Cambria Math" panose="02040503050406030204" pitchFamily="18" charset="0"/>
                          <a:ea typeface="Cambria Math" panose="02040503050406030204" pitchFamily="18" charset="0"/>
                        </a:rPr>
                        <m:t>∝ </m:t>
                      </m:r>
                      <m:sSup>
                        <m:sSupPr>
                          <m:ctrlPr>
                            <a:rPr lang="en-IN" sz="2800" b="1" i="1" smtClean="0">
                              <a:latin typeface="Cambria Math" panose="02040503050406030204" pitchFamily="18" charset="0"/>
                              <a:ea typeface="Cambria Math" panose="02040503050406030204" pitchFamily="18" charset="0"/>
                            </a:rPr>
                          </m:ctrlPr>
                        </m:sSupPr>
                        <m:e>
                          <m:r>
                            <a:rPr lang="en-IN" sz="2800" b="1" i="1" smtClean="0">
                              <a:latin typeface="Cambria Math" panose="02040503050406030204" pitchFamily="18" charset="0"/>
                              <a:ea typeface="Cambria Math" panose="02040503050406030204" pitchFamily="18" charset="0"/>
                            </a:rPr>
                            <m:t>𝒏</m:t>
                          </m:r>
                          <m:r>
                            <a:rPr lang="en-IN" sz="2800" b="1" i="1" smtClean="0">
                              <a:latin typeface="Cambria Math" panose="02040503050406030204" pitchFamily="18" charset="0"/>
                              <a:ea typeface="Cambria Math" panose="02040503050406030204" pitchFamily="18" charset="0"/>
                            </a:rPr>
                            <m:t>(</m:t>
                          </m:r>
                          <m:r>
                            <a:rPr lang="en-IN" sz="2800" b="1" i="1" smtClean="0">
                              <a:latin typeface="Cambria Math" panose="02040503050406030204" pitchFamily="18" charset="0"/>
                              <a:ea typeface="Cambria Math" panose="02040503050406030204" pitchFamily="18" charset="0"/>
                            </a:rPr>
                            <m:t>𝒕</m:t>
                          </m:r>
                          <m:r>
                            <a:rPr lang="en-IN" sz="2800" b="1" i="1" smtClean="0">
                              <a:latin typeface="Cambria Math" panose="02040503050406030204" pitchFamily="18" charset="0"/>
                              <a:ea typeface="Cambria Math" panose="02040503050406030204" pitchFamily="18" charset="0"/>
                            </a:rPr>
                            <m:t>)</m:t>
                          </m:r>
                        </m:e>
                        <m:sup>
                          <m:r>
                            <a:rPr lang="en-IN" sz="2800" b="1" i="1" smtClean="0">
                              <a:latin typeface="Cambria Math" panose="02040503050406030204" pitchFamily="18" charset="0"/>
                              <a:ea typeface="Cambria Math" panose="02040503050406030204" pitchFamily="18" charset="0"/>
                            </a:rPr>
                            <m:t>𝜶</m:t>
                          </m:r>
                        </m:sup>
                      </m:sSup>
                      <m:r>
                        <a:rPr lang="en-IN" sz="2800" b="0" i="1" smtClean="0">
                          <a:latin typeface="Cambria Math" panose="02040503050406030204" pitchFamily="18" charset="0"/>
                          <a:ea typeface="Cambria Math" panose="02040503050406030204" pitchFamily="18" charset="0"/>
                        </a:rPr>
                        <m:t> , 1≤ </m:t>
                      </m:r>
                      <m:r>
                        <a:rPr lang="en-IN" sz="2800" b="0" i="1" smtClean="0">
                          <a:latin typeface="Cambria Math" panose="02040503050406030204" pitchFamily="18" charset="0"/>
                          <a:ea typeface="Cambria Math" panose="02040503050406030204" pitchFamily="18" charset="0"/>
                        </a:rPr>
                        <m:t>𝛼</m:t>
                      </m:r>
                      <m:r>
                        <a:rPr lang="en-IN" sz="2800" b="0" i="1" smtClean="0">
                          <a:latin typeface="Cambria Math" panose="02040503050406030204" pitchFamily="18" charset="0"/>
                          <a:ea typeface="Cambria Math" panose="02040503050406030204" pitchFamily="18" charset="0"/>
                        </a:rPr>
                        <m:t>≤2 </m:t>
                      </m:r>
                    </m:oMath>
                  </m:oMathPara>
                </a14:m>
                <a:endParaRPr lang="en-IN" sz="2800" b="0" i="1" dirty="0" smtClean="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815" t="-1617"/>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IN" dirty="0"/>
              <a:t>Dynamics of Dynamic Graphs (Time Evolving Graphs</a:t>
            </a:r>
            <a:r>
              <a:rPr lang="en-IN" dirty="0" smtClean="0"/>
              <a:t>)</a:t>
            </a:r>
            <a:endParaRPr lang="en-IN" dirty="0"/>
          </a:p>
        </p:txBody>
      </p:sp>
    </p:spTree>
    <p:extLst>
      <p:ext uri="{BB962C8B-B14F-4D97-AF65-F5344CB8AC3E}">
        <p14:creationId xmlns:p14="http://schemas.microsoft.com/office/powerpoint/2010/main" val="318839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rmAutofit/>
          </a:bodyPr>
          <a:lstStyle/>
          <a:p>
            <a:pPr>
              <a:buFont typeface="Wingdings" panose="05000000000000000000" pitchFamily="2" charset="2"/>
              <a:buChar char="v"/>
            </a:pPr>
            <a:r>
              <a:rPr lang="en-IN" dirty="0" smtClean="0"/>
              <a:t>The graphs which changes with respect to time. </a:t>
            </a:r>
          </a:p>
          <a:p>
            <a:pPr>
              <a:buFont typeface="Wingdings" panose="05000000000000000000" pitchFamily="2" charset="2"/>
              <a:buChar char="v"/>
            </a:pPr>
            <a:r>
              <a:rPr lang="en-IN" dirty="0" smtClean="0"/>
              <a:t>They may either grow, shrink or split as the time passes.</a:t>
            </a:r>
          </a:p>
          <a:p>
            <a:pPr lvl="1">
              <a:buFont typeface="Wingdings" panose="05000000000000000000" pitchFamily="2" charset="2"/>
              <a:buChar char="v"/>
            </a:pPr>
            <a:r>
              <a:rPr lang="en-IN" sz="2400" b="1" dirty="0"/>
              <a:t>Shrinking Diameters:</a:t>
            </a:r>
            <a:endParaRPr lang="en-IN" sz="2400" b="1" dirty="0" smtClean="0"/>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The small world phenomenon of graphs is well known. </a:t>
            </a:r>
            <a:endParaRPr lang="en-IN"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It </a:t>
            </a:r>
            <a:r>
              <a:rPr lang="en-IN" dirty="0">
                <a:latin typeface="Arial" panose="020B0604020202020204" pitchFamily="34" charset="0"/>
                <a:cs typeface="Arial" panose="020B0604020202020204" pitchFamily="34" charset="0"/>
              </a:rPr>
              <a:t>was shown </a:t>
            </a:r>
            <a:r>
              <a:rPr lang="en-IN" dirty="0" smtClean="0">
                <a:latin typeface="Arial" panose="020B0604020202020204" pitchFamily="34" charset="0"/>
                <a:cs typeface="Arial" panose="020B0604020202020204" pitchFamily="34" charset="0"/>
              </a:rPr>
              <a:t>by researchers [6] </a:t>
            </a:r>
            <a:r>
              <a:rPr lang="en-IN" dirty="0">
                <a:latin typeface="Arial" panose="020B0604020202020204" pitchFamily="34" charset="0"/>
                <a:cs typeface="Arial" panose="020B0604020202020204" pitchFamily="34" charset="0"/>
              </a:rPr>
              <a:t>that the </a:t>
            </a:r>
            <a:r>
              <a:rPr lang="en-IN" b="1" i="1" dirty="0">
                <a:latin typeface="Arial" panose="020B0604020202020204" pitchFamily="34" charset="0"/>
                <a:cs typeface="Arial" panose="020B0604020202020204" pitchFamily="34" charset="0"/>
              </a:rPr>
              <a:t>average path length</a:t>
            </a:r>
            <a:r>
              <a:rPr lang="en-IN" dirty="0">
                <a:latin typeface="Arial" panose="020B0604020202020204" pitchFamily="34" charset="0"/>
                <a:cs typeface="Arial" panose="020B0604020202020204" pitchFamily="34" charset="0"/>
              </a:rPr>
              <a:t> between two MSN messenger users is </a:t>
            </a:r>
            <a:r>
              <a:rPr lang="en-IN" b="1" i="1" dirty="0">
                <a:latin typeface="Arial" panose="020B0604020202020204" pitchFamily="34" charset="0"/>
                <a:cs typeface="Arial" panose="020B0604020202020204" pitchFamily="34" charset="0"/>
              </a:rPr>
              <a:t>6.6</a:t>
            </a:r>
            <a:r>
              <a:rPr lang="en-IN" dirty="0">
                <a:latin typeface="Arial" panose="020B0604020202020204" pitchFamily="34" charset="0"/>
                <a:cs typeface="Arial" panose="020B0604020202020204" pitchFamily="34" charset="0"/>
              </a:rPr>
              <a:t>. </a:t>
            </a:r>
            <a:endParaRPr lang="en-IN"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This </a:t>
            </a:r>
            <a:r>
              <a:rPr lang="en-IN" dirty="0">
                <a:latin typeface="Arial" panose="020B0604020202020204" pitchFamily="34" charset="0"/>
                <a:cs typeface="Arial" panose="020B0604020202020204" pitchFamily="34" charset="0"/>
              </a:rPr>
              <a:t>can be considered a verification of the (internet version of the) widely known rule of “</a:t>
            </a:r>
            <a:r>
              <a:rPr lang="en-IN" b="1" i="1" dirty="0">
                <a:latin typeface="Arial" panose="020B0604020202020204" pitchFamily="34" charset="0"/>
                <a:cs typeface="Arial" panose="020B0604020202020204" pitchFamily="34" charset="0"/>
              </a:rPr>
              <a:t>six degrees of separation</a:t>
            </a:r>
            <a:r>
              <a:rPr lang="en-IN" dirty="0">
                <a:latin typeface="Arial" panose="020B0604020202020204" pitchFamily="34" charset="0"/>
                <a:cs typeface="Arial" panose="020B0604020202020204" pitchFamily="34" charset="0"/>
              </a:rPr>
              <a:t>” in (generic) social networks. </a:t>
            </a:r>
            <a:endParaRPr lang="en-IN" sz="2800" b="0" i="1" dirty="0" smtClean="0">
              <a:latin typeface="Arial" panose="020B0604020202020204" pitchFamily="34" charset="0"/>
              <a:ea typeface="Cambria Math" panose="02040503050406030204" pitchFamily="18"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Dynamics of Dynamic Graphs (Time Evolving Graphs</a:t>
            </a:r>
            <a:r>
              <a:rPr lang="en-IN" dirty="0" smtClean="0"/>
              <a:t>)</a:t>
            </a:r>
            <a:endParaRPr lang="en-IN" dirty="0"/>
          </a:p>
        </p:txBody>
      </p:sp>
      <p:sp>
        <p:nvSpPr>
          <p:cNvPr id="4" name="TextBox 3"/>
          <p:cNvSpPr txBox="1"/>
          <p:nvPr/>
        </p:nvSpPr>
        <p:spPr>
          <a:xfrm>
            <a:off x="0" y="6576238"/>
            <a:ext cx="7924800" cy="276999"/>
          </a:xfrm>
          <a:prstGeom prst="rect">
            <a:avLst/>
          </a:prstGeom>
          <a:noFill/>
        </p:spPr>
        <p:txBody>
          <a:bodyPr wrap="square" rtlCol="0">
            <a:spAutoFit/>
          </a:bodyPr>
          <a:lstStyle/>
          <a:p>
            <a:r>
              <a:rPr lang="en-IN" sz="1200" dirty="0" smtClean="0"/>
              <a:t>[6] J</a:t>
            </a:r>
            <a:r>
              <a:rPr lang="en-IN" sz="1200" dirty="0"/>
              <a:t>. </a:t>
            </a:r>
            <a:r>
              <a:rPr lang="en-IN" sz="1200" dirty="0" err="1"/>
              <a:t>Leskovec</a:t>
            </a:r>
            <a:r>
              <a:rPr lang="en-IN" sz="1200" dirty="0"/>
              <a:t>, E. Horvitz. </a:t>
            </a:r>
            <a:r>
              <a:rPr lang="en-IN" sz="1200" b="1" dirty="0"/>
              <a:t>Planetary-Scale Views on a Large Instant Messaging Network</a:t>
            </a:r>
            <a:r>
              <a:rPr lang="en-IN" sz="1200" dirty="0"/>
              <a:t>, WWW Conference, 2008.</a:t>
            </a:r>
          </a:p>
        </p:txBody>
      </p:sp>
    </p:spTree>
    <p:extLst>
      <p:ext uri="{BB962C8B-B14F-4D97-AF65-F5344CB8AC3E}">
        <p14:creationId xmlns:p14="http://schemas.microsoft.com/office/powerpoint/2010/main" val="269780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rmAutofit/>
          </a:bodyPr>
          <a:lstStyle/>
          <a:p>
            <a:pPr>
              <a:buFont typeface="Wingdings" panose="05000000000000000000" pitchFamily="2" charset="2"/>
              <a:buChar char="v"/>
            </a:pPr>
            <a:r>
              <a:rPr lang="en-IN" dirty="0" smtClean="0"/>
              <a:t>The graphs which changes with respect to time. </a:t>
            </a:r>
          </a:p>
          <a:p>
            <a:pPr>
              <a:buFont typeface="Wingdings" panose="05000000000000000000" pitchFamily="2" charset="2"/>
              <a:buChar char="v"/>
            </a:pPr>
            <a:r>
              <a:rPr lang="en-IN" dirty="0" smtClean="0"/>
              <a:t>They may either grow, shrink or split as the time passes.</a:t>
            </a:r>
          </a:p>
          <a:p>
            <a:pPr lvl="1">
              <a:buFont typeface="Wingdings" panose="05000000000000000000" pitchFamily="2" charset="2"/>
              <a:buChar char="v"/>
            </a:pPr>
            <a:r>
              <a:rPr lang="en-IN" sz="2400" b="1" dirty="0"/>
              <a:t>Shrinking Diameters:</a:t>
            </a:r>
            <a:endParaRPr lang="en-IN" sz="2400" b="1" dirty="0" smtClean="0"/>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It was further shown in </a:t>
            </a:r>
            <a:r>
              <a:rPr lang="en-IN" dirty="0" smtClean="0">
                <a:latin typeface="Arial" panose="020B0604020202020204" pitchFamily="34" charset="0"/>
                <a:cs typeface="Arial" panose="020B0604020202020204" pitchFamily="34" charset="0"/>
              </a:rPr>
              <a:t>[7], </a:t>
            </a:r>
            <a:r>
              <a:rPr lang="en-IN" dirty="0">
                <a:latin typeface="Arial" panose="020B0604020202020204" pitchFamily="34" charset="0"/>
                <a:cs typeface="Arial" panose="020B0604020202020204" pitchFamily="34" charset="0"/>
              </a:rPr>
              <a:t>that the </a:t>
            </a:r>
            <a:r>
              <a:rPr lang="en-IN" b="1" i="1" dirty="0">
                <a:latin typeface="Arial" panose="020B0604020202020204" pitchFamily="34" charset="0"/>
                <a:cs typeface="Arial" panose="020B0604020202020204" pitchFamily="34" charset="0"/>
              </a:rPr>
              <a:t>diameters</a:t>
            </a:r>
            <a:r>
              <a:rPr lang="en-IN" dirty="0">
                <a:latin typeface="Arial" panose="020B0604020202020204" pitchFamily="34" charset="0"/>
                <a:cs typeface="Arial" panose="020B0604020202020204" pitchFamily="34" charset="0"/>
              </a:rPr>
              <a:t> of massive networks such as the web continue to </a:t>
            </a:r>
            <a:r>
              <a:rPr lang="en-IN" b="1" i="1" dirty="0">
                <a:latin typeface="Arial" panose="020B0604020202020204" pitchFamily="34" charset="0"/>
                <a:cs typeface="Arial" panose="020B0604020202020204" pitchFamily="34" charset="0"/>
              </a:rPr>
              <a:t>shrink over time</a:t>
            </a:r>
            <a:r>
              <a:rPr lang="en-IN" dirty="0">
                <a:latin typeface="Arial" panose="020B0604020202020204" pitchFamily="34" charset="0"/>
                <a:cs typeface="Arial" panose="020B0604020202020204" pitchFamily="34" charset="0"/>
              </a:rPr>
              <a:t>.</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The </a:t>
            </a:r>
            <a:r>
              <a:rPr lang="en-IN" b="1" i="1" dirty="0" smtClean="0">
                <a:latin typeface="Arial" panose="020B0604020202020204" pitchFamily="34" charset="0"/>
                <a:cs typeface="Arial" panose="020B0604020202020204" pitchFamily="34" charset="0"/>
              </a:rPr>
              <a:t>edges </a:t>
            </a:r>
            <a:r>
              <a:rPr lang="en-IN" b="1" i="1" dirty="0">
                <a:latin typeface="Arial" panose="020B0604020202020204" pitchFamily="34" charset="0"/>
                <a:cs typeface="Arial" panose="020B0604020202020204" pitchFamily="34" charset="0"/>
              </a:rPr>
              <a:t>are added more rapidly to the network than </a:t>
            </a:r>
            <a:r>
              <a:rPr lang="en-IN" b="1" i="1" dirty="0" smtClean="0">
                <a:latin typeface="Arial" panose="020B0604020202020204" pitchFamily="34" charset="0"/>
                <a:cs typeface="Arial" panose="020B0604020202020204" pitchFamily="34" charset="0"/>
              </a:rPr>
              <a:t>nodes</a:t>
            </a:r>
            <a:r>
              <a:rPr lang="en-IN" dirty="0" smtClean="0">
                <a:latin typeface="Arial" panose="020B0604020202020204" pitchFamily="34" charset="0"/>
                <a:cs typeface="Arial" panose="020B0604020202020204" pitchFamily="34" charset="0"/>
              </a:rPr>
              <a:t>. </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As </a:t>
            </a:r>
            <a:r>
              <a:rPr lang="en-IN" dirty="0">
                <a:latin typeface="Arial" panose="020B0604020202020204" pitchFamily="34" charset="0"/>
                <a:cs typeface="Arial" panose="020B0604020202020204" pitchFamily="34" charset="0"/>
              </a:rPr>
              <a:t>more edges are added to the graph it becomes possible to traverse from one node to another with the use of a fewer number of edges. </a:t>
            </a:r>
            <a:endParaRPr lang="en-IN" sz="2800" b="0" i="1" dirty="0" smtClean="0">
              <a:latin typeface="Arial" panose="020B0604020202020204" pitchFamily="34" charset="0"/>
              <a:ea typeface="Cambria Math" panose="02040503050406030204" pitchFamily="18"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Dynamics of Dynamic Graphs (Time Evolving Graphs</a:t>
            </a:r>
            <a:r>
              <a:rPr lang="en-IN" dirty="0" smtClean="0"/>
              <a:t>)</a:t>
            </a:r>
            <a:endParaRPr lang="en-IN" dirty="0"/>
          </a:p>
        </p:txBody>
      </p:sp>
      <p:sp>
        <p:nvSpPr>
          <p:cNvPr id="4" name="TextBox 3"/>
          <p:cNvSpPr txBox="1"/>
          <p:nvPr/>
        </p:nvSpPr>
        <p:spPr>
          <a:xfrm>
            <a:off x="457200" y="6324600"/>
            <a:ext cx="7924800" cy="461665"/>
          </a:xfrm>
          <a:prstGeom prst="rect">
            <a:avLst/>
          </a:prstGeom>
          <a:noFill/>
        </p:spPr>
        <p:txBody>
          <a:bodyPr wrap="square" rtlCol="0">
            <a:spAutoFit/>
          </a:bodyPr>
          <a:lstStyle/>
          <a:p>
            <a:r>
              <a:rPr lang="en-IN" sz="1200" dirty="0" smtClean="0"/>
              <a:t>[7</a:t>
            </a:r>
            <a:r>
              <a:rPr lang="en-IN" sz="1200" dirty="0"/>
              <a:t>] J. </a:t>
            </a:r>
            <a:r>
              <a:rPr lang="en-IN" sz="1200" dirty="0" err="1"/>
              <a:t>Leskovec</a:t>
            </a:r>
            <a:r>
              <a:rPr lang="en-IN" sz="1200" dirty="0"/>
              <a:t>, J. Kleinberg, C. </a:t>
            </a:r>
            <a:r>
              <a:rPr lang="en-IN" sz="1200" dirty="0" err="1"/>
              <a:t>Faloutsos</a:t>
            </a:r>
            <a:r>
              <a:rPr lang="en-IN" sz="1200" dirty="0"/>
              <a:t>. Graphs over time: Densification laws, shrinking diameters and possible explanations. ACM KDD Conference , 2005.</a:t>
            </a:r>
          </a:p>
        </p:txBody>
      </p:sp>
      <mc:AlternateContent xmlns:mc="http://schemas.openxmlformats.org/markup-compatibility/2006" xmlns:p14="http://schemas.microsoft.com/office/powerpoint/2010/main">
        <mc:Choice Requires="p14">
          <p:contentPart p14:bwMode="auto" r:id="rId2">
            <p14:nvContentPartPr>
              <p14:cNvPr id="27" name="Ink 26"/>
              <p14:cNvContentPartPr/>
              <p14:nvPr/>
            </p14:nvContentPartPr>
            <p14:xfrm>
              <a:off x="6481714" y="2643531"/>
              <a:ext cx="26280" cy="0"/>
            </p14:xfrm>
          </p:contentPart>
        </mc:Choice>
        <mc:Fallback xmlns="">
          <p:pic>
            <p:nvPicPr>
              <p:cNvPr id="27" name="Ink 26"/>
              <p:cNvPicPr/>
              <p:nvPr/>
            </p:nvPicPr>
            <p:blipFill>
              <a:blip r:embed="rId15"/>
              <a:stretch>
                <a:fillRect/>
              </a:stretch>
            </p:blipFill>
            <p:spPr>
              <a:xfrm>
                <a:off x="0" y="0"/>
                <a:ext cx="26280" cy="0"/>
              </a:xfrm>
              <a:prstGeom prst="rect">
                <a:avLst/>
              </a:prstGeom>
            </p:spPr>
          </p:pic>
        </mc:Fallback>
      </mc:AlternateContent>
    </p:spTree>
    <p:extLst>
      <p:ext uri="{BB962C8B-B14F-4D97-AF65-F5344CB8AC3E}">
        <p14:creationId xmlns:p14="http://schemas.microsoft.com/office/powerpoint/2010/main" val="2785798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dirty="0" smtClean="0"/>
              <a:t>Graphs which </a:t>
            </a:r>
            <a:r>
              <a:rPr lang="en-IN" dirty="0"/>
              <a:t>arise in many large scale applications such as the web and social </a:t>
            </a:r>
            <a:r>
              <a:rPr lang="en-IN" dirty="0" smtClean="0"/>
              <a:t>networks </a:t>
            </a:r>
            <a:r>
              <a:rPr lang="en-IN" dirty="0"/>
              <a:t>satisfy many properties such as </a:t>
            </a:r>
            <a:endParaRPr lang="en-IN" dirty="0" smtClean="0"/>
          </a:p>
          <a:p>
            <a:pPr lvl="1">
              <a:buFont typeface="Wingdings" panose="05000000000000000000" pitchFamily="2" charset="2"/>
              <a:buChar char="v"/>
            </a:pPr>
            <a:r>
              <a:rPr lang="en-IN" sz="2400" dirty="0"/>
              <a:t>T</a:t>
            </a:r>
            <a:r>
              <a:rPr lang="en-IN" sz="2400" dirty="0" smtClean="0"/>
              <a:t>he </a:t>
            </a:r>
            <a:r>
              <a:rPr lang="en-IN" sz="2400" dirty="0"/>
              <a:t>power law </a:t>
            </a:r>
            <a:r>
              <a:rPr lang="en-IN" sz="2400" dirty="0" smtClean="0"/>
              <a:t>distribution </a:t>
            </a:r>
          </a:p>
          <a:p>
            <a:pPr lvl="1">
              <a:buFont typeface="Wingdings" panose="05000000000000000000" pitchFamily="2" charset="2"/>
              <a:buChar char="v"/>
            </a:pPr>
            <a:r>
              <a:rPr lang="en-IN" sz="2400" dirty="0"/>
              <a:t>S</a:t>
            </a:r>
            <a:r>
              <a:rPr lang="en-IN" sz="2400" dirty="0" smtClean="0"/>
              <a:t>parsity, and </a:t>
            </a:r>
            <a:r>
              <a:rPr lang="en-IN" sz="2400" dirty="0"/>
              <a:t>S</a:t>
            </a:r>
            <a:r>
              <a:rPr lang="en-IN" sz="2400" dirty="0" smtClean="0"/>
              <a:t>mall Diameters</a:t>
            </a:r>
          </a:p>
          <a:p>
            <a:pPr lvl="1">
              <a:buFont typeface="Wingdings" panose="05000000000000000000" pitchFamily="2" charset="2"/>
              <a:buChar char="v"/>
            </a:pPr>
            <a:r>
              <a:rPr lang="en-IN" sz="2400" dirty="0"/>
              <a:t>D</a:t>
            </a:r>
            <a:r>
              <a:rPr lang="en-IN" sz="2400" dirty="0" smtClean="0"/>
              <a:t>ensification</a:t>
            </a:r>
            <a:r>
              <a:rPr lang="en-IN" sz="2400" dirty="0"/>
              <a:t>, and </a:t>
            </a:r>
            <a:r>
              <a:rPr lang="en-IN" sz="2400" dirty="0" smtClean="0"/>
              <a:t>Shrinking </a:t>
            </a:r>
            <a:r>
              <a:rPr lang="en-IN" sz="2400" dirty="0"/>
              <a:t>D</a:t>
            </a:r>
            <a:r>
              <a:rPr lang="en-IN" sz="2400" dirty="0" smtClean="0"/>
              <a:t>iameters</a:t>
            </a:r>
          </a:p>
          <a:p>
            <a:pPr>
              <a:buFont typeface="Wingdings" panose="05000000000000000000" pitchFamily="2" charset="2"/>
              <a:buChar char="v"/>
            </a:pPr>
            <a:endParaRPr lang="en-IN" dirty="0"/>
          </a:p>
          <a:p>
            <a:pPr>
              <a:buFont typeface="Wingdings" panose="05000000000000000000" pitchFamily="2" charset="2"/>
              <a:buChar char="v"/>
            </a:pPr>
            <a:endParaRPr lang="en-IN" dirty="0"/>
          </a:p>
        </p:txBody>
      </p:sp>
      <p:sp>
        <p:nvSpPr>
          <p:cNvPr id="3" name="Content Placeholder 2"/>
          <p:cNvSpPr>
            <a:spLocks noGrp="1"/>
          </p:cNvSpPr>
          <p:nvPr>
            <p:ph sz="quarter" idx="10"/>
          </p:nvPr>
        </p:nvSpPr>
        <p:spPr/>
        <p:txBody>
          <a:bodyPr/>
          <a:lstStyle/>
          <a:p>
            <a:r>
              <a:rPr lang="en-IN" dirty="0"/>
              <a:t>Dynamics of </a:t>
            </a:r>
            <a:r>
              <a:rPr lang="en-IN" dirty="0" smtClean="0"/>
              <a:t>Graphs</a:t>
            </a:r>
            <a:endParaRPr lang="en-IN" dirty="0"/>
          </a:p>
        </p:txBody>
      </p:sp>
    </p:spTree>
    <p:extLst>
      <p:ext uri="{BB962C8B-B14F-4D97-AF65-F5344CB8AC3E}">
        <p14:creationId xmlns:p14="http://schemas.microsoft.com/office/powerpoint/2010/main" val="224548927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IN" dirty="0"/>
              <a:t>D. Cook, L. Holder, </a:t>
            </a:r>
            <a:r>
              <a:rPr lang="en-IN" b="1" dirty="0"/>
              <a:t>Mining Graph Data</a:t>
            </a:r>
            <a:r>
              <a:rPr lang="en-IN" dirty="0"/>
              <a:t>, </a:t>
            </a:r>
            <a:r>
              <a:rPr lang="en-IN" i="1" dirty="0"/>
              <a:t>John Wiley &amp; Sons </a:t>
            </a:r>
            <a:r>
              <a:rPr lang="en-IN" i="1" dirty="0" err="1"/>
              <a:t>Inc</a:t>
            </a:r>
            <a:r>
              <a:rPr lang="en-IN" dirty="0"/>
              <a:t>, 2007</a:t>
            </a:r>
            <a:r>
              <a:rPr lang="en-IN" dirty="0" smtClean="0"/>
              <a:t>.</a:t>
            </a:r>
          </a:p>
          <a:p>
            <a:pPr marL="457200" indent="-457200">
              <a:buFont typeface="+mj-lt"/>
              <a:buAutoNum type="arabicPeriod"/>
            </a:pPr>
            <a:r>
              <a:rPr lang="en-US" dirty="0"/>
              <a:t>Agarwal </a:t>
            </a:r>
            <a:r>
              <a:rPr lang="en-US" dirty="0" err="1"/>
              <a:t>Charu</a:t>
            </a:r>
            <a:r>
              <a:rPr lang="en-US" dirty="0"/>
              <a:t> C. and Wang </a:t>
            </a:r>
            <a:r>
              <a:rPr lang="en-US" dirty="0" err="1"/>
              <a:t>Haixun</a:t>
            </a:r>
            <a:r>
              <a:rPr lang="en-US" dirty="0"/>
              <a:t>, </a:t>
            </a:r>
            <a:r>
              <a:rPr lang="en-US" b="1" i="1" dirty="0"/>
              <a:t>“Managing and Mining Graph Data</a:t>
            </a:r>
            <a:r>
              <a:rPr lang="en-US" b="1" i="1" dirty="0" smtClean="0"/>
              <a:t>”</a:t>
            </a:r>
            <a:r>
              <a:rPr lang="en-US" i="1" dirty="0" smtClean="0"/>
              <a:t>, 2010.</a:t>
            </a:r>
            <a:endParaRPr lang="en-IN" dirty="0"/>
          </a:p>
        </p:txBody>
      </p:sp>
      <p:sp>
        <p:nvSpPr>
          <p:cNvPr id="3" name="Content Placeholder 2"/>
          <p:cNvSpPr>
            <a:spLocks noGrp="1"/>
          </p:cNvSpPr>
          <p:nvPr>
            <p:ph sz="quarter" idx="10"/>
          </p:nvPr>
        </p:nvSpPr>
        <p:spPr/>
        <p:txBody>
          <a:bodyPr/>
          <a:lstStyle/>
          <a:p>
            <a:r>
              <a:rPr lang="en-IN" dirty="0" smtClean="0"/>
              <a:t>Reference</a:t>
            </a:r>
            <a:endParaRPr lang="en-IN" dirty="0"/>
          </a:p>
        </p:txBody>
      </p:sp>
      <mc:AlternateContent xmlns:mc="http://schemas.openxmlformats.org/markup-compatibility/2006" xmlns:p14="http://schemas.microsoft.com/office/powerpoint/2010/main">
        <mc:Choice Requires="p14">
          <p:contentPart p14:bwMode="auto" r:id="rId2">
            <p14:nvContentPartPr>
              <p14:cNvPr id="37" name="Ink 36"/>
              <p14:cNvContentPartPr/>
              <p14:nvPr/>
            </p14:nvContentPartPr>
            <p14:xfrm>
              <a:off x="-1756166" y="3614091"/>
              <a:ext cx="14760" cy="360"/>
            </p14:xfrm>
          </p:contentPart>
        </mc:Choice>
        <mc:Fallback xmlns="">
          <p:pic>
            <p:nvPicPr>
              <p:cNvPr id="37" name="Ink 36"/>
              <p:cNvPicPr/>
              <p:nvPr/>
            </p:nvPicPr>
            <p:blipFill>
              <a:blip r:embed="rId25"/>
              <a:stretch>
                <a:fillRect/>
              </a:stretch>
            </p:blipFill>
            <p:spPr>
              <a:xfrm>
                <a:off x="-1768046" y="3602211"/>
                <a:ext cx="38520" cy="24120"/>
              </a:xfrm>
              <a:prstGeom prst="rect">
                <a:avLst/>
              </a:prstGeom>
            </p:spPr>
          </p:pic>
        </mc:Fallback>
      </mc:AlternateContent>
    </p:spTree>
    <p:extLst>
      <p:ext uri="{BB962C8B-B14F-4D97-AF65-F5344CB8AC3E}">
        <p14:creationId xmlns:p14="http://schemas.microsoft.com/office/powerpoint/2010/main" val="367425692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r>
              <a:rPr lang="en-IN" dirty="0" smtClean="0"/>
              <a:t>Thank You</a:t>
            </a:r>
            <a:endParaRPr lang="en-IN" dirty="0"/>
          </a:p>
        </p:txBody>
      </p:sp>
    </p:spTree>
    <p:extLst>
      <p:ext uri="{BB962C8B-B14F-4D97-AF65-F5344CB8AC3E}">
        <p14:creationId xmlns:p14="http://schemas.microsoft.com/office/powerpoint/2010/main" val="27889240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7423</TotalTime>
  <Words>5866</Words>
  <Application>Microsoft Office PowerPoint</Application>
  <PresentationFormat>On-screen Show (4:3)</PresentationFormat>
  <Paragraphs>631</Paragraphs>
  <Slides>75</Slides>
  <Notes>11</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75</vt:i4>
      </vt:variant>
    </vt:vector>
  </HeadingPairs>
  <TitlesOfParts>
    <vt:vector size="83" baseType="lpstr">
      <vt:lpstr>Arial</vt:lpstr>
      <vt:lpstr>Calibri</vt:lpstr>
      <vt:lpstr>Cambria Math</vt:lpstr>
      <vt:lpstr>Lohit Hindi</vt:lpstr>
      <vt:lpstr>Times New Roman</vt:lpstr>
      <vt:lpstr>WenQuanYi Micro Hei</vt:lpstr>
      <vt:lpstr>Wingdings</vt:lpstr>
      <vt:lpstr>Office Theme</vt:lpstr>
      <vt:lpstr>Graphs - Algorithms and Mining  (DSE**  ZG521)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Various type of Graph Data for Graph Mining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Various type of Data for Graph Mining</vt:lpstr>
      <vt:lpstr>PowerPoint Presentation</vt:lpstr>
      <vt:lpstr>PowerPoint Presentation</vt:lpstr>
      <vt:lpstr>PowerPoint Presentation</vt:lpstr>
      <vt:lpstr>PowerPoint Presentation</vt:lpstr>
      <vt:lpstr>Application of Graph Mining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Administrator</dc:creator>
  <cp:lastModifiedBy>Admin</cp:lastModifiedBy>
  <cp:revision>539</cp:revision>
  <dcterms:created xsi:type="dcterms:W3CDTF">2006-08-16T00:00:00Z</dcterms:created>
  <dcterms:modified xsi:type="dcterms:W3CDTF">2021-11-27T12:45:48Z</dcterms:modified>
</cp:coreProperties>
</file>